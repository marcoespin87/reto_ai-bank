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6" r:id="rId8"/>
    <p:sldId id="264" r:id="rId9"/>
    <p:sldId id="261" r:id="rId10"/>
    <p:sldId id="269" r:id="rId11"/>
    <p:sldId id="270" r:id="rId12"/>
    <p:sldId id="271" r:id="rId13"/>
    <p:sldId id="262" r:id="rId14"/>
    <p:sldId id="263" r:id="rId15"/>
    <p:sldId id="268" r:id="rId1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99C"/>
    <a:srgbClr val="DCE2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765B2-C6B8-499A-BA02-B38B991AB045}" v="320" dt="2026-04-09T03:25:53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60"/>
  </p:normalViewPr>
  <p:slideViewPr>
    <p:cSldViewPr snapToGrid="0">
      <p:cViewPr>
        <p:scale>
          <a:sx n="75" d="100"/>
          <a:sy n="75" d="100"/>
        </p:scale>
        <p:origin x="2333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E5E9C41-962D-BFF9-4634-662DB9BB45B6}"/>
              </a:ext>
            </a:extLst>
          </p:cNvPr>
          <p:cNvSpPr/>
          <p:nvPr userDrawn="1"/>
        </p:nvSpPr>
        <p:spPr>
          <a:xfrm>
            <a:off x="3768811" y="1556951"/>
            <a:ext cx="3101546" cy="8349049"/>
          </a:xfrm>
          <a:custGeom>
            <a:avLst/>
            <a:gdLst>
              <a:gd name="csX0" fmla="*/ 1463040 w 1463040"/>
              <a:gd name="csY0" fmla="*/ 0 h 7416655"/>
              <a:gd name="csX1" fmla="*/ 1463040 w 1463040"/>
              <a:gd name="csY1" fmla="*/ 7416655 h 7416655"/>
              <a:gd name="csX2" fmla="*/ 0 w 1463040"/>
              <a:gd name="csY2" fmla="*/ 7416655 h 74166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63040" h="7416655">
                <a:moveTo>
                  <a:pt x="1463040" y="0"/>
                </a:moveTo>
                <a:lnTo>
                  <a:pt x="1463040" y="7416655"/>
                </a:lnTo>
                <a:lnTo>
                  <a:pt x="0" y="7416655"/>
                </a:lnTo>
                <a:close/>
              </a:path>
            </a:pathLst>
          </a:custGeom>
          <a:solidFill>
            <a:srgbClr val="1039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fld id="{58593289-5FAA-4597-983D-D465C0FB98DD}" type="slidenum">
              <a:rPr lang="es-EC" smtClean="0"/>
              <a:pPr/>
              <a:t>‹Nº›</a:t>
            </a:fld>
            <a:endParaRPr lang="es-EC" sz="1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FE0D50-B581-69AC-6EE4-3EB194E2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86" y="9181396"/>
            <a:ext cx="532402" cy="52740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C30C691B-E87B-50A0-4A20-69E6A6CB55D6}"/>
              </a:ext>
            </a:extLst>
          </p:cNvPr>
          <p:cNvGrpSpPr/>
          <p:nvPr userDrawn="1"/>
        </p:nvGrpSpPr>
        <p:grpSpPr>
          <a:xfrm rot="10800000">
            <a:off x="64247" y="52897"/>
            <a:ext cx="1233161" cy="1169661"/>
            <a:chOff x="2751920" y="3218835"/>
            <a:chExt cx="1233161" cy="1169661"/>
          </a:xfrm>
          <a:gradFill>
            <a:gsLst>
              <a:gs pos="0">
                <a:srgbClr val="10399C"/>
              </a:gs>
              <a:gs pos="100000">
                <a:srgbClr val="FFC000"/>
              </a:gs>
            </a:gsLst>
            <a:lin ang="5400000" scaled="1"/>
          </a:gra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0E4E760-84A8-D4F1-D3E9-4B8240655B65}"/>
                </a:ext>
              </a:extLst>
            </p:cNvPr>
            <p:cNvSpPr/>
            <p:nvPr userDrawn="1"/>
          </p:nvSpPr>
          <p:spPr>
            <a:xfrm>
              <a:off x="27519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E523481-8E7B-A3A3-9E4E-A1C04322FCB6}"/>
                </a:ext>
              </a:extLst>
            </p:cNvPr>
            <p:cNvSpPr/>
            <p:nvPr userDrawn="1"/>
          </p:nvSpPr>
          <p:spPr>
            <a:xfrm>
              <a:off x="29678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802955E-FCF1-5BC3-2C92-1F43E295A52D}"/>
                </a:ext>
              </a:extLst>
            </p:cNvPr>
            <p:cNvSpPr/>
            <p:nvPr userDrawn="1"/>
          </p:nvSpPr>
          <p:spPr>
            <a:xfrm>
              <a:off x="31837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B0D5165-4706-6C58-B7B9-8D44A08C000F}"/>
                </a:ext>
              </a:extLst>
            </p:cNvPr>
            <p:cNvSpPr/>
            <p:nvPr userDrawn="1"/>
          </p:nvSpPr>
          <p:spPr>
            <a:xfrm>
              <a:off x="33996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450CEAC-C87A-642B-0667-64CC42F16D99}"/>
                </a:ext>
              </a:extLst>
            </p:cNvPr>
            <p:cNvSpPr/>
            <p:nvPr userDrawn="1"/>
          </p:nvSpPr>
          <p:spPr>
            <a:xfrm>
              <a:off x="36155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41FB01C-4BE5-673B-6CF6-0E26BCFEE5A6}"/>
                </a:ext>
              </a:extLst>
            </p:cNvPr>
            <p:cNvSpPr/>
            <p:nvPr userDrawn="1"/>
          </p:nvSpPr>
          <p:spPr>
            <a:xfrm>
              <a:off x="38314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BF86B4F-3851-BEE2-F96B-65AFFA7B7C59}"/>
                </a:ext>
              </a:extLst>
            </p:cNvPr>
            <p:cNvSpPr/>
            <p:nvPr userDrawn="1"/>
          </p:nvSpPr>
          <p:spPr>
            <a:xfrm>
              <a:off x="29678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A76DFD6-D0AD-D201-1ADF-11E0B255355E}"/>
                </a:ext>
              </a:extLst>
            </p:cNvPr>
            <p:cNvSpPr/>
            <p:nvPr userDrawn="1"/>
          </p:nvSpPr>
          <p:spPr>
            <a:xfrm>
              <a:off x="31837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C849A07-595D-D0CE-4378-8B7BD7F8638E}"/>
                </a:ext>
              </a:extLst>
            </p:cNvPr>
            <p:cNvSpPr/>
            <p:nvPr userDrawn="1"/>
          </p:nvSpPr>
          <p:spPr>
            <a:xfrm>
              <a:off x="33996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88E3CCF-6019-F72A-8B50-43568E871427}"/>
                </a:ext>
              </a:extLst>
            </p:cNvPr>
            <p:cNvSpPr/>
            <p:nvPr userDrawn="1"/>
          </p:nvSpPr>
          <p:spPr>
            <a:xfrm>
              <a:off x="36155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BC201A3-570B-3BC8-39D1-F021825BF297}"/>
                </a:ext>
              </a:extLst>
            </p:cNvPr>
            <p:cNvSpPr/>
            <p:nvPr userDrawn="1"/>
          </p:nvSpPr>
          <p:spPr>
            <a:xfrm>
              <a:off x="38314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6EDDE7C-16B8-0301-63D6-48469AE02392}"/>
                </a:ext>
              </a:extLst>
            </p:cNvPr>
            <p:cNvSpPr/>
            <p:nvPr userDrawn="1"/>
          </p:nvSpPr>
          <p:spPr>
            <a:xfrm>
              <a:off x="31837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65BCB73-3D0F-0DEB-6A7D-729B135AF655}"/>
                </a:ext>
              </a:extLst>
            </p:cNvPr>
            <p:cNvSpPr/>
            <p:nvPr userDrawn="1"/>
          </p:nvSpPr>
          <p:spPr>
            <a:xfrm>
              <a:off x="33996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55F481D-F752-11ED-D221-020C83FCAE18}"/>
                </a:ext>
              </a:extLst>
            </p:cNvPr>
            <p:cNvSpPr/>
            <p:nvPr userDrawn="1"/>
          </p:nvSpPr>
          <p:spPr>
            <a:xfrm>
              <a:off x="36155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21283BE-AB2B-5115-D618-DEEE85A1AE96}"/>
                </a:ext>
              </a:extLst>
            </p:cNvPr>
            <p:cNvSpPr/>
            <p:nvPr userDrawn="1"/>
          </p:nvSpPr>
          <p:spPr>
            <a:xfrm>
              <a:off x="38314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140043-06B6-A7BE-306E-317E8B8E8555}"/>
                </a:ext>
              </a:extLst>
            </p:cNvPr>
            <p:cNvSpPr/>
            <p:nvPr userDrawn="1"/>
          </p:nvSpPr>
          <p:spPr>
            <a:xfrm>
              <a:off x="3399620" y="36252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B9C05FA-D3B1-7AA8-C91B-CF473A6FFC34}"/>
                </a:ext>
              </a:extLst>
            </p:cNvPr>
            <p:cNvSpPr/>
            <p:nvPr userDrawn="1"/>
          </p:nvSpPr>
          <p:spPr>
            <a:xfrm>
              <a:off x="3615520" y="36252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8BB48D7-5906-A9F9-CBBF-9E1EBD993602}"/>
                </a:ext>
              </a:extLst>
            </p:cNvPr>
            <p:cNvSpPr/>
            <p:nvPr userDrawn="1"/>
          </p:nvSpPr>
          <p:spPr>
            <a:xfrm>
              <a:off x="3831420" y="36252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D040EFE-9D0C-925A-CDF1-816CA43CB7C5}"/>
                </a:ext>
              </a:extLst>
            </p:cNvPr>
            <p:cNvSpPr/>
            <p:nvPr userDrawn="1"/>
          </p:nvSpPr>
          <p:spPr>
            <a:xfrm>
              <a:off x="3615520" y="34220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FD7E85C-01A9-FDB2-F851-EFED4BBFEC87}"/>
                </a:ext>
              </a:extLst>
            </p:cNvPr>
            <p:cNvSpPr/>
            <p:nvPr userDrawn="1"/>
          </p:nvSpPr>
          <p:spPr>
            <a:xfrm>
              <a:off x="3831420" y="34220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31F2109-F5E2-5685-5135-C978379FD70B}"/>
                </a:ext>
              </a:extLst>
            </p:cNvPr>
            <p:cNvSpPr/>
            <p:nvPr userDrawn="1"/>
          </p:nvSpPr>
          <p:spPr>
            <a:xfrm>
              <a:off x="3831420" y="3218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</p:spTree>
    <p:extLst>
      <p:ext uri="{BB962C8B-B14F-4D97-AF65-F5344CB8AC3E}">
        <p14:creationId xmlns:p14="http://schemas.microsoft.com/office/powerpoint/2010/main" val="221056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1BA2B57-6B42-CBB6-8357-0A3DECCB86EE}"/>
              </a:ext>
            </a:extLst>
          </p:cNvPr>
          <p:cNvSpPr/>
          <p:nvPr userDrawn="1"/>
        </p:nvSpPr>
        <p:spPr>
          <a:xfrm>
            <a:off x="1254868" y="-38910"/>
            <a:ext cx="5603132" cy="10408596"/>
          </a:xfrm>
          <a:custGeom>
            <a:avLst/>
            <a:gdLst>
              <a:gd name="csX0" fmla="*/ 0 w 5603132"/>
              <a:gd name="csY0" fmla="*/ 10408596 h 10408596"/>
              <a:gd name="csX1" fmla="*/ 1653703 w 5603132"/>
              <a:gd name="csY1" fmla="*/ 8132324 h 10408596"/>
              <a:gd name="csX2" fmla="*/ 3871609 w 5603132"/>
              <a:gd name="csY2" fmla="*/ 8579796 h 10408596"/>
              <a:gd name="csX3" fmla="*/ 4688732 w 5603132"/>
              <a:gd name="csY3" fmla="*/ 7626485 h 10408596"/>
              <a:gd name="csX4" fmla="*/ 4143983 w 5603132"/>
              <a:gd name="csY4" fmla="*/ 3949430 h 10408596"/>
              <a:gd name="csX5" fmla="*/ 5603132 w 5603132"/>
              <a:gd name="csY5" fmla="*/ 0 h 10408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603132" h="10408596">
                <a:moveTo>
                  <a:pt x="0" y="10408596"/>
                </a:moveTo>
                <a:cubicBezTo>
                  <a:pt x="504217" y="9422860"/>
                  <a:pt x="1008435" y="8437124"/>
                  <a:pt x="1653703" y="8132324"/>
                </a:cubicBezTo>
                <a:cubicBezTo>
                  <a:pt x="2298971" y="7827524"/>
                  <a:pt x="3365771" y="8664102"/>
                  <a:pt x="3871609" y="8579796"/>
                </a:cubicBezTo>
                <a:cubicBezTo>
                  <a:pt x="4377447" y="8495490"/>
                  <a:pt x="4643336" y="8398213"/>
                  <a:pt x="4688732" y="7626485"/>
                </a:cubicBezTo>
                <a:cubicBezTo>
                  <a:pt x="4734128" y="6854757"/>
                  <a:pt x="3991583" y="5220511"/>
                  <a:pt x="4143983" y="3949430"/>
                </a:cubicBezTo>
                <a:cubicBezTo>
                  <a:pt x="4296383" y="2678349"/>
                  <a:pt x="4949757" y="1339174"/>
                  <a:pt x="5603132" y="0"/>
                </a:cubicBezTo>
              </a:path>
            </a:pathLst>
          </a:custGeom>
          <a:noFill/>
          <a:ln w="228600">
            <a:gradFill>
              <a:gsLst>
                <a:gs pos="22000">
                  <a:srgbClr val="10399C">
                    <a:alpha val="17000"/>
                  </a:srgbClr>
                </a:gs>
                <a:gs pos="0">
                  <a:srgbClr val="FFC000">
                    <a:alpha val="54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10399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fld id="{58593289-5FAA-4597-983D-D465C0FB98DD}" type="slidenum">
              <a:rPr lang="es-EC" smtClean="0"/>
              <a:pPr/>
              <a:t>‹Nº›</a:t>
            </a:fld>
            <a:endParaRPr lang="es-EC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FE0D50-B581-69AC-6EE4-3EB194E2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86" y="9181396"/>
            <a:ext cx="532402" cy="527403"/>
          </a:xfrm>
          <a:prstGeom prst="rect">
            <a:avLst/>
          </a:prstGeom>
        </p:spPr>
      </p:pic>
      <p:sp>
        <p:nvSpPr>
          <p:cNvPr id="2" name="Circle: Hollow 1">
            <a:extLst>
              <a:ext uri="{FF2B5EF4-FFF2-40B4-BE49-F238E27FC236}">
                <a16:creationId xmlns:a16="http://schemas.microsoft.com/office/drawing/2014/main" id="{65568023-58B8-CA60-BF3B-296DCEC8BE7A}"/>
              </a:ext>
            </a:extLst>
          </p:cNvPr>
          <p:cNvSpPr/>
          <p:nvPr userDrawn="1"/>
        </p:nvSpPr>
        <p:spPr>
          <a:xfrm>
            <a:off x="3874501" y="7818215"/>
            <a:ext cx="3781168" cy="3781168"/>
          </a:xfrm>
          <a:prstGeom prst="donut">
            <a:avLst>
              <a:gd name="adj" fmla="val 9934"/>
            </a:avLst>
          </a:prstGeom>
          <a:solidFill>
            <a:srgbClr val="1039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s-EC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DA3FCB-95C7-D7F5-CFD1-FFD8E1FB60F9}"/>
              </a:ext>
            </a:extLst>
          </p:cNvPr>
          <p:cNvGrpSpPr/>
          <p:nvPr userDrawn="1"/>
        </p:nvGrpSpPr>
        <p:grpSpPr>
          <a:xfrm rot="10800000">
            <a:off x="64247" y="52897"/>
            <a:ext cx="1233161" cy="1169661"/>
            <a:chOff x="2751920" y="3218835"/>
            <a:chExt cx="1233161" cy="1169661"/>
          </a:xfrm>
          <a:gradFill>
            <a:gsLst>
              <a:gs pos="0">
                <a:srgbClr val="10399C"/>
              </a:gs>
              <a:gs pos="100000">
                <a:srgbClr val="FFC000"/>
              </a:gs>
            </a:gsLst>
            <a:lin ang="5400000" scaled="1"/>
          </a:gra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6C1B44-E984-4B30-290B-73E1D0336F9F}"/>
                </a:ext>
              </a:extLst>
            </p:cNvPr>
            <p:cNvSpPr/>
            <p:nvPr userDrawn="1"/>
          </p:nvSpPr>
          <p:spPr>
            <a:xfrm>
              <a:off x="27519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0F1EC0-A6C1-C1FF-75BB-86FAF2146BFB}"/>
                </a:ext>
              </a:extLst>
            </p:cNvPr>
            <p:cNvSpPr/>
            <p:nvPr userDrawn="1"/>
          </p:nvSpPr>
          <p:spPr>
            <a:xfrm>
              <a:off x="29678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99BC93-CD44-D681-7116-F7D1A60D963C}"/>
                </a:ext>
              </a:extLst>
            </p:cNvPr>
            <p:cNvSpPr/>
            <p:nvPr userDrawn="1"/>
          </p:nvSpPr>
          <p:spPr>
            <a:xfrm>
              <a:off x="31837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C5AD6F-6FE9-4A0C-EADA-4A7F0E9D730F}"/>
                </a:ext>
              </a:extLst>
            </p:cNvPr>
            <p:cNvSpPr/>
            <p:nvPr userDrawn="1"/>
          </p:nvSpPr>
          <p:spPr>
            <a:xfrm>
              <a:off x="33996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2EC499-78BF-6D1D-8F73-12704D40E44F}"/>
                </a:ext>
              </a:extLst>
            </p:cNvPr>
            <p:cNvSpPr/>
            <p:nvPr userDrawn="1"/>
          </p:nvSpPr>
          <p:spPr>
            <a:xfrm>
              <a:off x="36155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F2A076-496C-1FDA-24FE-C9365EE567FF}"/>
                </a:ext>
              </a:extLst>
            </p:cNvPr>
            <p:cNvSpPr/>
            <p:nvPr userDrawn="1"/>
          </p:nvSpPr>
          <p:spPr>
            <a:xfrm>
              <a:off x="38314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A1DBF9-90AE-5EC8-AC11-383B9171E009}"/>
                </a:ext>
              </a:extLst>
            </p:cNvPr>
            <p:cNvSpPr/>
            <p:nvPr userDrawn="1"/>
          </p:nvSpPr>
          <p:spPr>
            <a:xfrm>
              <a:off x="29678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3A401D-5B97-268F-702D-B89C0DD2DCF1}"/>
                </a:ext>
              </a:extLst>
            </p:cNvPr>
            <p:cNvSpPr/>
            <p:nvPr userDrawn="1"/>
          </p:nvSpPr>
          <p:spPr>
            <a:xfrm>
              <a:off x="31837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C88EB3-E639-9B6D-C32B-FC7B770DF989}"/>
                </a:ext>
              </a:extLst>
            </p:cNvPr>
            <p:cNvSpPr/>
            <p:nvPr userDrawn="1"/>
          </p:nvSpPr>
          <p:spPr>
            <a:xfrm>
              <a:off x="33996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7E2C93-1252-2CC0-C7E7-8DDCFD7CE7B4}"/>
                </a:ext>
              </a:extLst>
            </p:cNvPr>
            <p:cNvSpPr/>
            <p:nvPr userDrawn="1"/>
          </p:nvSpPr>
          <p:spPr>
            <a:xfrm>
              <a:off x="36155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9AF785-A7A0-052E-7BC1-E53C19645496}"/>
                </a:ext>
              </a:extLst>
            </p:cNvPr>
            <p:cNvSpPr/>
            <p:nvPr userDrawn="1"/>
          </p:nvSpPr>
          <p:spPr>
            <a:xfrm>
              <a:off x="38314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50A3B0F-CA9B-7D91-8AEF-79C04DE80010}"/>
                </a:ext>
              </a:extLst>
            </p:cNvPr>
            <p:cNvSpPr/>
            <p:nvPr userDrawn="1"/>
          </p:nvSpPr>
          <p:spPr>
            <a:xfrm>
              <a:off x="31837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5F70DF-6315-D2D5-C9EE-B45AB23B563A}"/>
                </a:ext>
              </a:extLst>
            </p:cNvPr>
            <p:cNvSpPr/>
            <p:nvPr userDrawn="1"/>
          </p:nvSpPr>
          <p:spPr>
            <a:xfrm>
              <a:off x="33996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2951CED-4E02-79E0-5972-B800C466BF24}"/>
                </a:ext>
              </a:extLst>
            </p:cNvPr>
            <p:cNvSpPr/>
            <p:nvPr userDrawn="1"/>
          </p:nvSpPr>
          <p:spPr>
            <a:xfrm>
              <a:off x="36155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C00AC17-4FD6-01FF-1D02-7352B06BE795}"/>
                </a:ext>
              </a:extLst>
            </p:cNvPr>
            <p:cNvSpPr/>
            <p:nvPr userDrawn="1"/>
          </p:nvSpPr>
          <p:spPr>
            <a:xfrm>
              <a:off x="38314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F5233BB-D58B-9377-1508-E5DB1CFAE93E}"/>
                </a:ext>
              </a:extLst>
            </p:cNvPr>
            <p:cNvSpPr/>
            <p:nvPr userDrawn="1"/>
          </p:nvSpPr>
          <p:spPr>
            <a:xfrm>
              <a:off x="3399620" y="36252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12FAEBD-6B59-FBD2-CADA-58E2E755E168}"/>
                </a:ext>
              </a:extLst>
            </p:cNvPr>
            <p:cNvSpPr/>
            <p:nvPr userDrawn="1"/>
          </p:nvSpPr>
          <p:spPr>
            <a:xfrm>
              <a:off x="3615520" y="36252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C869C6-71D1-E74B-81E1-2CFBD0394C30}"/>
                </a:ext>
              </a:extLst>
            </p:cNvPr>
            <p:cNvSpPr/>
            <p:nvPr userDrawn="1"/>
          </p:nvSpPr>
          <p:spPr>
            <a:xfrm>
              <a:off x="3831420" y="36252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12A390A-66BB-13D2-3E61-4BACF68481A3}"/>
                </a:ext>
              </a:extLst>
            </p:cNvPr>
            <p:cNvSpPr/>
            <p:nvPr userDrawn="1"/>
          </p:nvSpPr>
          <p:spPr>
            <a:xfrm>
              <a:off x="3615520" y="34220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92E9C69-B223-3A6E-94DB-135B1E3209BB}"/>
                </a:ext>
              </a:extLst>
            </p:cNvPr>
            <p:cNvSpPr/>
            <p:nvPr userDrawn="1"/>
          </p:nvSpPr>
          <p:spPr>
            <a:xfrm>
              <a:off x="3831420" y="34220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B52B778-148E-61FB-FBB3-EB3966E40F0C}"/>
                </a:ext>
              </a:extLst>
            </p:cNvPr>
            <p:cNvSpPr/>
            <p:nvPr userDrawn="1"/>
          </p:nvSpPr>
          <p:spPr>
            <a:xfrm>
              <a:off x="3831420" y="3218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</p:spTree>
    <p:extLst>
      <p:ext uri="{BB962C8B-B14F-4D97-AF65-F5344CB8AC3E}">
        <p14:creationId xmlns:p14="http://schemas.microsoft.com/office/powerpoint/2010/main" val="103065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1BA2B57-6B42-CBB6-8357-0A3DECCB86EE}"/>
              </a:ext>
            </a:extLst>
          </p:cNvPr>
          <p:cNvSpPr/>
          <p:nvPr userDrawn="1"/>
        </p:nvSpPr>
        <p:spPr>
          <a:xfrm flipH="1" flipV="1">
            <a:off x="1359646" y="-251298"/>
            <a:ext cx="5603132" cy="10408596"/>
          </a:xfrm>
          <a:custGeom>
            <a:avLst/>
            <a:gdLst>
              <a:gd name="csX0" fmla="*/ 0 w 5603132"/>
              <a:gd name="csY0" fmla="*/ 10408596 h 10408596"/>
              <a:gd name="csX1" fmla="*/ 1653703 w 5603132"/>
              <a:gd name="csY1" fmla="*/ 8132324 h 10408596"/>
              <a:gd name="csX2" fmla="*/ 3871609 w 5603132"/>
              <a:gd name="csY2" fmla="*/ 8579796 h 10408596"/>
              <a:gd name="csX3" fmla="*/ 4688732 w 5603132"/>
              <a:gd name="csY3" fmla="*/ 7626485 h 10408596"/>
              <a:gd name="csX4" fmla="*/ 4143983 w 5603132"/>
              <a:gd name="csY4" fmla="*/ 3949430 h 10408596"/>
              <a:gd name="csX5" fmla="*/ 5603132 w 5603132"/>
              <a:gd name="csY5" fmla="*/ 0 h 10408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603132" h="10408596">
                <a:moveTo>
                  <a:pt x="0" y="10408596"/>
                </a:moveTo>
                <a:cubicBezTo>
                  <a:pt x="504217" y="9422860"/>
                  <a:pt x="1008435" y="8437124"/>
                  <a:pt x="1653703" y="8132324"/>
                </a:cubicBezTo>
                <a:cubicBezTo>
                  <a:pt x="2298971" y="7827524"/>
                  <a:pt x="3365771" y="8664102"/>
                  <a:pt x="3871609" y="8579796"/>
                </a:cubicBezTo>
                <a:cubicBezTo>
                  <a:pt x="4377447" y="8495490"/>
                  <a:pt x="4643336" y="8398213"/>
                  <a:pt x="4688732" y="7626485"/>
                </a:cubicBezTo>
                <a:cubicBezTo>
                  <a:pt x="4734128" y="6854757"/>
                  <a:pt x="3991583" y="5220511"/>
                  <a:pt x="4143983" y="3949430"/>
                </a:cubicBezTo>
                <a:cubicBezTo>
                  <a:pt x="4296383" y="2678349"/>
                  <a:pt x="4949757" y="1339174"/>
                  <a:pt x="5603132" y="0"/>
                </a:cubicBezTo>
              </a:path>
            </a:pathLst>
          </a:custGeom>
          <a:noFill/>
          <a:ln w="228600">
            <a:gradFill>
              <a:gsLst>
                <a:gs pos="81000">
                  <a:srgbClr val="10399C">
                    <a:alpha val="17000"/>
                  </a:srgbClr>
                </a:gs>
                <a:gs pos="100000">
                  <a:srgbClr val="FFC000">
                    <a:alpha val="54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>
                <a:solidFill>
                  <a:srgbClr val="10399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defRPr>
            </a:lvl1pPr>
          </a:lstStyle>
          <a:p>
            <a:fld id="{58593289-5FAA-4597-983D-D465C0FB98DD}" type="slidenum">
              <a:rPr lang="es-EC" smtClean="0"/>
              <a:pPr/>
              <a:t>‹Nº›</a:t>
            </a:fld>
            <a:endParaRPr lang="es-EC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FE0D50-B581-69AC-6EE4-3EB194E2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86" y="9181396"/>
            <a:ext cx="532402" cy="527403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0113D690-73EF-CD9A-5C21-103B650F2C75}"/>
              </a:ext>
            </a:extLst>
          </p:cNvPr>
          <p:cNvGrpSpPr/>
          <p:nvPr userDrawn="1"/>
        </p:nvGrpSpPr>
        <p:grpSpPr>
          <a:xfrm rot="10800000">
            <a:off x="64247" y="52897"/>
            <a:ext cx="1233161" cy="1169661"/>
            <a:chOff x="2751920" y="3218835"/>
            <a:chExt cx="1233161" cy="1169661"/>
          </a:xfrm>
          <a:gradFill>
            <a:gsLst>
              <a:gs pos="0">
                <a:srgbClr val="10399C"/>
              </a:gs>
              <a:gs pos="100000">
                <a:srgbClr val="FFC000"/>
              </a:gs>
            </a:gsLst>
            <a:lin ang="5400000" scaled="1"/>
          </a:gradFill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F0361C7-2A67-D335-10E2-8709DFD93CCB}"/>
                </a:ext>
              </a:extLst>
            </p:cNvPr>
            <p:cNvSpPr/>
            <p:nvPr userDrawn="1"/>
          </p:nvSpPr>
          <p:spPr>
            <a:xfrm>
              <a:off x="27519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6C7C06B-CC3A-07F1-17A5-F34430DF5DCC}"/>
                </a:ext>
              </a:extLst>
            </p:cNvPr>
            <p:cNvSpPr/>
            <p:nvPr userDrawn="1"/>
          </p:nvSpPr>
          <p:spPr>
            <a:xfrm>
              <a:off x="29678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9F1E09F-9044-8A1E-9A24-2F1153B21BA0}"/>
                </a:ext>
              </a:extLst>
            </p:cNvPr>
            <p:cNvSpPr/>
            <p:nvPr userDrawn="1"/>
          </p:nvSpPr>
          <p:spPr>
            <a:xfrm>
              <a:off x="31837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9E054C1-B4C3-3354-16C0-FDB967D54F2C}"/>
                </a:ext>
              </a:extLst>
            </p:cNvPr>
            <p:cNvSpPr/>
            <p:nvPr userDrawn="1"/>
          </p:nvSpPr>
          <p:spPr>
            <a:xfrm>
              <a:off x="33996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D4973A07-87AA-D1F6-B0A5-DBA70313E545}"/>
                </a:ext>
              </a:extLst>
            </p:cNvPr>
            <p:cNvSpPr/>
            <p:nvPr userDrawn="1"/>
          </p:nvSpPr>
          <p:spPr>
            <a:xfrm>
              <a:off x="36155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1C457FE-4C34-A8F9-5588-E5F439E934AA}"/>
                </a:ext>
              </a:extLst>
            </p:cNvPr>
            <p:cNvSpPr/>
            <p:nvPr userDrawn="1"/>
          </p:nvSpPr>
          <p:spPr>
            <a:xfrm>
              <a:off x="3831420" y="4234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ADE1680-5B84-78C7-5947-863ADFA36A69}"/>
                </a:ext>
              </a:extLst>
            </p:cNvPr>
            <p:cNvSpPr/>
            <p:nvPr userDrawn="1"/>
          </p:nvSpPr>
          <p:spPr>
            <a:xfrm>
              <a:off x="29678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615393A-4863-8C19-2D65-0166362F412E}"/>
                </a:ext>
              </a:extLst>
            </p:cNvPr>
            <p:cNvSpPr/>
            <p:nvPr userDrawn="1"/>
          </p:nvSpPr>
          <p:spPr>
            <a:xfrm>
              <a:off x="31837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D8BA86E-C83F-4FD4-4F7D-28BCA118A8BC}"/>
                </a:ext>
              </a:extLst>
            </p:cNvPr>
            <p:cNvSpPr/>
            <p:nvPr userDrawn="1"/>
          </p:nvSpPr>
          <p:spPr>
            <a:xfrm>
              <a:off x="33996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9C6592E-AAA1-A561-7BC4-EE41D15F15CC}"/>
                </a:ext>
              </a:extLst>
            </p:cNvPr>
            <p:cNvSpPr/>
            <p:nvPr userDrawn="1"/>
          </p:nvSpPr>
          <p:spPr>
            <a:xfrm>
              <a:off x="36155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FB2483D-C3D5-079D-E8F5-45E255563231}"/>
                </a:ext>
              </a:extLst>
            </p:cNvPr>
            <p:cNvSpPr/>
            <p:nvPr userDrawn="1"/>
          </p:nvSpPr>
          <p:spPr>
            <a:xfrm>
              <a:off x="3831420" y="40316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0726A2D-DB2A-6F72-E1BD-0DA8F90F09D5}"/>
                </a:ext>
              </a:extLst>
            </p:cNvPr>
            <p:cNvSpPr/>
            <p:nvPr userDrawn="1"/>
          </p:nvSpPr>
          <p:spPr>
            <a:xfrm>
              <a:off x="31837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356DA59-3BC6-7E68-201B-D53AEE35D011}"/>
                </a:ext>
              </a:extLst>
            </p:cNvPr>
            <p:cNvSpPr/>
            <p:nvPr userDrawn="1"/>
          </p:nvSpPr>
          <p:spPr>
            <a:xfrm>
              <a:off x="33996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649074D-919A-223C-AF0F-2608A591C464}"/>
                </a:ext>
              </a:extLst>
            </p:cNvPr>
            <p:cNvSpPr/>
            <p:nvPr userDrawn="1"/>
          </p:nvSpPr>
          <p:spPr>
            <a:xfrm>
              <a:off x="36155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5F40559C-28C8-A219-80B1-C1B5749A33FD}"/>
                </a:ext>
              </a:extLst>
            </p:cNvPr>
            <p:cNvSpPr/>
            <p:nvPr userDrawn="1"/>
          </p:nvSpPr>
          <p:spPr>
            <a:xfrm>
              <a:off x="3831420" y="38284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7CA7E7B-480D-3F9E-12BD-A518144B60FC}"/>
                </a:ext>
              </a:extLst>
            </p:cNvPr>
            <p:cNvSpPr/>
            <p:nvPr userDrawn="1"/>
          </p:nvSpPr>
          <p:spPr>
            <a:xfrm>
              <a:off x="3399620" y="36252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140695C-8C68-A02A-65C7-B2B3DB7F4171}"/>
                </a:ext>
              </a:extLst>
            </p:cNvPr>
            <p:cNvSpPr/>
            <p:nvPr userDrawn="1"/>
          </p:nvSpPr>
          <p:spPr>
            <a:xfrm>
              <a:off x="3615520" y="36252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093E35A-4CC3-E0C8-CE6F-C0ABB28D2041}"/>
                </a:ext>
              </a:extLst>
            </p:cNvPr>
            <p:cNvSpPr/>
            <p:nvPr userDrawn="1"/>
          </p:nvSpPr>
          <p:spPr>
            <a:xfrm>
              <a:off x="3831420" y="36252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48EDAC2-5585-E604-D330-E120BAF9EACF}"/>
                </a:ext>
              </a:extLst>
            </p:cNvPr>
            <p:cNvSpPr/>
            <p:nvPr userDrawn="1"/>
          </p:nvSpPr>
          <p:spPr>
            <a:xfrm>
              <a:off x="3615520" y="34220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A41A061-5FEF-5FE6-2B69-E57489AD143B}"/>
                </a:ext>
              </a:extLst>
            </p:cNvPr>
            <p:cNvSpPr/>
            <p:nvPr userDrawn="1"/>
          </p:nvSpPr>
          <p:spPr>
            <a:xfrm>
              <a:off x="3831420" y="34220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B3BC12A-D16F-E9F4-84C8-34D844EAFCF7}"/>
                </a:ext>
              </a:extLst>
            </p:cNvPr>
            <p:cNvSpPr/>
            <p:nvPr userDrawn="1"/>
          </p:nvSpPr>
          <p:spPr>
            <a:xfrm>
              <a:off x="3831420" y="3218835"/>
              <a:ext cx="153661" cy="1536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</p:spTree>
    <p:extLst>
      <p:ext uri="{BB962C8B-B14F-4D97-AF65-F5344CB8AC3E}">
        <p14:creationId xmlns:p14="http://schemas.microsoft.com/office/powerpoint/2010/main" val="184382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5582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9795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752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25655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3836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0171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2892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7334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73229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0131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DC820-CF7A-43A8-979A-DBDB77072A6C}" type="datetimeFigureOut">
              <a:rPr lang="es-EC" smtClean="0"/>
              <a:t>9/4/2026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93289-5FAA-4597-983D-D465C0FB98D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3765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85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ACED57-E9C6-1B28-82C3-5223972B0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1413971"/>
            <a:ext cx="1855540" cy="18381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ABEA33-710A-3F2F-7EF1-BE6958D78DF6}"/>
              </a:ext>
            </a:extLst>
          </p:cNvPr>
          <p:cNvSpPr txBox="1"/>
          <p:nvPr/>
        </p:nvSpPr>
        <p:spPr>
          <a:xfrm>
            <a:off x="330200" y="8467544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600" noProof="0" dirty="0">
                <a:solidFill>
                  <a:srgbClr val="10399C"/>
                </a:solidFill>
              </a:rPr>
              <a:t>Abril,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17A08B-386B-312F-C990-8AE17175746F}"/>
              </a:ext>
            </a:extLst>
          </p:cNvPr>
          <p:cNvSpPr txBox="1"/>
          <p:nvPr/>
        </p:nvSpPr>
        <p:spPr>
          <a:xfrm>
            <a:off x="330200" y="5095671"/>
            <a:ext cx="4521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66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BD7151-89AA-71DD-9786-0B7CB8BCCFAA}"/>
              </a:ext>
            </a:extLst>
          </p:cNvPr>
          <p:cNvSpPr txBox="1"/>
          <p:nvPr/>
        </p:nvSpPr>
        <p:spPr>
          <a:xfrm>
            <a:off x="330200" y="7050052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600" noProof="0" dirty="0">
                <a:solidFill>
                  <a:srgbClr val="10399C"/>
                </a:solidFill>
              </a:rPr>
              <a:t>Campaña de fidelización</a:t>
            </a:r>
          </a:p>
        </p:txBody>
      </p:sp>
    </p:spTree>
    <p:extLst>
      <p:ext uri="{BB962C8B-B14F-4D97-AF65-F5344CB8AC3E}">
        <p14:creationId xmlns:p14="http://schemas.microsoft.com/office/powerpoint/2010/main" val="1608130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4A016A-2084-80F3-8632-0A189DE5CA05}"/>
              </a:ext>
            </a:extLst>
          </p:cNvPr>
          <p:cNvSpPr txBox="1"/>
          <p:nvPr/>
        </p:nvSpPr>
        <p:spPr>
          <a:xfrm>
            <a:off x="0" y="1236283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BC289F-A6F2-69B2-58E4-624E70AD2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5" y="4946652"/>
            <a:ext cx="6816436" cy="22769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22A61A-D13D-36D8-5843-DA53AF56B73F}"/>
              </a:ext>
            </a:extLst>
          </p:cNvPr>
          <p:cNvSpPr txBox="1"/>
          <p:nvPr/>
        </p:nvSpPr>
        <p:spPr>
          <a:xfrm>
            <a:off x="59193" y="2212651"/>
            <a:ext cx="283464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C" sz="1400" b="1" noProof="0" dirty="0"/>
              <a:t>Situación Actual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DD6C7-B45E-0FE5-9FD0-8A40228A7B5F}"/>
              </a:ext>
            </a:extLst>
          </p:cNvPr>
          <p:cNvSpPr txBox="1"/>
          <p:nvPr/>
        </p:nvSpPr>
        <p:spPr>
          <a:xfrm>
            <a:off x="59193" y="4505754"/>
            <a:ext cx="283464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C" sz="1400" b="1" noProof="0" dirty="0"/>
              <a:t>Oportunidad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078AFEC-EFD8-AF42-5E9E-9D12AABB0A88}"/>
              </a:ext>
            </a:extLst>
          </p:cNvPr>
          <p:cNvSpPr txBox="1"/>
          <p:nvPr/>
        </p:nvSpPr>
        <p:spPr>
          <a:xfrm>
            <a:off x="592281" y="2647830"/>
            <a:ext cx="600594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C" sz="1200" noProof="0" dirty="0"/>
              <a:t>Las entidades bancarias enfrentan un desafío estructural: la creciente dificultad para generar vínculos emocionales con sus clientes, especialmente con los segmentos más jóvenes. La oferta de productos financieros tiende a percibirse como homogénea, transaccional y de bajo valor diferencial. Esta percepción se traduce en bajos niveles de </a:t>
            </a:r>
            <a:r>
              <a:rPr lang="es-EC" sz="1200" noProof="0" dirty="0" err="1"/>
              <a:t>engagement</a:t>
            </a:r>
            <a:r>
              <a:rPr lang="es-EC" sz="1200" noProof="0" dirty="0"/>
              <a:t> con las aplicaciones bancarias y una alta tasa de abandono en canales digitales.</a:t>
            </a:r>
          </a:p>
          <a:p>
            <a:endParaRPr lang="es-EC" sz="1600" noProof="0" dirty="0"/>
          </a:p>
          <a:p>
            <a:pPr algn="ctr"/>
            <a:endParaRPr lang="es-EC" sz="1600" noProof="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6FC9209-E187-7EEF-D530-1B8F51A712D4}"/>
              </a:ext>
            </a:extLst>
          </p:cNvPr>
          <p:cNvSpPr txBox="1"/>
          <p:nvPr/>
        </p:nvSpPr>
        <p:spPr>
          <a:xfrm>
            <a:off x="134942" y="5098372"/>
            <a:ext cx="3387437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C" sz="1200" noProof="0" dirty="0">
                <a:solidFill>
                  <a:schemeClr val="bg1"/>
                </a:solidFill>
                <a:latin typeface="Aptos"/>
              </a:rPr>
              <a:t>El Mundial de Fútbol 2026 representa una ventana de oportunidad única para redefinir la relación entre los bancos y sus clientes. Con una audiencia global y un nivel de involucramiento emocional sin precedentes, el torneo ofrece el contexto perfecto para construir una experiencia bancaria diferenciada.</a:t>
            </a:r>
            <a:endParaRPr lang="es-EC" sz="1200" noProof="0" dirty="0">
              <a:solidFill>
                <a:schemeClr val="bg1"/>
              </a:solidFill>
            </a:endParaRPr>
          </a:p>
          <a:p>
            <a:pPr algn="just"/>
            <a:endParaRPr lang="es-EC" sz="1100" noProof="0" dirty="0">
              <a:solidFill>
                <a:schemeClr val="bg1"/>
              </a:solidFill>
              <a:latin typeface="Aptos"/>
            </a:endParaRPr>
          </a:p>
          <a:p>
            <a:endParaRPr lang="es-EC" sz="1600" noProof="0" dirty="0"/>
          </a:p>
          <a:p>
            <a:pPr algn="ctr"/>
            <a:endParaRPr lang="es-EC" sz="1600" noProof="0" dirty="0"/>
          </a:p>
        </p:txBody>
      </p:sp>
    </p:spTree>
    <p:extLst>
      <p:ext uri="{BB962C8B-B14F-4D97-AF65-F5344CB8AC3E}">
        <p14:creationId xmlns:p14="http://schemas.microsoft.com/office/powerpoint/2010/main" val="1168673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E82FE9-8DF3-912E-625C-745CFAF78C60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0107BE-8D0A-D1BA-B28D-4FFE193D2AB5}"/>
              </a:ext>
            </a:extLst>
          </p:cNvPr>
          <p:cNvSpPr txBox="1"/>
          <p:nvPr/>
        </p:nvSpPr>
        <p:spPr>
          <a:xfrm>
            <a:off x="59193" y="2461859"/>
            <a:ext cx="283464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C" sz="1400" b="1" noProof="0" dirty="0"/>
              <a:t>Visión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A2C77-8633-AA3F-E33D-736761699E30}"/>
              </a:ext>
            </a:extLst>
          </p:cNvPr>
          <p:cNvSpPr txBox="1"/>
          <p:nvPr/>
        </p:nvSpPr>
        <p:spPr>
          <a:xfrm>
            <a:off x="59193" y="5085801"/>
            <a:ext cx="283464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C" sz="1400" b="1" noProof="0" dirty="0"/>
              <a:t>Expectativas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DD4185B-B923-51BD-503F-B381754C1417}"/>
              </a:ext>
            </a:extLst>
          </p:cNvPr>
          <p:cNvSpPr txBox="1"/>
          <p:nvPr/>
        </p:nvSpPr>
        <p:spPr>
          <a:xfrm>
            <a:off x="342900" y="2834738"/>
            <a:ext cx="625532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C" sz="1200" noProof="0" dirty="0"/>
              <a:t>Construir una aplicación bancaria AI-</a:t>
            </a:r>
            <a:r>
              <a:rPr lang="es-EC" sz="1200" noProof="0" dirty="0" err="1"/>
              <a:t>First</a:t>
            </a:r>
            <a:r>
              <a:rPr lang="es-EC" sz="1200" noProof="0" dirty="0"/>
              <a:t> que utilice el Mundial de Fútbol como catalizador de </a:t>
            </a:r>
            <a:r>
              <a:rPr lang="es-EC" sz="1200" noProof="0" dirty="0" err="1"/>
              <a:t>engagement</a:t>
            </a:r>
            <a:r>
              <a:rPr lang="es-EC" sz="1200" noProof="0" dirty="0"/>
              <a:t>, transformando la relación financiera entre el banco y sus clientes en una experiencia inteligente, personalizada y emocionalmente significativa.</a:t>
            </a:r>
          </a:p>
          <a:p>
            <a:pPr algn="just"/>
            <a:endParaRPr lang="es-EC" sz="1200" noProof="0" dirty="0"/>
          </a:p>
          <a:p>
            <a:pPr algn="just"/>
            <a:r>
              <a:rPr lang="es-EC" sz="1200" noProof="0" dirty="0"/>
              <a:t>AI-Bank aspira a demostrar que la banca digital puede ir más allá de la transacción: puede acompañar al cliente en momentos que le importan, entender sus preferencias con profundidad y recompensarle de una manera que ningún programa de puntos genérico podría lograr.</a:t>
            </a:r>
          </a:p>
          <a:p>
            <a:pPr algn="just"/>
            <a:endParaRPr lang="es-EC" sz="1100" noProof="0" dirty="0"/>
          </a:p>
          <a:p>
            <a:endParaRPr lang="es-EC" sz="1600" noProof="0" dirty="0"/>
          </a:p>
          <a:p>
            <a:pPr algn="ctr"/>
            <a:endParaRPr lang="es-EC" sz="16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3E35770-3C42-86D6-9C44-8E8370F7EA85}"/>
              </a:ext>
            </a:extLst>
          </p:cNvPr>
          <p:cNvSpPr/>
          <p:nvPr/>
        </p:nvSpPr>
        <p:spPr>
          <a:xfrm>
            <a:off x="195362" y="5602330"/>
            <a:ext cx="1958558" cy="1645920"/>
          </a:xfrm>
          <a:prstGeom prst="rect">
            <a:avLst/>
          </a:prstGeom>
          <a:solidFill>
            <a:srgbClr val="EEF2FF"/>
          </a:solidFill>
          <a:ln w="15240">
            <a:solidFill>
              <a:srgbClr val="003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noProof="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F27A36E-B254-055C-C63C-30286505BBD6}"/>
              </a:ext>
            </a:extLst>
          </p:cNvPr>
          <p:cNvSpPr/>
          <p:nvPr/>
        </p:nvSpPr>
        <p:spPr>
          <a:xfrm>
            <a:off x="195362" y="5602330"/>
            <a:ext cx="54864" cy="1572768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F91C118-25E7-290E-B95B-DDD809C881A7}"/>
              </a:ext>
            </a:extLst>
          </p:cNvPr>
          <p:cNvSpPr/>
          <p:nvPr/>
        </p:nvSpPr>
        <p:spPr>
          <a:xfrm>
            <a:off x="359954" y="5712057"/>
            <a:ext cx="1759383" cy="34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300" b="1" noProof="0" dirty="0" err="1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Engagement</a:t>
            </a:r>
            <a:endParaRPr lang="es-EC" sz="13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EAAB812-4FD5-D762-DB17-79A0554B8C40}"/>
              </a:ext>
            </a:extLst>
          </p:cNvPr>
          <p:cNvSpPr/>
          <p:nvPr/>
        </p:nvSpPr>
        <p:spPr>
          <a:xfrm>
            <a:off x="359954" y="6077817"/>
            <a:ext cx="1649655" cy="105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C" sz="1200" noProof="0" dirty="0"/>
              <a:t>Mayor frecuencia de apertura de la app impulsada por el </a:t>
            </a:r>
            <a:r>
              <a:rPr lang="es-EC" sz="1200" noProof="0" dirty="0" err="1"/>
              <a:t>chatbot</a:t>
            </a:r>
            <a:r>
              <a:rPr lang="es-EC" sz="1200" noProof="0" dirty="0"/>
              <a:t> y los pronósticos diarios del Mundial.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A1BD4F4-4AB7-B4FB-2EA8-6E77A932C8CA}"/>
              </a:ext>
            </a:extLst>
          </p:cNvPr>
          <p:cNvSpPr/>
          <p:nvPr/>
        </p:nvSpPr>
        <p:spPr>
          <a:xfrm>
            <a:off x="2384716" y="5620939"/>
            <a:ext cx="1958558" cy="1645920"/>
          </a:xfrm>
          <a:prstGeom prst="rect">
            <a:avLst/>
          </a:prstGeom>
          <a:solidFill>
            <a:srgbClr val="EEF2FF"/>
          </a:solidFill>
          <a:ln w="15240">
            <a:solidFill>
              <a:srgbClr val="1039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noProof="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F5A2482-4358-05C0-9D15-32044DEFCC1E}"/>
              </a:ext>
            </a:extLst>
          </p:cNvPr>
          <p:cNvSpPr/>
          <p:nvPr/>
        </p:nvSpPr>
        <p:spPr>
          <a:xfrm>
            <a:off x="2384716" y="5620939"/>
            <a:ext cx="54864" cy="1572768"/>
          </a:xfrm>
          <a:prstGeom prst="rect">
            <a:avLst/>
          </a:prstGeom>
          <a:solidFill>
            <a:srgbClr val="10399C"/>
          </a:solidFill>
          <a:ln w="12700">
            <a:solidFill>
              <a:srgbClr val="10399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DC49BD0-AA90-463A-420E-CB34765CB976}"/>
              </a:ext>
            </a:extLst>
          </p:cNvPr>
          <p:cNvSpPr/>
          <p:nvPr/>
        </p:nvSpPr>
        <p:spPr>
          <a:xfrm>
            <a:off x="2549308" y="5730666"/>
            <a:ext cx="1759383" cy="34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300" b="1" noProof="0" dirty="0">
                <a:solidFill>
                  <a:srgbClr val="10399C"/>
                </a:solidFill>
                <a:ea typeface="Calibri" pitchFamily="34" charset="-122"/>
                <a:cs typeface="Calibri" pitchFamily="34" charset="-120"/>
              </a:rPr>
              <a:t>Fidelización</a:t>
            </a:r>
            <a:endParaRPr lang="es-EC" sz="1300" noProof="0" dirty="0">
              <a:solidFill>
                <a:srgbClr val="10399C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EB461913-C4F0-FDE4-0ED3-C348D9D44E4F}"/>
              </a:ext>
            </a:extLst>
          </p:cNvPr>
          <p:cNvSpPr/>
          <p:nvPr/>
        </p:nvSpPr>
        <p:spPr>
          <a:xfrm>
            <a:off x="2549308" y="6096426"/>
            <a:ext cx="1704519" cy="105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s-EC" sz="1200" noProof="0" dirty="0"/>
              <a:t>Participación sostenida en ligas Bronce → Plata → Oro, incentivada por gamificación de consumos.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9EE4F8F-9884-AD1E-8889-5AD1696D9105}"/>
              </a:ext>
            </a:extLst>
          </p:cNvPr>
          <p:cNvSpPr/>
          <p:nvPr/>
        </p:nvSpPr>
        <p:spPr>
          <a:xfrm>
            <a:off x="4604831" y="5620939"/>
            <a:ext cx="1958558" cy="1645920"/>
          </a:xfrm>
          <a:prstGeom prst="rect">
            <a:avLst/>
          </a:prstGeom>
          <a:solidFill>
            <a:srgbClr val="EEF2FF"/>
          </a:solidFill>
          <a:ln w="15240">
            <a:solidFill>
              <a:srgbClr val="1039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noProof="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7EC485A-99AE-9E11-79FE-3DBBFD96C7D4}"/>
              </a:ext>
            </a:extLst>
          </p:cNvPr>
          <p:cNvSpPr/>
          <p:nvPr/>
        </p:nvSpPr>
        <p:spPr>
          <a:xfrm>
            <a:off x="4604831" y="5620939"/>
            <a:ext cx="45719" cy="1645920"/>
          </a:xfrm>
          <a:prstGeom prst="rect">
            <a:avLst/>
          </a:prstGeom>
          <a:solidFill>
            <a:srgbClr val="10399C"/>
          </a:solidFill>
          <a:ln w="12700">
            <a:solidFill>
              <a:srgbClr val="10399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175734F-9FE8-903D-BFF1-0D2FE78D4FF1}"/>
              </a:ext>
            </a:extLst>
          </p:cNvPr>
          <p:cNvSpPr/>
          <p:nvPr/>
        </p:nvSpPr>
        <p:spPr>
          <a:xfrm>
            <a:off x="4769423" y="5730666"/>
            <a:ext cx="1759383" cy="34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300" b="1" noProof="0" dirty="0">
                <a:solidFill>
                  <a:srgbClr val="10399C"/>
                </a:solidFill>
                <a:ea typeface="Calibri" pitchFamily="34" charset="-122"/>
                <a:cs typeface="Calibri" pitchFamily="34" charset="-120"/>
              </a:rPr>
              <a:t>Relevancia de Premios</a:t>
            </a:r>
            <a:endParaRPr lang="es-EC" sz="1300" noProof="0" dirty="0">
              <a:solidFill>
                <a:srgbClr val="10399C"/>
              </a:solidFill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AF630C1-444E-00BA-9BA9-F55E7F86367D}"/>
              </a:ext>
            </a:extLst>
          </p:cNvPr>
          <p:cNvSpPr/>
          <p:nvPr/>
        </p:nvSpPr>
        <p:spPr>
          <a:xfrm>
            <a:off x="4769424" y="6096426"/>
            <a:ext cx="1667946" cy="1052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C" sz="1200" noProof="0" dirty="0"/>
              <a:t>Mejora percibida en la pertinencia de los premios gracias a la segmentación por IA frente a catálogos genéricos.</a:t>
            </a: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9E194BDF-EB53-CEF1-6A23-C6162FA90288}"/>
              </a:ext>
            </a:extLst>
          </p:cNvPr>
          <p:cNvSpPr/>
          <p:nvPr/>
        </p:nvSpPr>
        <p:spPr>
          <a:xfrm>
            <a:off x="195362" y="7339690"/>
            <a:ext cx="1958558" cy="1572768"/>
          </a:xfrm>
          <a:prstGeom prst="rect">
            <a:avLst/>
          </a:prstGeom>
          <a:solidFill>
            <a:srgbClr val="EEF2FF"/>
          </a:solidFill>
          <a:ln w="15240">
            <a:solidFill>
              <a:srgbClr val="003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noProof="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FF0D01C4-41DD-E14D-8C36-0637D642E2CA}"/>
              </a:ext>
            </a:extLst>
          </p:cNvPr>
          <p:cNvSpPr/>
          <p:nvPr/>
        </p:nvSpPr>
        <p:spPr>
          <a:xfrm>
            <a:off x="195362" y="7339690"/>
            <a:ext cx="54864" cy="1572768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B8E594A-BAE4-AB24-4DE1-DF752552E854}"/>
              </a:ext>
            </a:extLst>
          </p:cNvPr>
          <p:cNvSpPr/>
          <p:nvPr/>
        </p:nvSpPr>
        <p:spPr>
          <a:xfrm>
            <a:off x="359954" y="7449418"/>
            <a:ext cx="17593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3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Adopción de Productos</a:t>
            </a:r>
            <a:endParaRPr lang="es-EC" sz="1300" noProof="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D922795-ACC1-796D-1B2A-5FFA1CB2F393}"/>
              </a:ext>
            </a:extLst>
          </p:cNvPr>
          <p:cNvSpPr/>
          <p:nvPr/>
        </p:nvSpPr>
        <p:spPr>
          <a:xfrm>
            <a:off x="359954" y="7815178"/>
            <a:ext cx="170451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s-EC" sz="1200" noProof="0" dirty="0"/>
              <a:t>Aumento en uso de crédito, ahorro y tarjeta vinculado al sistema de puntos y ligas de fidelidad.</a:t>
            </a: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FEC31F6D-FFDC-7942-A95F-E096E1CA6899}"/>
              </a:ext>
            </a:extLst>
          </p:cNvPr>
          <p:cNvSpPr/>
          <p:nvPr/>
        </p:nvSpPr>
        <p:spPr>
          <a:xfrm>
            <a:off x="2384716" y="7358299"/>
            <a:ext cx="1958558" cy="1572768"/>
          </a:xfrm>
          <a:prstGeom prst="rect">
            <a:avLst/>
          </a:prstGeom>
          <a:solidFill>
            <a:srgbClr val="EEF2FF"/>
          </a:solidFill>
          <a:ln w="15240">
            <a:solidFill>
              <a:srgbClr val="1039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noProof="0" dirty="0">
              <a:solidFill>
                <a:srgbClr val="10399C"/>
              </a:solidFill>
            </a:endParaRP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35A93A65-E62A-2575-E38A-F277394A7D1D}"/>
              </a:ext>
            </a:extLst>
          </p:cNvPr>
          <p:cNvSpPr/>
          <p:nvPr/>
        </p:nvSpPr>
        <p:spPr>
          <a:xfrm>
            <a:off x="2384716" y="7358299"/>
            <a:ext cx="54864" cy="1572768"/>
          </a:xfrm>
          <a:prstGeom prst="rect">
            <a:avLst/>
          </a:prstGeom>
          <a:solidFill>
            <a:srgbClr val="10399C"/>
          </a:solidFill>
          <a:ln w="12700">
            <a:solidFill>
              <a:srgbClr val="10399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4799839-BD2D-8B27-518C-3B7885ED53B1}"/>
              </a:ext>
            </a:extLst>
          </p:cNvPr>
          <p:cNvSpPr/>
          <p:nvPr/>
        </p:nvSpPr>
        <p:spPr>
          <a:xfrm>
            <a:off x="2549308" y="7468027"/>
            <a:ext cx="17593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300" b="1" noProof="0" dirty="0">
                <a:solidFill>
                  <a:srgbClr val="10399C"/>
                </a:solidFill>
                <a:ea typeface="Calibri" pitchFamily="34" charset="-122"/>
                <a:cs typeface="Calibri" pitchFamily="34" charset="-120"/>
              </a:rPr>
              <a:t>Datos del Cliente</a:t>
            </a:r>
            <a:endParaRPr lang="es-EC" sz="1300" noProof="0" dirty="0">
              <a:solidFill>
                <a:srgbClr val="10399C"/>
              </a:solidFill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34B787E-03CF-F8B0-1904-55876AF84772}"/>
              </a:ext>
            </a:extLst>
          </p:cNvPr>
          <p:cNvSpPr/>
          <p:nvPr/>
        </p:nvSpPr>
        <p:spPr>
          <a:xfrm>
            <a:off x="2549308" y="7833787"/>
            <a:ext cx="1759383" cy="831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C" sz="1100" noProof="0" dirty="0"/>
              <a:t>Enriquecimiento del perfil con patrones de predicción, intereses deportivos y actividad social dentro de la plataforma.</a:t>
            </a: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A4253EB-A151-AB63-1B28-6F7130EA751A}"/>
              </a:ext>
            </a:extLst>
          </p:cNvPr>
          <p:cNvSpPr/>
          <p:nvPr/>
        </p:nvSpPr>
        <p:spPr>
          <a:xfrm>
            <a:off x="4604831" y="7358299"/>
            <a:ext cx="1993396" cy="1572768"/>
          </a:xfrm>
          <a:prstGeom prst="rect">
            <a:avLst/>
          </a:prstGeom>
          <a:solidFill>
            <a:srgbClr val="EEF2FF"/>
          </a:solidFill>
          <a:ln w="15240">
            <a:solidFill>
              <a:srgbClr val="1039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noProof="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B4C0AE51-4E46-3B36-B8AC-EF44FD022B0F}"/>
              </a:ext>
            </a:extLst>
          </p:cNvPr>
          <p:cNvSpPr/>
          <p:nvPr/>
        </p:nvSpPr>
        <p:spPr>
          <a:xfrm>
            <a:off x="4604831" y="7358299"/>
            <a:ext cx="54864" cy="1572768"/>
          </a:xfrm>
          <a:prstGeom prst="rect">
            <a:avLst/>
          </a:prstGeom>
          <a:solidFill>
            <a:srgbClr val="10399C"/>
          </a:solidFill>
          <a:ln w="12700">
            <a:solidFill>
              <a:srgbClr val="10399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A54F665-BDC0-106E-5944-E856D8D703FA}"/>
              </a:ext>
            </a:extLst>
          </p:cNvPr>
          <p:cNvSpPr/>
          <p:nvPr/>
        </p:nvSpPr>
        <p:spPr>
          <a:xfrm>
            <a:off x="4769423" y="7468027"/>
            <a:ext cx="17906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300" b="1" noProof="0" dirty="0">
                <a:solidFill>
                  <a:srgbClr val="10399C"/>
                </a:solidFill>
                <a:ea typeface="Calibri" pitchFamily="34" charset="-122"/>
                <a:cs typeface="Calibri" pitchFamily="34" charset="-120"/>
              </a:rPr>
              <a:t>Diferenciación</a:t>
            </a:r>
            <a:endParaRPr lang="es-EC" sz="1300" noProof="0" dirty="0">
              <a:solidFill>
                <a:srgbClr val="10399C"/>
              </a:solidFill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F4EEACF-77FB-FA11-4EFB-AA7EDA37E0B8}"/>
              </a:ext>
            </a:extLst>
          </p:cNvPr>
          <p:cNvSpPr/>
          <p:nvPr/>
        </p:nvSpPr>
        <p:spPr>
          <a:xfrm>
            <a:off x="4769423" y="7833787"/>
            <a:ext cx="170834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s-EC" sz="1200" noProof="0" dirty="0"/>
              <a:t>Posicionamiento del banco como referente en IA para la experiencia del cliente en la región LATAM.</a:t>
            </a:r>
          </a:p>
        </p:txBody>
      </p:sp>
    </p:spTree>
    <p:extLst>
      <p:ext uri="{BB962C8B-B14F-4D97-AF65-F5344CB8AC3E}">
        <p14:creationId xmlns:p14="http://schemas.microsoft.com/office/powerpoint/2010/main" val="65064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A4B36-0DCE-88B3-C3FE-F41836B97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D5760D-11DB-F949-8326-8B8E61257BD1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A17CF-2524-713E-1EBB-83E534CF18B7}"/>
              </a:ext>
            </a:extLst>
          </p:cNvPr>
          <p:cNvSpPr txBox="1"/>
          <p:nvPr/>
        </p:nvSpPr>
        <p:spPr>
          <a:xfrm>
            <a:off x="-3153" y="2337255"/>
            <a:ext cx="415258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C" sz="1400" b="1" noProof="0" dirty="0"/>
              <a:t>Funcionalidades de la aplicación (IA </a:t>
            </a:r>
            <a:r>
              <a:rPr lang="es-EC" sz="1400" b="1" noProof="0" dirty="0" err="1"/>
              <a:t>First</a:t>
            </a:r>
            <a:r>
              <a:rPr lang="es-EC" sz="1400" b="1" noProof="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DC2BA-1F57-BFA6-6841-47804C1E4029}"/>
              </a:ext>
            </a:extLst>
          </p:cNvPr>
          <p:cNvSpPr txBox="1"/>
          <p:nvPr/>
        </p:nvSpPr>
        <p:spPr>
          <a:xfrm>
            <a:off x="20709" y="5403432"/>
            <a:ext cx="5946971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C" sz="1600" b="1" noProof="0" dirty="0"/>
              <a:t>Conexión con </a:t>
            </a:r>
            <a:r>
              <a:rPr lang="es-EC" sz="1400" b="1" noProof="0" dirty="0"/>
              <a:t>la</a:t>
            </a:r>
            <a:r>
              <a:rPr lang="es-EC" sz="1600" b="1" noProof="0" dirty="0"/>
              <a:t> problemática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1C28DF8-55DB-2890-FE11-AA8D9502E480}"/>
              </a:ext>
            </a:extLst>
          </p:cNvPr>
          <p:cNvSpPr txBox="1"/>
          <p:nvPr/>
        </p:nvSpPr>
        <p:spPr>
          <a:xfrm>
            <a:off x="280555" y="2710134"/>
            <a:ext cx="6255327" cy="25391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s-EC" sz="1100" b="1" noProof="0" dirty="0" err="1"/>
              <a:t>Chatbot</a:t>
            </a:r>
            <a:r>
              <a:rPr lang="es-EC" sz="1100" b="1" noProof="0" dirty="0"/>
              <a:t> de Análisis Deportivo:</a:t>
            </a:r>
            <a:r>
              <a:rPr lang="es-EC" sz="1100" noProof="0" dirty="0"/>
              <a:t> Sistema </a:t>
            </a:r>
            <a:r>
              <a:rPr lang="es-EC" sz="1100" noProof="0" dirty="0" err="1"/>
              <a:t>multi-agente</a:t>
            </a:r>
            <a:r>
              <a:rPr lang="es-EC" sz="1100" noProof="0" dirty="0"/>
              <a:t> basado en Gemini 2.5 Flash que genera informes estadísticos profundos sobre el Mundial. Orquesta la búsqueda de datos en tiempo real (FIFA, ESPN) y entrega análisis neutros en </a:t>
            </a:r>
            <a:r>
              <a:rPr lang="es-EC" sz="1100" noProof="0" dirty="0" err="1"/>
              <a:t>Markdown</a:t>
            </a:r>
            <a:r>
              <a:rPr lang="es-EC" sz="1100" noProof="0" dirty="0"/>
              <a:t>, evitando predicciones directas para incentivar el juego con la moneda de la app.</a:t>
            </a:r>
            <a:endParaRPr lang="es-EC" sz="1400" noProof="0" dirty="0"/>
          </a:p>
          <a:p>
            <a:pPr marL="285750" indent="-285750" algn="just">
              <a:buFont typeface="Arial"/>
              <a:buChar char="•"/>
            </a:pPr>
            <a:endParaRPr lang="es-EC" sz="1100" noProof="0" dirty="0"/>
          </a:p>
          <a:p>
            <a:pPr marL="285750" indent="-285750">
              <a:buFont typeface="Arial"/>
              <a:buChar char="•"/>
            </a:pPr>
            <a:r>
              <a:rPr lang="es-EC" sz="1100" b="1" noProof="0" dirty="0"/>
              <a:t>Segmentación Inteligente de Premios:</a:t>
            </a:r>
            <a:r>
              <a:rPr lang="es-EC" sz="1100" noProof="0" dirty="0"/>
              <a:t> Motor de personalización que utiliza Machine </a:t>
            </a:r>
            <a:r>
              <a:rPr lang="es-EC" sz="1100" noProof="0" dirty="0" err="1"/>
              <a:t>Learning</a:t>
            </a:r>
            <a:r>
              <a:rPr lang="es-EC" sz="1100" noProof="0" dirty="0"/>
              <a:t> para clasificar a los usuarios en categorías de interés. Cruza el comportamiento y perfil del usuario con reglas de negocio para ofrecer recomendaciones de premios explicables y alternativas adaptadas a su contexto específico.</a:t>
            </a:r>
            <a:endParaRPr lang="es-EC" sz="1400" noProof="0" dirty="0"/>
          </a:p>
          <a:p>
            <a:pPr marL="285750" indent="-285750" algn="just">
              <a:buFont typeface="Arial"/>
              <a:buChar char="•"/>
            </a:pPr>
            <a:endParaRPr lang="es-EC" sz="1100" noProof="0" dirty="0"/>
          </a:p>
          <a:p>
            <a:pPr marL="285750" indent="-285750" algn="just">
              <a:buFont typeface="Arial"/>
              <a:buChar char="•"/>
            </a:pPr>
            <a:r>
              <a:rPr lang="es-EC" sz="1100" b="1" noProof="0" dirty="0"/>
              <a:t>Motor de </a:t>
            </a:r>
            <a:r>
              <a:rPr lang="es-EC" sz="1100" b="1" noProof="0" dirty="0" err="1"/>
              <a:t>Matchmaking</a:t>
            </a:r>
            <a:r>
              <a:rPr lang="es-EC" sz="1100" b="1" dirty="0"/>
              <a:t>: </a:t>
            </a:r>
            <a:r>
              <a:rPr lang="es-ES" sz="1100" noProof="0" dirty="0"/>
              <a:t>El algoritmo asigna un peso del 70% al historial de egresos (categorización de comercios y frecuencia de consumo) y un 30% a la liquidez financiera (saldo proyectado). El sistema procesa estas variables para calcular un índice de compatibilidad y automatizar la asignación de grupos.</a:t>
            </a:r>
            <a:endParaRPr lang="es-EC" sz="11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BEABB5-9DD0-317E-1F70-C652496C0428}"/>
              </a:ext>
            </a:extLst>
          </p:cNvPr>
          <p:cNvSpPr/>
          <p:nvPr/>
        </p:nvSpPr>
        <p:spPr>
          <a:xfrm>
            <a:off x="280555" y="5996491"/>
            <a:ext cx="1776190" cy="384048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8FD5D17-F544-86A6-5B3D-D95BEFE1CF2A}"/>
              </a:ext>
            </a:extLst>
          </p:cNvPr>
          <p:cNvSpPr/>
          <p:nvPr/>
        </p:nvSpPr>
        <p:spPr>
          <a:xfrm>
            <a:off x="371994" y="5996491"/>
            <a:ext cx="1644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1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Funcionalidad</a:t>
            </a:r>
            <a:endParaRPr lang="es-EC" sz="1100" noProof="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DB8535A-AD49-D2AD-2741-BD96AAF4E93B}"/>
              </a:ext>
            </a:extLst>
          </p:cNvPr>
          <p:cNvSpPr/>
          <p:nvPr/>
        </p:nvSpPr>
        <p:spPr>
          <a:xfrm>
            <a:off x="2372022" y="5996491"/>
            <a:ext cx="2269576" cy="384048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A94A47C-C690-21C5-EEDE-FED22BAFD149}"/>
              </a:ext>
            </a:extLst>
          </p:cNvPr>
          <p:cNvSpPr/>
          <p:nvPr/>
        </p:nvSpPr>
        <p:spPr>
          <a:xfrm>
            <a:off x="2463461" y="5996491"/>
            <a:ext cx="21380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1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Problema que Resuelve</a:t>
            </a:r>
            <a:endParaRPr lang="es-EC" sz="1100" noProof="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8533073-AC45-655D-699C-01E117729D68}"/>
              </a:ext>
            </a:extLst>
          </p:cNvPr>
          <p:cNvSpPr/>
          <p:nvPr/>
        </p:nvSpPr>
        <p:spPr>
          <a:xfrm>
            <a:off x="4892695" y="5996491"/>
            <a:ext cx="1776190" cy="384048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4A764A7-334F-98DE-C2BA-3C5C366F288E}"/>
              </a:ext>
            </a:extLst>
          </p:cNvPr>
          <p:cNvSpPr/>
          <p:nvPr/>
        </p:nvSpPr>
        <p:spPr>
          <a:xfrm>
            <a:off x="4984134" y="5996491"/>
            <a:ext cx="16446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1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Indicador de Impacto</a:t>
            </a:r>
            <a:endParaRPr lang="es-EC" sz="1100" noProof="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BE40B68C-D13F-B852-D55C-4B334D684B51}"/>
              </a:ext>
            </a:extLst>
          </p:cNvPr>
          <p:cNvSpPr/>
          <p:nvPr/>
        </p:nvSpPr>
        <p:spPr>
          <a:xfrm>
            <a:off x="280555" y="6426259"/>
            <a:ext cx="177619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CE0545C-9144-5A11-77A7-8625AE2EA4A0}"/>
              </a:ext>
            </a:extLst>
          </p:cNvPr>
          <p:cNvSpPr/>
          <p:nvPr/>
        </p:nvSpPr>
        <p:spPr>
          <a:xfrm>
            <a:off x="2372022" y="6426259"/>
            <a:ext cx="2269576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DD5C5115-7F3A-6445-C62A-2DE7A0D9B689}"/>
              </a:ext>
            </a:extLst>
          </p:cNvPr>
          <p:cNvSpPr/>
          <p:nvPr/>
        </p:nvSpPr>
        <p:spPr>
          <a:xfrm>
            <a:off x="4892695" y="6426259"/>
            <a:ext cx="177619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04B10BE-EC28-C712-FAFE-F57759D01C85}"/>
              </a:ext>
            </a:extLst>
          </p:cNvPr>
          <p:cNvSpPr/>
          <p:nvPr/>
        </p:nvSpPr>
        <p:spPr>
          <a:xfrm>
            <a:off x="371994" y="6462835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b="1" noProof="0" dirty="0" err="1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Chatbot</a:t>
            </a:r>
            <a:r>
              <a:rPr lang="es-EC" sz="10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 deportivo</a:t>
            </a:r>
            <a:endParaRPr lang="es-EC" sz="1000" noProof="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3F1E451-334F-2B6B-8369-5A89FBA2C440}"/>
              </a:ext>
            </a:extLst>
          </p:cNvPr>
          <p:cNvSpPr/>
          <p:nvPr/>
        </p:nvSpPr>
        <p:spPr>
          <a:xfrm>
            <a:off x="2463461" y="6462835"/>
            <a:ext cx="2138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000" noProof="0" dirty="0">
                <a:ea typeface="Calibri" pitchFamily="34" charset="-122"/>
                <a:cs typeface="Calibri" pitchFamily="34" charset="-120"/>
              </a:rPr>
              <a:t>Falta de motivos para abrir la app a diario</a:t>
            </a:r>
            <a:endParaRPr lang="es-EC" sz="1000" noProof="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D31061C-38AC-28B0-5E58-787EE5F787C6}"/>
              </a:ext>
            </a:extLst>
          </p:cNvPr>
          <p:cNvSpPr/>
          <p:nvPr/>
        </p:nvSpPr>
        <p:spPr>
          <a:xfrm>
            <a:off x="4984134" y="6462835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C" sz="1000" noProof="0" dirty="0">
                <a:ea typeface="Calibri" pitchFamily="34" charset="-122"/>
                <a:cs typeface="Calibri" pitchFamily="34" charset="-120"/>
              </a:rPr>
              <a:t>Frecuencia de apertura diaria</a:t>
            </a: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91EF787F-18F9-D73F-C915-B03C089617D2}"/>
              </a:ext>
            </a:extLst>
          </p:cNvPr>
          <p:cNvSpPr/>
          <p:nvPr/>
        </p:nvSpPr>
        <p:spPr>
          <a:xfrm>
            <a:off x="280555" y="6993187"/>
            <a:ext cx="177619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B2C19A3C-8236-7EF3-14C3-021456CAD0A9}"/>
              </a:ext>
            </a:extLst>
          </p:cNvPr>
          <p:cNvSpPr/>
          <p:nvPr/>
        </p:nvSpPr>
        <p:spPr>
          <a:xfrm>
            <a:off x="2372022" y="6993187"/>
            <a:ext cx="226957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C836BF09-DAED-4D4D-8561-1840812B02D5}"/>
              </a:ext>
            </a:extLst>
          </p:cNvPr>
          <p:cNvSpPr/>
          <p:nvPr/>
        </p:nvSpPr>
        <p:spPr>
          <a:xfrm>
            <a:off x="4892695" y="6993187"/>
            <a:ext cx="177619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08A97A40-7E39-6461-1E92-DDC05FC35B18}"/>
              </a:ext>
            </a:extLst>
          </p:cNvPr>
          <p:cNvSpPr/>
          <p:nvPr/>
        </p:nvSpPr>
        <p:spPr>
          <a:xfrm>
            <a:off x="371994" y="7029763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Segmentación con IA</a:t>
            </a:r>
            <a:endParaRPr lang="es-EC" sz="1000" noProof="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6755C77-2A67-95B9-1A9E-8E8B2AE25674}"/>
              </a:ext>
            </a:extLst>
          </p:cNvPr>
          <p:cNvSpPr/>
          <p:nvPr/>
        </p:nvSpPr>
        <p:spPr>
          <a:xfrm>
            <a:off x="2463461" y="7029763"/>
            <a:ext cx="2138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noProof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Programas de lealtad genéricos e irrelevantes</a:t>
            </a:r>
            <a:endParaRPr lang="es-EC" sz="1000" noProof="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6A77D22C-F12A-52CF-7A7D-84B95A382C3C}"/>
              </a:ext>
            </a:extLst>
          </p:cNvPr>
          <p:cNvSpPr/>
          <p:nvPr/>
        </p:nvSpPr>
        <p:spPr>
          <a:xfrm>
            <a:off x="4984134" y="7029763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s-EC" sz="1000" noProof="0" dirty="0">
                <a:ea typeface="Calibri" pitchFamily="34" charset="-122"/>
                <a:cs typeface="Calibri" pitchFamily="34" charset="-120"/>
              </a:rPr>
              <a:t>Tasa de canje del premio; satisfacción</a:t>
            </a: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511319B0-0115-E9CC-1E60-8F01A4133693}"/>
              </a:ext>
            </a:extLst>
          </p:cNvPr>
          <p:cNvSpPr/>
          <p:nvPr/>
        </p:nvSpPr>
        <p:spPr>
          <a:xfrm>
            <a:off x="280555" y="7560115"/>
            <a:ext cx="177619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81DB4F7C-AB8C-A1F1-CCBF-E86A96B560D3}"/>
              </a:ext>
            </a:extLst>
          </p:cNvPr>
          <p:cNvSpPr/>
          <p:nvPr/>
        </p:nvSpPr>
        <p:spPr>
          <a:xfrm>
            <a:off x="2372022" y="7560115"/>
            <a:ext cx="2269576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351464B3-6AB8-FC47-7DB4-BA0E1D84E1D6}"/>
              </a:ext>
            </a:extLst>
          </p:cNvPr>
          <p:cNvSpPr/>
          <p:nvPr/>
        </p:nvSpPr>
        <p:spPr>
          <a:xfrm>
            <a:off x="4892695" y="7560115"/>
            <a:ext cx="177619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9BE03AEE-14F9-23D3-3D3D-7F50030B7B34}"/>
              </a:ext>
            </a:extLst>
          </p:cNvPr>
          <p:cNvSpPr/>
          <p:nvPr/>
        </p:nvSpPr>
        <p:spPr>
          <a:xfrm>
            <a:off x="371994" y="7596691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b="1" noProof="0" dirty="0" err="1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mAiles</a:t>
            </a:r>
            <a:r>
              <a:rPr lang="es-EC" sz="10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 y pronósticos</a:t>
            </a:r>
            <a:endParaRPr lang="es-EC" sz="1000" noProof="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CD3B548E-68C3-6072-279A-A1EE50CCD955}"/>
              </a:ext>
            </a:extLst>
          </p:cNvPr>
          <p:cNvSpPr/>
          <p:nvPr/>
        </p:nvSpPr>
        <p:spPr>
          <a:xfrm>
            <a:off x="2463461" y="7596691"/>
            <a:ext cx="2138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noProof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Baja participación activa en productos bancarios</a:t>
            </a:r>
            <a:endParaRPr lang="es-EC" sz="1000" noProof="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77F78267-5C97-B83C-C818-718375F23C5C}"/>
              </a:ext>
            </a:extLst>
          </p:cNvPr>
          <p:cNvSpPr/>
          <p:nvPr/>
        </p:nvSpPr>
        <p:spPr>
          <a:xfrm>
            <a:off x="4984134" y="7596691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C" sz="1000" noProof="0" dirty="0">
                <a:ea typeface="Calibri" pitchFamily="34" charset="-122"/>
                <a:cs typeface="Calibri" pitchFamily="34" charset="-120"/>
              </a:rPr>
              <a:t>Volumen de transacciones vinculadas</a:t>
            </a:r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1C877CAD-ECFD-C5EA-7431-7F29BA3D3DA7}"/>
              </a:ext>
            </a:extLst>
          </p:cNvPr>
          <p:cNvSpPr/>
          <p:nvPr/>
        </p:nvSpPr>
        <p:spPr>
          <a:xfrm>
            <a:off x="280555" y="8127043"/>
            <a:ext cx="177619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40E810A5-AAA1-4F60-44B0-5DEFC3F54D3D}"/>
              </a:ext>
            </a:extLst>
          </p:cNvPr>
          <p:cNvSpPr/>
          <p:nvPr/>
        </p:nvSpPr>
        <p:spPr>
          <a:xfrm>
            <a:off x="2372022" y="8127043"/>
            <a:ext cx="226957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52C19B9A-F070-67A6-1E08-809B3C7F206E}"/>
              </a:ext>
            </a:extLst>
          </p:cNvPr>
          <p:cNvSpPr/>
          <p:nvPr/>
        </p:nvSpPr>
        <p:spPr>
          <a:xfrm>
            <a:off x="4892695" y="8127043"/>
            <a:ext cx="177619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02883620-F710-668B-D086-4B9735B2C591}"/>
              </a:ext>
            </a:extLst>
          </p:cNvPr>
          <p:cNvSpPr/>
          <p:nvPr/>
        </p:nvSpPr>
        <p:spPr>
          <a:xfrm>
            <a:off x="371994" y="8163619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Ligas de fidelidad</a:t>
            </a:r>
            <a:endParaRPr lang="es-EC" sz="1000" noProof="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5A6EF36D-107B-1586-2780-5A91A05F33EE}"/>
              </a:ext>
            </a:extLst>
          </p:cNvPr>
          <p:cNvSpPr/>
          <p:nvPr/>
        </p:nvSpPr>
        <p:spPr>
          <a:xfrm>
            <a:off x="2463461" y="8163619"/>
            <a:ext cx="2138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noProof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Sin sentido de progresión en la relación con el banco</a:t>
            </a:r>
            <a:endParaRPr lang="es-EC" sz="1000" noProof="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CC56128F-E495-B596-4CDF-F1E21FCD4AF1}"/>
              </a:ext>
            </a:extLst>
          </p:cNvPr>
          <p:cNvSpPr/>
          <p:nvPr/>
        </p:nvSpPr>
        <p:spPr>
          <a:xfrm>
            <a:off x="4984134" y="8163619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s-EC" sz="1000" noProof="0" dirty="0">
                <a:ea typeface="Calibri" pitchFamily="34" charset="-122"/>
                <a:cs typeface="Calibri" pitchFamily="34" charset="-120"/>
              </a:rPr>
              <a:t>Tasa de subida de liga; permanencia</a:t>
            </a:r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33BD4D27-CF7E-747D-F30C-31B71C090375}"/>
              </a:ext>
            </a:extLst>
          </p:cNvPr>
          <p:cNvSpPr/>
          <p:nvPr/>
        </p:nvSpPr>
        <p:spPr>
          <a:xfrm>
            <a:off x="280555" y="8693971"/>
            <a:ext cx="177619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6D367983-D51A-2664-24A9-C2D16F7CD107}"/>
              </a:ext>
            </a:extLst>
          </p:cNvPr>
          <p:cNvSpPr/>
          <p:nvPr/>
        </p:nvSpPr>
        <p:spPr>
          <a:xfrm>
            <a:off x="2372022" y="8693971"/>
            <a:ext cx="2269576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449C734A-3E99-AEA0-567E-1DD21044C76D}"/>
              </a:ext>
            </a:extLst>
          </p:cNvPr>
          <p:cNvSpPr/>
          <p:nvPr/>
        </p:nvSpPr>
        <p:spPr>
          <a:xfrm>
            <a:off x="4892695" y="8693971"/>
            <a:ext cx="1776190" cy="530352"/>
          </a:xfrm>
          <a:prstGeom prst="rect">
            <a:avLst/>
          </a:prstGeom>
          <a:solidFill>
            <a:srgbClr val="EEF2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FCED1B7F-2C64-F004-E2E0-F9349D4D72B4}"/>
              </a:ext>
            </a:extLst>
          </p:cNvPr>
          <p:cNvSpPr/>
          <p:nvPr/>
        </p:nvSpPr>
        <p:spPr>
          <a:xfrm>
            <a:off x="371994" y="8730547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Álbum de cromos</a:t>
            </a:r>
            <a:endParaRPr lang="es-EC" sz="1000" noProof="0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8D0D04A6-9509-D2FC-3436-DFEC977D0BB5}"/>
              </a:ext>
            </a:extLst>
          </p:cNvPr>
          <p:cNvSpPr/>
          <p:nvPr/>
        </p:nvSpPr>
        <p:spPr>
          <a:xfrm>
            <a:off x="2463461" y="8730547"/>
            <a:ext cx="2138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noProof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Alto abandono de la app tras el </a:t>
            </a:r>
            <a:r>
              <a:rPr lang="es-EC" sz="1000" noProof="0" dirty="0" err="1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onboarding</a:t>
            </a:r>
            <a:endParaRPr lang="es-EC" sz="1000" noProof="0" dirty="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11F256A5-6522-D919-89FD-FECDAD2832AA}"/>
              </a:ext>
            </a:extLst>
          </p:cNvPr>
          <p:cNvSpPr/>
          <p:nvPr/>
        </p:nvSpPr>
        <p:spPr>
          <a:xfrm>
            <a:off x="4984134" y="8730547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C" sz="1000" noProof="0" dirty="0">
                <a:ea typeface="Calibri" pitchFamily="34" charset="-122"/>
                <a:cs typeface="Calibri" pitchFamily="34" charset="-120"/>
              </a:rPr>
              <a:t>Retención semanal durante la temporada</a:t>
            </a:r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A2DED28E-F924-9DE4-D6BC-9AFC8293B3C0}"/>
              </a:ext>
            </a:extLst>
          </p:cNvPr>
          <p:cNvSpPr/>
          <p:nvPr/>
        </p:nvSpPr>
        <p:spPr>
          <a:xfrm>
            <a:off x="280555" y="9260899"/>
            <a:ext cx="177619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614E2B53-3BB1-A45E-FB0F-9442B65C6881}"/>
              </a:ext>
            </a:extLst>
          </p:cNvPr>
          <p:cNvSpPr/>
          <p:nvPr/>
        </p:nvSpPr>
        <p:spPr>
          <a:xfrm>
            <a:off x="2372022" y="9260899"/>
            <a:ext cx="2269576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8709AAF9-8377-AD17-44E4-75FC172465D6}"/>
              </a:ext>
            </a:extLst>
          </p:cNvPr>
          <p:cNvSpPr/>
          <p:nvPr/>
        </p:nvSpPr>
        <p:spPr>
          <a:xfrm>
            <a:off x="4892695" y="9260899"/>
            <a:ext cx="177619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BACB48ED-C118-A48A-0ECD-D615489D688B}"/>
              </a:ext>
            </a:extLst>
          </p:cNvPr>
          <p:cNvSpPr/>
          <p:nvPr/>
        </p:nvSpPr>
        <p:spPr>
          <a:xfrm>
            <a:off x="371994" y="9297475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Grupos de predicción</a:t>
            </a:r>
            <a:endParaRPr lang="es-EC" sz="1000" noProof="0" dirty="0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BE8A487B-B471-5286-B3C5-A8F1D83AA644}"/>
              </a:ext>
            </a:extLst>
          </p:cNvPr>
          <p:cNvSpPr/>
          <p:nvPr/>
        </p:nvSpPr>
        <p:spPr>
          <a:xfrm>
            <a:off x="2463461" y="9297475"/>
            <a:ext cx="21380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noProof="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Experiencia bancaria percibida como individual</a:t>
            </a:r>
            <a:endParaRPr lang="es-EC" sz="1000" noProof="0" dirty="0"/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B22F62B6-A976-43B2-7CD6-4A42279E36D8}"/>
              </a:ext>
            </a:extLst>
          </p:cNvPr>
          <p:cNvSpPr/>
          <p:nvPr/>
        </p:nvSpPr>
        <p:spPr>
          <a:xfrm>
            <a:off x="4984134" y="9297475"/>
            <a:ext cx="1644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s-EC" sz="1000" noProof="0" dirty="0">
                <a:ea typeface="Calibri" pitchFamily="34" charset="-122"/>
                <a:cs typeface="Calibri" pitchFamily="34" charset="-120"/>
              </a:rPr>
              <a:t>Usuarios activos en grupos; referidos</a:t>
            </a:r>
          </a:p>
        </p:txBody>
      </p:sp>
    </p:spTree>
    <p:extLst>
      <p:ext uri="{BB962C8B-B14F-4D97-AF65-F5344CB8AC3E}">
        <p14:creationId xmlns:p14="http://schemas.microsoft.com/office/powerpoint/2010/main" val="2573166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AB12A-E837-0D72-971D-98489F00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8CAB03-BC95-5A97-AA2E-8BADEAEC82F9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8751B-900D-17E4-0551-CA70D917E9E0}"/>
              </a:ext>
            </a:extLst>
          </p:cNvPr>
          <p:cNvSpPr txBox="1"/>
          <p:nvPr/>
        </p:nvSpPr>
        <p:spPr>
          <a:xfrm>
            <a:off x="59193" y="2212651"/>
            <a:ext cx="594697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C" sz="1400" b="1" noProof="0" dirty="0"/>
              <a:t>Diseño Técnico 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DEB0F034-D671-2744-FF44-8F589651DACD}"/>
              </a:ext>
            </a:extLst>
          </p:cNvPr>
          <p:cNvSpPr/>
          <p:nvPr/>
        </p:nvSpPr>
        <p:spPr>
          <a:xfrm>
            <a:off x="173301" y="2734205"/>
            <a:ext cx="6511398" cy="1234440"/>
          </a:xfrm>
          <a:prstGeom prst="rect">
            <a:avLst/>
          </a:prstGeom>
          <a:solidFill>
            <a:srgbClr val="EEF2FF"/>
          </a:solidFill>
          <a:ln w="25400">
            <a:solidFill>
              <a:srgbClr val="003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noProof="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0628374-CAEB-64D3-344C-2D9FADCFA351}"/>
              </a:ext>
            </a:extLst>
          </p:cNvPr>
          <p:cNvSpPr/>
          <p:nvPr/>
        </p:nvSpPr>
        <p:spPr>
          <a:xfrm>
            <a:off x="173301" y="2734205"/>
            <a:ext cx="91440" cy="1234440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2DE1DB7-0740-2A95-6C28-F15600F6D8C4}"/>
              </a:ext>
            </a:extLst>
          </p:cNvPr>
          <p:cNvSpPr/>
          <p:nvPr/>
        </p:nvSpPr>
        <p:spPr>
          <a:xfrm>
            <a:off x="362133" y="2825645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1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CAPA DE PRESENTACIÓN</a:t>
            </a:r>
            <a:endParaRPr lang="es-EC" sz="1100" noProof="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B686B80-DA60-33D9-DBF0-8542E5074145}"/>
              </a:ext>
            </a:extLst>
          </p:cNvPr>
          <p:cNvSpPr/>
          <p:nvPr/>
        </p:nvSpPr>
        <p:spPr>
          <a:xfrm>
            <a:off x="420189" y="3163973"/>
            <a:ext cx="1217019" cy="32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950" b="1" noProof="0" dirty="0" err="1">
                <a:ea typeface="Calibri" pitchFamily="34" charset="-122"/>
                <a:cs typeface="Calibri" pitchFamily="34" charset="-120"/>
              </a:rPr>
              <a:t>React</a:t>
            </a:r>
            <a:r>
              <a:rPr lang="es-EC" sz="950" b="1" noProof="0" dirty="0">
                <a:ea typeface="Calibri" pitchFamily="34" charset="-122"/>
                <a:cs typeface="Calibri" pitchFamily="34" charset="-120"/>
              </a:rPr>
              <a:t> Native · Expo · </a:t>
            </a:r>
            <a:r>
              <a:rPr lang="es-EC" sz="950" b="1" noProof="0" dirty="0" err="1">
                <a:ea typeface="Calibri" pitchFamily="34" charset="-122"/>
                <a:cs typeface="Calibri" pitchFamily="34" charset="-120"/>
              </a:rPr>
              <a:t>TypeScript</a:t>
            </a:r>
            <a:endParaRPr lang="es-EC" sz="950" noProof="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3377C12-72D9-6661-89A0-71B633CC3988}"/>
              </a:ext>
            </a:extLst>
          </p:cNvPr>
          <p:cNvSpPr/>
          <p:nvPr/>
        </p:nvSpPr>
        <p:spPr>
          <a:xfrm>
            <a:off x="2100219" y="2898797"/>
            <a:ext cx="0" cy="914400"/>
          </a:xfrm>
          <a:prstGeom prst="line">
            <a:avLst/>
          </a:prstGeom>
          <a:noFill/>
          <a:ln w="6350">
            <a:solidFill>
              <a:srgbClr val="003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8419AAC-F528-5AF4-09CA-4D5A1B52BD8F}"/>
              </a:ext>
            </a:extLst>
          </p:cNvPr>
          <p:cNvSpPr/>
          <p:nvPr/>
        </p:nvSpPr>
        <p:spPr>
          <a:xfrm>
            <a:off x="2309950" y="2825645"/>
            <a:ext cx="2428961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noProof="0" dirty="0">
                <a:ea typeface="Calibri" pitchFamily="34" charset="-122"/>
                <a:cs typeface="Calibri" pitchFamily="34" charset="-120"/>
              </a:rPr>
              <a:t>App móvil que se encarga de gestionar las funcionalidades referentes a las reglas de negocio del aplicativo. Consume los dos microservicios de IA y </a:t>
            </a:r>
            <a:r>
              <a:rPr lang="es-EC" sz="1000" noProof="0" dirty="0" err="1">
                <a:ea typeface="Calibri" pitchFamily="34" charset="-122"/>
                <a:cs typeface="Calibri" pitchFamily="34" charset="-120"/>
              </a:rPr>
              <a:t>Supabase</a:t>
            </a:r>
            <a:r>
              <a:rPr lang="es-EC" sz="1000" noProof="0" dirty="0">
                <a:ea typeface="Calibri" pitchFamily="34" charset="-122"/>
                <a:cs typeface="Calibri" pitchFamily="34" charset="-120"/>
              </a:rPr>
              <a:t>.</a:t>
            </a:r>
            <a:endParaRPr lang="es-EC" sz="1000" noProof="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78000F9-7074-E8DC-3D2E-627E5AE03587}"/>
              </a:ext>
            </a:extLst>
          </p:cNvPr>
          <p:cNvSpPr/>
          <p:nvPr/>
        </p:nvSpPr>
        <p:spPr>
          <a:xfrm>
            <a:off x="4965917" y="2843932"/>
            <a:ext cx="1682496" cy="450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9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• Expo </a:t>
            </a:r>
            <a:r>
              <a:rPr lang="es-EC" sz="900" b="1" noProof="0" dirty="0" err="1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Router</a:t>
            </a:r>
            <a:r>
              <a:rPr lang="es-EC" sz="9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 (file-</a:t>
            </a:r>
            <a:r>
              <a:rPr lang="es-EC" sz="900" b="1" noProof="0" dirty="0" err="1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based</a:t>
            </a:r>
            <a:r>
              <a:rPr lang="es-EC" sz="9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s-EC" sz="900" noProof="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323CA5B-8BE6-0143-F536-275656E98784}"/>
              </a:ext>
            </a:extLst>
          </p:cNvPr>
          <p:cNvSpPr/>
          <p:nvPr/>
        </p:nvSpPr>
        <p:spPr>
          <a:xfrm>
            <a:off x="4965917" y="3154828"/>
            <a:ext cx="1682496" cy="450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9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• </a:t>
            </a:r>
            <a:r>
              <a:rPr lang="es-EC" sz="900" b="1" noProof="0" dirty="0" err="1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NativeWind</a:t>
            </a:r>
            <a:r>
              <a:rPr lang="es-EC" sz="9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 (</a:t>
            </a:r>
            <a:r>
              <a:rPr lang="es-EC" sz="900" b="1" noProof="0" dirty="0" err="1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Tailwind</a:t>
            </a:r>
            <a:r>
              <a:rPr lang="es-EC" sz="900" b="1" noProof="0" dirty="0">
                <a:solidFill>
                  <a:srgbClr val="003399"/>
                </a:solidFill>
                <a:ea typeface="Calibri" pitchFamily="34" charset="-122"/>
                <a:cs typeface="Calibri" pitchFamily="34" charset="-120"/>
              </a:rPr>
              <a:t> RN)</a:t>
            </a:r>
            <a:endParaRPr lang="es-EC" sz="900" noProof="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68297284-2891-B57C-4470-33720DF38414}"/>
              </a:ext>
            </a:extLst>
          </p:cNvPr>
          <p:cNvSpPr/>
          <p:nvPr/>
        </p:nvSpPr>
        <p:spPr>
          <a:xfrm>
            <a:off x="173301" y="4377077"/>
            <a:ext cx="6511398" cy="1234440"/>
          </a:xfrm>
          <a:prstGeom prst="rect">
            <a:avLst/>
          </a:prstGeom>
          <a:solidFill>
            <a:srgbClr val="EEF2FF"/>
          </a:solidFill>
          <a:ln w="25400">
            <a:solidFill>
              <a:schemeClr val="tx2">
                <a:lumMod val="90000"/>
                <a:lumOff val="10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sz="1600" noProof="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3AA41F32-7FE5-5087-C75C-B53FB244424A}"/>
              </a:ext>
            </a:extLst>
          </p:cNvPr>
          <p:cNvSpPr/>
          <p:nvPr/>
        </p:nvSpPr>
        <p:spPr>
          <a:xfrm>
            <a:off x="173301" y="4377077"/>
            <a:ext cx="91440" cy="123444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12700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txBody>
          <a:bodyPr/>
          <a:lstStyle/>
          <a:p>
            <a:endParaRPr lang="es-EC" noProof="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4504A93-EB00-546E-F7DA-EC878601241C}"/>
              </a:ext>
            </a:extLst>
          </p:cNvPr>
          <p:cNvSpPr/>
          <p:nvPr/>
        </p:nvSpPr>
        <p:spPr>
          <a:xfrm>
            <a:off x="420189" y="4468517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200" b="1" noProof="0" dirty="0">
                <a:solidFill>
                  <a:schemeClr val="tx2">
                    <a:lumMod val="90000"/>
                    <a:lumOff val="10000"/>
                  </a:schemeClr>
                </a:solidFill>
                <a:ea typeface="Calibri" pitchFamily="34" charset="-122"/>
                <a:cs typeface="Calibri" pitchFamily="34" charset="-120"/>
              </a:rPr>
              <a:t>CAPA DE SERVICIOS</a:t>
            </a:r>
            <a:endParaRPr lang="es-EC" sz="1200" noProof="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0957B26E-3B66-65DF-374A-52A00BA9A434}"/>
              </a:ext>
            </a:extLst>
          </p:cNvPr>
          <p:cNvSpPr/>
          <p:nvPr/>
        </p:nvSpPr>
        <p:spPr>
          <a:xfrm>
            <a:off x="420189" y="4806845"/>
            <a:ext cx="1582782" cy="536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950" b="1" noProof="0" dirty="0">
                <a:ea typeface="Calibri" pitchFamily="34" charset="-122"/>
                <a:cs typeface="Calibri" pitchFamily="34" charset="-120"/>
              </a:rPr>
              <a:t>Dos microservicios </a:t>
            </a:r>
            <a:r>
              <a:rPr lang="es-EC" sz="950" b="1" noProof="0" dirty="0" err="1">
                <a:ea typeface="Calibri" pitchFamily="34" charset="-122"/>
                <a:cs typeface="Calibri" pitchFamily="34" charset="-120"/>
              </a:rPr>
              <a:t>FastAPI</a:t>
            </a:r>
            <a:r>
              <a:rPr lang="es-EC" sz="950" b="1" noProof="0" dirty="0">
                <a:ea typeface="Calibri" pitchFamily="34" charset="-122"/>
                <a:cs typeface="Calibri" pitchFamily="34" charset="-120"/>
              </a:rPr>
              <a:t> independientes</a:t>
            </a:r>
            <a:endParaRPr lang="es-EC" sz="950" noProof="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9D3269F2-DF15-1CD4-83E4-08D9E205B3FC}"/>
              </a:ext>
            </a:extLst>
          </p:cNvPr>
          <p:cNvSpPr/>
          <p:nvPr/>
        </p:nvSpPr>
        <p:spPr>
          <a:xfrm>
            <a:off x="2100219" y="4541669"/>
            <a:ext cx="0" cy="914400"/>
          </a:xfrm>
          <a:prstGeom prst="line">
            <a:avLst/>
          </a:prstGeom>
          <a:noFill/>
          <a:ln w="6350">
            <a:solidFill>
              <a:srgbClr val="660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F06A906A-9B9D-87FB-97BA-EC5125AD4737}"/>
              </a:ext>
            </a:extLst>
          </p:cNvPr>
          <p:cNvSpPr/>
          <p:nvPr/>
        </p:nvSpPr>
        <p:spPr>
          <a:xfrm>
            <a:off x="2309950" y="4468517"/>
            <a:ext cx="2428961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noProof="0" dirty="0">
                <a:ea typeface="Calibri" pitchFamily="34" charset="-122"/>
                <a:cs typeface="Calibri" pitchFamily="34" charset="-120"/>
              </a:rPr>
              <a:t>Encapsulan la lógica del agente deportivo y el modelo de segmentación con ML.</a:t>
            </a:r>
            <a:endParaRPr lang="es-EC" sz="1000" noProof="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E7D7251-13D7-DE3A-2706-4D85745A19A3}"/>
              </a:ext>
            </a:extLst>
          </p:cNvPr>
          <p:cNvSpPr/>
          <p:nvPr/>
        </p:nvSpPr>
        <p:spPr>
          <a:xfrm>
            <a:off x="4965917" y="4486804"/>
            <a:ext cx="1682496" cy="450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900" b="1" noProof="0" dirty="0">
                <a:solidFill>
                  <a:schemeClr val="tx2">
                    <a:lumMod val="90000"/>
                    <a:lumOff val="10000"/>
                  </a:schemeClr>
                </a:solidFill>
                <a:ea typeface="Calibri" pitchFamily="34" charset="-122"/>
                <a:cs typeface="Calibri" pitchFamily="34" charset="-120"/>
              </a:rPr>
              <a:t>• Agente Deportivo</a:t>
            </a:r>
            <a:endParaRPr lang="es-EC" sz="900" noProof="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12E39602-AE90-DD5B-38B7-164877B3275D}"/>
              </a:ext>
            </a:extLst>
          </p:cNvPr>
          <p:cNvSpPr/>
          <p:nvPr/>
        </p:nvSpPr>
        <p:spPr>
          <a:xfrm>
            <a:off x="4965917" y="4797700"/>
            <a:ext cx="1682496" cy="450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900" b="1" noProof="0" dirty="0">
                <a:solidFill>
                  <a:schemeClr val="tx2">
                    <a:lumMod val="90000"/>
                    <a:lumOff val="10000"/>
                  </a:schemeClr>
                </a:solidFill>
                <a:ea typeface="Calibri" pitchFamily="34" charset="-122"/>
                <a:cs typeface="Calibri" pitchFamily="34" charset="-120"/>
              </a:rPr>
              <a:t>• Segmentación</a:t>
            </a:r>
            <a:endParaRPr lang="es-EC" sz="900" noProof="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04BAF15B-8D72-0700-CA28-F001446093F1}"/>
              </a:ext>
            </a:extLst>
          </p:cNvPr>
          <p:cNvSpPr/>
          <p:nvPr/>
        </p:nvSpPr>
        <p:spPr>
          <a:xfrm>
            <a:off x="173301" y="6060589"/>
            <a:ext cx="6511398" cy="1234440"/>
          </a:xfrm>
          <a:prstGeom prst="rect">
            <a:avLst/>
          </a:prstGeom>
          <a:solidFill>
            <a:srgbClr val="EEF2FF"/>
          </a:solidFill>
          <a:ln w="25400">
            <a:solidFill>
              <a:schemeClr val="tx2">
                <a:lumMod val="75000"/>
                <a:lumOff val="2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noProof="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93A49E75-1221-A046-DDC6-82BA4DD3F2E1}"/>
              </a:ext>
            </a:extLst>
          </p:cNvPr>
          <p:cNvSpPr/>
          <p:nvPr/>
        </p:nvSpPr>
        <p:spPr>
          <a:xfrm>
            <a:off x="173301" y="6060589"/>
            <a:ext cx="91440" cy="12344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es-EC" noProof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F2409FC-8CA4-D9BD-C225-BA791A36502B}"/>
              </a:ext>
            </a:extLst>
          </p:cNvPr>
          <p:cNvSpPr/>
          <p:nvPr/>
        </p:nvSpPr>
        <p:spPr>
          <a:xfrm>
            <a:off x="420189" y="6152029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100" b="1" noProof="0" dirty="0">
                <a:solidFill>
                  <a:schemeClr val="tx2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CAPA DE DATOS</a:t>
            </a:r>
            <a:endParaRPr lang="es-EC" sz="1100" noProof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1B7FBD1D-8913-E886-1BCD-235FC70AED15}"/>
              </a:ext>
            </a:extLst>
          </p:cNvPr>
          <p:cNvSpPr/>
          <p:nvPr/>
        </p:nvSpPr>
        <p:spPr>
          <a:xfrm>
            <a:off x="420189" y="6490357"/>
            <a:ext cx="1034129" cy="201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950" b="1" noProof="0" dirty="0" err="1">
                <a:ea typeface="Calibri" pitchFamily="34" charset="-122"/>
                <a:cs typeface="Calibri" pitchFamily="34" charset="-120"/>
              </a:rPr>
              <a:t>Supabase</a:t>
            </a:r>
            <a:endParaRPr lang="es-EC" sz="950" noProof="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CD0F5126-F9C4-0B6E-A5CF-2ED379A89D32}"/>
              </a:ext>
            </a:extLst>
          </p:cNvPr>
          <p:cNvSpPr/>
          <p:nvPr/>
        </p:nvSpPr>
        <p:spPr>
          <a:xfrm>
            <a:off x="2100219" y="6225181"/>
            <a:ext cx="0" cy="914400"/>
          </a:xfrm>
          <a:prstGeom prst="line">
            <a:avLst/>
          </a:prstGeom>
          <a:noFill/>
          <a:ln w="6350">
            <a:solidFill>
              <a:srgbClr val="E6192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8FAAA0FA-9CCD-7260-55DD-0E29AA0ACD79}"/>
              </a:ext>
            </a:extLst>
          </p:cNvPr>
          <p:cNvSpPr/>
          <p:nvPr/>
        </p:nvSpPr>
        <p:spPr>
          <a:xfrm>
            <a:off x="2309950" y="6152029"/>
            <a:ext cx="2428961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1000" noProof="0" dirty="0">
                <a:ea typeface="Calibri" pitchFamily="34" charset="-122"/>
                <a:cs typeface="Calibri" pitchFamily="34" charset="-120"/>
              </a:rPr>
              <a:t>Fuente de datos del sistema. </a:t>
            </a:r>
            <a:endParaRPr lang="es-EC" sz="1000" noProof="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99DB5042-EBD2-5D34-F2E4-4BE65CDCDAA1}"/>
              </a:ext>
            </a:extLst>
          </p:cNvPr>
          <p:cNvSpPr/>
          <p:nvPr/>
        </p:nvSpPr>
        <p:spPr>
          <a:xfrm>
            <a:off x="4965917" y="6170316"/>
            <a:ext cx="1682496" cy="450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900" b="1" noProof="0" dirty="0">
                <a:solidFill>
                  <a:schemeClr val="tx2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• Tablas relacionales</a:t>
            </a:r>
            <a:endParaRPr lang="es-EC" sz="900" noProof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E71F2D5D-B28B-65AC-1750-E94C5EC265D6}"/>
              </a:ext>
            </a:extLst>
          </p:cNvPr>
          <p:cNvSpPr/>
          <p:nvPr/>
        </p:nvSpPr>
        <p:spPr>
          <a:xfrm>
            <a:off x="4965917" y="6481212"/>
            <a:ext cx="1682496" cy="4508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900" b="1" noProof="0" dirty="0">
                <a:solidFill>
                  <a:schemeClr val="tx2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• </a:t>
            </a:r>
            <a:r>
              <a:rPr lang="es-EC" sz="900" b="1" noProof="0" dirty="0" err="1">
                <a:solidFill>
                  <a:schemeClr val="tx2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Realtime</a:t>
            </a:r>
            <a:r>
              <a:rPr lang="es-EC" sz="900" b="1" noProof="0" dirty="0">
                <a:solidFill>
                  <a:schemeClr val="tx2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s-EC" sz="900" b="1" noProof="0" dirty="0" err="1">
                <a:solidFill>
                  <a:schemeClr val="tx2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Supabase</a:t>
            </a:r>
            <a:r>
              <a:rPr lang="es-EC" sz="900" b="1" noProof="0" dirty="0">
                <a:solidFill>
                  <a:schemeClr val="tx2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 (</a:t>
            </a:r>
            <a:r>
              <a:rPr lang="es-EC" sz="900" b="1" noProof="0" dirty="0" err="1">
                <a:solidFill>
                  <a:schemeClr val="tx2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WebSockets</a:t>
            </a:r>
            <a:r>
              <a:rPr lang="es-EC" sz="900" b="1" noProof="0" dirty="0">
                <a:solidFill>
                  <a:schemeClr val="tx2">
                    <a:lumMod val="75000"/>
                    <a:lumOff val="25000"/>
                  </a:schemeClr>
                </a:solidFill>
                <a:ea typeface="Calibri" pitchFamily="34" charset="-122"/>
                <a:cs typeface="Calibri" pitchFamily="34" charset="-120"/>
              </a:rPr>
              <a:t>)</a:t>
            </a:r>
            <a:endParaRPr lang="es-EC" sz="900" noProof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11B94513-BF0D-71EF-634D-107876F41563}"/>
              </a:ext>
            </a:extLst>
          </p:cNvPr>
          <p:cNvSpPr/>
          <p:nvPr/>
        </p:nvSpPr>
        <p:spPr>
          <a:xfrm>
            <a:off x="4767939" y="2873401"/>
            <a:ext cx="0" cy="914400"/>
          </a:xfrm>
          <a:prstGeom prst="line">
            <a:avLst/>
          </a:prstGeom>
          <a:noFill/>
          <a:ln w="6350">
            <a:solidFill>
              <a:srgbClr val="003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A9E309E8-ADF8-F6EA-CF99-D6079179A544}"/>
              </a:ext>
            </a:extLst>
          </p:cNvPr>
          <p:cNvSpPr/>
          <p:nvPr/>
        </p:nvSpPr>
        <p:spPr>
          <a:xfrm>
            <a:off x="4767939" y="4516273"/>
            <a:ext cx="0" cy="914400"/>
          </a:xfrm>
          <a:prstGeom prst="line">
            <a:avLst/>
          </a:prstGeom>
          <a:noFill/>
          <a:ln w="6350">
            <a:solidFill>
              <a:srgbClr val="6600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38" name="Shape 26">
            <a:extLst>
              <a:ext uri="{FF2B5EF4-FFF2-40B4-BE49-F238E27FC236}">
                <a16:creationId xmlns:a16="http://schemas.microsoft.com/office/drawing/2014/main" id="{4323E1CB-1524-AFB2-2E82-71E5CA427680}"/>
              </a:ext>
            </a:extLst>
          </p:cNvPr>
          <p:cNvSpPr/>
          <p:nvPr/>
        </p:nvSpPr>
        <p:spPr>
          <a:xfrm>
            <a:off x="4767939" y="6199785"/>
            <a:ext cx="0" cy="914400"/>
          </a:xfrm>
          <a:prstGeom prst="line">
            <a:avLst/>
          </a:prstGeom>
          <a:noFill/>
          <a:ln w="6350">
            <a:solidFill>
              <a:srgbClr val="E6192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C" noProof="0" dirty="0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74F8221C-0723-8207-773F-59E64153205C}"/>
              </a:ext>
            </a:extLst>
          </p:cNvPr>
          <p:cNvCxnSpPr>
            <a:stCxn id="7" idx="2"/>
            <a:endCxn id="17" idx="0"/>
          </p:cNvCxnSpPr>
          <p:nvPr/>
        </p:nvCxnSpPr>
        <p:spPr>
          <a:xfrm>
            <a:off x="3429000" y="3968645"/>
            <a:ext cx="0" cy="4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B55E79BF-5C7D-593A-D783-B65C77895A15}"/>
              </a:ext>
            </a:extLst>
          </p:cNvPr>
          <p:cNvCxnSpPr/>
          <p:nvPr/>
        </p:nvCxnSpPr>
        <p:spPr>
          <a:xfrm>
            <a:off x="3429000" y="5611517"/>
            <a:ext cx="0" cy="40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599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FE86C-B9F8-625F-3B33-E2438D5F5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7F1138-1A37-8E9E-CEFA-E89F8F180D98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225F880-B70B-C67B-5ACC-92F218510E04}"/>
              </a:ext>
            </a:extLst>
          </p:cNvPr>
          <p:cNvSpPr txBox="1"/>
          <p:nvPr/>
        </p:nvSpPr>
        <p:spPr>
          <a:xfrm>
            <a:off x="99430" y="2305454"/>
            <a:ext cx="594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400" b="1" noProof="0" dirty="0"/>
              <a:t>Diagrama de despliegue</a:t>
            </a:r>
          </a:p>
        </p:txBody>
      </p:sp>
    </p:spTree>
    <p:extLst>
      <p:ext uri="{BB962C8B-B14F-4D97-AF65-F5344CB8AC3E}">
        <p14:creationId xmlns:p14="http://schemas.microsoft.com/office/powerpoint/2010/main" val="18823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76B4A-C158-FD89-0409-F98BCC974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259E1E-32DD-C5F3-A779-C4A74673FF1B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56" name="TextBox 4">
            <a:extLst>
              <a:ext uri="{FF2B5EF4-FFF2-40B4-BE49-F238E27FC236}">
                <a16:creationId xmlns:a16="http://schemas.microsoft.com/office/drawing/2014/main" id="{82584AFE-0FC7-7B47-9754-4480BAE42682}"/>
              </a:ext>
            </a:extLst>
          </p:cNvPr>
          <p:cNvSpPr txBox="1"/>
          <p:nvPr/>
        </p:nvSpPr>
        <p:spPr>
          <a:xfrm>
            <a:off x="102735" y="2343785"/>
            <a:ext cx="594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400" b="1" noProof="0" dirty="0"/>
              <a:t>Diagrama de Contexto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22ADD7-BF40-10E7-0CDA-8807D310E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887" y="3234109"/>
            <a:ext cx="1517056" cy="121423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A585A90-3FF2-AE2A-48CF-448AE82DC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887" y="5247811"/>
            <a:ext cx="1517056" cy="12160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7135605-920C-1241-4D0B-96B8D6394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14" y="7592344"/>
            <a:ext cx="1497565" cy="9677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D4E4FD8-48A5-DF33-8934-51A933F8D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636" y="7592344"/>
            <a:ext cx="1683558" cy="96779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8BEE9D8-63B7-B69E-EC25-D9A5A97161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5351" y="7592344"/>
            <a:ext cx="1683558" cy="949033"/>
          </a:xfrm>
          <a:prstGeom prst="rect">
            <a:avLst/>
          </a:prstGeom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DF0A75C1-FDC6-FAF4-2A6B-0947661F906C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3261415" y="4448348"/>
            <a:ext cx="0" cy="799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6DF5B35-B21B-579A-C262-87242ED8F134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1318697" y="6463840"/>
            <a:ext cx="1942718" cy="1128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803C84E7-08CE-BE81-3B70-4433C574212F}"/>
              </a:ext>
            </a:extLst>
          </p:cNvPr>
          <p:cNvCxnSpPr>
            <a:stCxn id="8" idx="2"/>
            <a:endCxn id="12" idx="0"/>
          </p:cNvCxnSpPr>
          <p:nvPr/>
        </p:nvCxnSpPr>
        <p:spPr>
          <a:xfrm>
            <a:off x="3261415" y="6463840"/>
            <a:ext cx="0" cy="1128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2645E8B9-BD23-3EAF-0302-F20F23CDABE8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>
            <a:off x="3261415" y="6463840"/>
            <a:ext cx="2035715" cy="1128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 18">
            <a:extLst>
              <a:ext uri="{FF2B5EF4-FFF2-40B4-BE49-F238E27FC236}">
                <a16:creationId xmlns:a16="http://schemas.microsoft.com/office/drawing/2014/main" id="{68AB3A4B-13EA-F445-F11E-1E4BB18E322A}"/>
              </a:ext>
            </a:extLst>
          </p:cNvPr>
          <p:cNvSpPr/>
          <p:nvPr/>
        </p:nvSpPr>
        <p:spPr>
          <a:xfrm>
            <a:off x="3429000" y="4530065"/>
            <a:ext cx="1328195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900" dirty="0">
                <a:ea typeface="Calibri" pitchFamily="34" charset="-122"/>
                <a:cs typeface="Calibri" pitchFamily="34" charset="-120"/>
              </a:rPr>
              <a:t>Consulta partidos, realiza pronósticos, gestiona perfil bancario y premios</a:t>
            </a:r>
            <a:br>
              <a:rPr lang="es-EC" sz="900" noProof="0" dirty="0">
                <a:ea typeface="Calibri" pitchFamily="34" charset="-122"/>
                <a:cs typeface="Calibri" pitchFamily="34" charset="-120"/>
              </a:rPr>
            </a:br>
            <a:r>
              <a:rPr lang="es-EC" sz="900" noProof="0" dirty="0">
                <a:ea typeface="Calibri" pitchFamily="34" charset="-122"/>
                <a:cs typeface="Calibri" pitchFamily="34" charset="-120"/>
              </a:rPr>
              <a:t>[HTTPS]</a:t>
            </a:r>
            <a:endParaRPr lang="es-EC" sz="900" noProof="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A401B316-1899-8A23-DFB3-E1C83214C425}"/>
              </a:ext>
            </a:extLst>
          </p:cNvPr>
          <p:cNvSpPr/>
          <p:nvPr/>
        </p:nvSpPr>
        <p:spPr>
          <a:xfrm>
            <a:off x="418142" y="6517404"/>
            <a:ext cx="1328195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900" dirty="0">
                <a:ea typeface="Calibri" pitchFamily="34" charset="-122"/>
                <a:cs typeface="Calibri" pitchFamily="34" charset="-120"/>
              </a:rPr>
              <a:t>Envía </a:t>
            </a:r>
            <a:r>
              <a:rPr lang="es-ES" sz="900" dirty="0" err="1">
                <a:ea typeface="Calibri" pitchFamily="34" charset="-122"/>
                <a:cs typeface="Calibri" pitchFamily="34" charset="-120"/>
              </a:rPr>
              <a:t>prompts</a:t>
            </a:r>
            <a:r>
              <a:rPr lang="es-ES" sz="900" dirty="0">
                <a:ea typeface="Calibri" pitchFamily="34" charset="-122"/>
                <a:cs typeface="Calibri" pitchFamily="34" charset="-120"/>
              </a:rPr>
              <a:t> de los agentes; recibe razonamiento y texto generado</a:t>
            </a:r>
            <a:br>
              <a:rPr lang="es-EC" sz="900" noProof="0" dirty="0">
                <a:ea typeface="Calibri" pitchFamily="34" charset="-122"/>
                <a:cs typeface="Calibri" pitchFamily="34" charset="-120"/>
              </a:rPr>
            </a:br>
            <a:r>
              <a:rPr lang="es-EC" sz="900" noProof="0" dirty="0">
                <a:ea typeface="Calibri" pitchFamily="34" charset="-122"/>
                <a:cs typeface="Calibri" pitchFamily="34" charset="-120"/>
              </a:rPr>
              <a:t>[REST API / HTTPS]</a:t>
            </a:r>
            <a:endParaRPr lang="es-EC" sz="900" noProof="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64481E90-D391-01E1-4322-C4FFF06BFBB0}"/>
              </a:ext>
            </a:extLst>
          </p:cNvPr>
          <p:cNvSpPr/>
          <p:nvPr/>
        </p:nvSpPr>
        <p:spPr>
          <a:xfrm>
            <a:off x="3135563" y="6902752"/>
            <a:ext cx="1328195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900" dirty="0">
                <a:ea typeface="Calibri" pitchFamily="34" charset="-122"/>
                <a:cs typeface="Calibri" pitchFamily="34" charset="-120"/>
              </a:rPr>
              <a:t>Ejecuta búsquedas deportivas</a:t>
            </a:r>
            <a:br>
              <a:rPr lang="es-EC" sz="900" noProof="0" dirty="0">
                <a:ea typeface="Calibri" pitchFamily="34" charset="-122"/>
                <a:cs typeface="Calibri" pitchFamily="34" charset="-120"/>
              </a:rPr>
            </a:br>
            <a:r>
              <a:rPr lang="es-EC" sz="900" noProof="0" dirty="0">
                <a:ea typeface="Calibri" pitchFamily="34" charset="-122"/>
                <a:cs typeface="Calibri" pitchFamily="34" charset="-120"/>
              </a:rPr>
              <a:t>[REST API / HTTPS]</a:t>
            </a:r>
            <a:endParaRPr lang="es-EC" sz="900" noProof="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3D3804C9-A123-F371-88D8-673EA0AD85A2}"/>
              </a:ext>
            </a:extLst>
          </p:cNvPr>
          <p:cNvSpPr/>
          <p:nvPr/>
        </p:nvSpPr>
        <p:spPr>
          <a:xfrm>
            <a:off x="4650642" y="6517403"/>
            <a:ext cx="1328195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ES" sz="900" dirty="0">
                <a:ea typeface="Calibri" pitchFamily="34" charset="-122"/>
                <a:cs typeface="Calibri" pitchFamily="34" charset="-120"/>
              </a:rPr>
              <a:t>Lee y escribe datos de usuario, pronósticos, cromos y transacciones</a:t>
            </a:r>
            <a:br>
              <a:rPr lang="es-ES" sz="900" dirty="0">
                <a:ea typeface="Calibri" pitchFamily="34" charset="-122"/>
                <a:cs typeface="Calibri" pitchFamily="34" charset="-120"/>
              </a:rPr>
            </a:br>
            <a:r>
              <a:rPr lang="es-EC" sz="900" noProof="0" dirty="0">
                <a:ea typeface="Calibri" pitchFamily="34" charset="-122"/>
                <a:cs typeface="Calibri" pitchFamily="34" charset="-120"/>
              </a:rPr>
              <a:t>[SDK / REST ]</a:t>
            </a:r>
            <a:endParaRPr lang="es-EC" sz="900" noProof="0" dirty="0"/>
          </a:p>
        </p:txBody>
      </p:sp>
    </p:spTree>
    <p:extLst>
      <p:ext uri="{BB962C8B-B14F-4D97-AF65-F5344CB8AC3E}">
        <p14:creationId xmlns:p14="http://schemas.microsoft.com/office/powerpoint/2010/main" val="1047721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BAD57-BA06-5387-7826-6357442A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ángulo: esquinas redondeadas 96">
            <a:extLst>
              <a:ext uri="{FF2B5EF4-FFF2-40B4-BE49-F238E27FC236}">
                <a16:creationId xmlns:a16="http://schemas.microsoft.com/office/drawing/2014/main" id="{C658ED37-4146-C719-31F7-A8107D846149}"/>
              </a:ext>
            </a:extLst>
          </p:cNvPr>
          <p:cNvSpPr/>
          <p:nvPr/>
        </p:nvSpPr>
        <p:spPr>
          <a:xfrm>
            <a:off x="922659" y="4057321"/>
            <a:ext cx="4270415" cy="3535672"/>
          </a:xfrm>
          <a:prstGeom prst="round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CE561A-7B03-FDB8-D849-8E26C8F0B89B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703E2-C776-3F7A-4683-009F08DE93A3}"/>
              </a:ext>
            </a:extLst>
          </p:cNvPr>
          <p:cNvSpPr txBox="1"/>
          <p:nvPr/>
        </p:nvSpPr>
        <p:spPr>
          <a:xfrm>
            <a:off x="102735" y="2406751"/>
            <a:ext cx="594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400" b="1" dirty="0"/>
              <a:t>Diagrama de contenedores</a:t>
            </a:r>
          </a:p>
        </p:txBody>
      </p:sp>
      <p:pic>
        <p:nvPicPr>
          <p:cNvPr id="90" name="Imagen 89">
            <a:extLst>
              <a:ext uri="{FF2B5EF4-FFF2-40B4-BE49-F238E27FC236}">
                <a16:creationId xmlns:a16="http://schemas.microsoft.com/office/drawing/2014/main" id="{214F0F40-7F80-DAB3-75EF-26B74E85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824" y="2620672"/>
            <a:ext cx="1517056" cy="955014"/>
          </a:xfrm>
          <a:prstGeom prst="rect">
            <a:avLst/>
          </a:prstGeom>
        </p:spPr>
      </p:pic>
      <p:pic>
        <p:nvPicPr>
          <p:cNvPr id="102" name="Imagen 101">
            <a:extLst>
              <a:ext uri="{FF2B5EF4-FFF2-40B4-BE49-F238E27FC236}">
                <a16:creationId xmlns:a16="http://schemas.microsoft.com/office/drawing/2014/main" id="{92E6B5BB-87B1-DAF9-DB1B-1F8704196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541" y="6178185"/>
            <a:ext cx="1517055" cy="1149392"/>
          </a:xfrm>
          <a:prstGeom prst="rect">
            <a:avLst/>
          </a:prstGeom>
        </p:spPr>
      </p:pic>
      <p:pic>
        <p:nvPicPr>
          <p:cNvPr id="104" name="Imagen 103">
            <a:extLst>
              <a:ext uri="{FF2B5EF4-FFF2-40B4-BE49-F238E27FC236}">
                <a16:creationId xmlns:a16="http://schemas.microsoft.com/office/drawing/2014/main" id="{3AEA569E-F334-C051-5305-F298D3F56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253" y="6075909"/>
            <a:ext cx="1517055" cy="1158432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B0D142C3-E65F-7A93-D3A1-4B79F1B93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928" y="8297119"/>
            <a:ext cx="1517055" cy="733793"/>
          </a:xfrm>
          <a:prstGeom prst="rect">
            <a:avLst/>
          </a:prstGeom>
        </p:spPr>
      </p:pic>
      <p:pic>
        <p:nvPicPr>
          <p:cNvPr id="108" name="Imagen 107">
            <a:extLst>
              <a:ext uri="{FF2B5EF4-FFF2-40B4-BE49-F238E27FC236}">
                <a16:creationId xmlns:a16="http://schemas.microsoft.com/office/drawing/2014/main" id="{BB3F2A70-5AAB-6873-35B6-90D01AC64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9743" y="8404447"/>
            <a:ext cx="1516162" cy="534192"/>
          </a:xfrm>
          <a:prstGeom prst="rect">
            <a:avLst/>
          </a:prstGeom>
        </p:spPr>
      </p:pic>
      <p:pic>
        <p:nvPicPr>
          <p:cNvPr id="110" name="Imagen 109">
            <a:extLst>
              <a:ext uri="{FF2B5EF4-FFF2-40B4-BE49-F238E27FC236}">
                <a16:creationId xmlns:a16="http://schemas.microsoft.com/office/drawing/2014/main" id="{BD4E6502-CD60-14EE-0E63-424F7A645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8226" y="7713107"/>
            <a:ext cx="1735340" cy="1851030"/>
          </a:xfrm>
          <a:prstGeom prst="rect">
            <a:avLst/>
          </a:prstGeom>
        </p:spPr>
      </p:pic>
      <p:pic>
        <p:nvPicPr>
          <p:cNvPr id="112" name="Imagen 111">
            <a:extLst>
              <a:ext uri="{FF2B5EF4-FFF2-40B4-BE49-F238E27FC236}">
                <a16:creationId xmlns:a16="http://schemas.microsoft.com/office/drawing/2014/main" id="{BF8AB2D1-B743-8389-69FF-A166A12C42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95308" y="4220265"/>
            <a:ext cx="1520886" cy="1158432"/>
          </a:xfrm>
          <a:prstGeom prst="rect">
            <a:avLst/>
          </a:prstGeom>
        </p:spPr>
      </p:pic>
      <p:sp>
        <p:nvSpPr>
          <p:cNvPr id="113" name="Text 18">
            <a:extLst>
              <a:ext uri="{FF2B5EF4-FFF2-40B4-BE49-F238E27FC236}">
                <a16:creationId xmlns:a16="http://schemas.microsoft.com/office/drawing/2014/main" id="{247FF410-8425-6816-704C-931F16F8A496}"/>
              </a:ext>
            </a:extLst>
          </p:cNvPr>
          <p:cNvSpPr/>
          <p:nvPr/>
        </p:nvSpPr>
        <p:spPr>
          <a:xfrm>
            <a:off x="4495012" y="3514016"/>
            <a:ext cx="1070719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C" sz="900" noProof="0" dirty="0">
                <a:ea typeface="Calibri" pitchFamily="34" charset="-122"/>
                <a:cs typeface="Calibri" pitchFamily="34" charset="-120"/>
              </a:rPr>
              <a:t>Usa la aplicación</a:t>
            </a:r>
            <a:br>
              <a:rPr lang="es-EC" sz="900" noProof="0" dirty="0">
                <a:ea typeface="Calibri" pitchFamily="34" charset="-122"/>
                <a:cs typeface="Calibri" pitchFamily="34" charset="-120"/>
              </a:rPr>
            </a:br>
            <a:r>
              <a:rPr lang="es-EC" sz="900" noProof="0" dirty="0">
                <a:ea typeface="Calibri" pitchFamily="34" charset="-122"/>
                <a:cs typeface="Calibri" pitchFamily="34" charset="-120"/>
              </a:rPr>
              <a:t>[HTTPS]</a:t>
            </a:r>
            <a:endParaRPr lang="es-EC" sz="900" noProof="0" dirty="0"/>
          </a:p>
        </p:txBody>
      </p:sp>
      <p:sp>
        <p:nvSpPr>
          <p:cNvPr id="114" name="Text 18">
            <a:extLst>
              <a:ext uri="{FF2B5EF4-FFF2-40B4-BE49-F238E27FC236}">
                <a16:creationId xmlns:a16="http://schemas.microsoft.com/office/drawing/2014/main" id="{834978E2-55DF-1819-61F0-C726F2996D4B}"/>
              </a:ext>
            </a:extLst>
          </p:cNvPr>
          <p:cNvSpPr/>
          <p:nvPr/>
        </p:nvSpPr>
        <p:spPr>
          <a:xfrm>
            <a:off x="1373624" y="3951357"/>
            <a:ext cx="1070719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1000" b="1" dirty="0">
                <a:ea typeface="Calibri" pitchFamily="34" charset="-122"/>
                <a:cs typeface="Calibri" pitchFamily="34" charset="-120"/>
              </a:rPr>
              <a:t>A</a:t>
            </a:r>
            <a:r>
              <a:rPr lang="es-EC" sz="1000" b="1" noProof="0" dirty="0" err="1">
                <a:ea typeface="Calibri" pitchFamily="34" charset="-122"/>
                <a:cs typeface="Calibri" pitchFamily="34" charset="-120"/>
              </a:rPr>
              <a:t>pp</a:t>
            </a:r>
            <a:endParaRPr lang="es-EC" sz="1000" b="1" noProof="0" dirty="0"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s-EC" sz="1000" b="1" dirty="0">
                <a:ea typeface="Calibri" pitchFamily="34" charset="-122"/>
                <a:cs typeface="Calibri" pitchFamily="34" charset="-120"/>
              </a:rPr>
              <a:t>[</a:t>
            </a:r>
            <a:r>
              <a:rPr lang="es-EC" sz="1000" b="1" dirty="0" err="1">
                <a:ea typeface="Calibri" pitchFamily="34" charset="-122"/>
                <a:cs typeface="Calibri" pitchFamily="34" charset="-120"/>
              </a:rPr>
              <a:t>System</a:t>
            </a:r>
            <a:r>
              <a:rPr lang="es-EC" sz="1000" b="1" dirty="0">
                <a:ea typeface="Calibri" pitchFamily="34" charset="-122"/>
                <a:cs typeface="Calibri" pitchFamily="34" charset="-120"/>
              </a:rPr>
              <a:t>]</a:t>
            </a:r>
            <a:endParaRPr lang="es-EC" sz="1000" b="1" noProof="0" dirty="0"/>
          </a:p>
        </p:txBody>
      </p:sp>
      <p:cxnSp>
        <p:nvCxnSpPr>
          <p:cNvPr id="116" name="Conector recto de flecha 115">
            <a:extLst>
              <a:ext uri="{FF2B5EF4-FFF2-40B4-BE49-F238E27FC236}">
                <a16:creationId xmlns:a16="http://schemas.microsoft.com/office/drawing/2014/main" id="{62C5C123-E277-8DE1-DC51-8917E60DBC85}"/>
              </a:ext>
            </a:extLst>
          </p:cNvPr>
          <p:cNvCxnSpPr>
            <a:stCxn id="90" idx="2"/>
            <a:endCxn id="112" idx="0"/>
          </p:cNvCxnSpPr>
          <p:nvPr/>
        </p:nvCxnSpPr>
        <p:spPr>
          <a:xfrm>
            <a:off x="3646352" y="3575686"/>
            <a:ext cx="9399" cy="6445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7" name="Text 18">
            <a:extLst>
              <a:ext uri="{FF2B5EF4-FFF2-40B4-BE49-F238E27FC236}">
                <a16:creationId xmlns:a16="http://schemas.microsoft.com/office/drawing/2014/main" id="{F7B14C17-5C0C-9F90-E5AA-D87D43529B17}"/>
              </a:ext>
            </a:extLst>
          </p:cNvPr>
          <p:cNvSpPr/>
          <p:nvPr/>
        </p:nvSpPr>
        <p:spPr>
          <a:xfrm>
            <a:off x="2577417" y="5422042"/>
            <a:ext cx="1070719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900" noProof="0" dirty="0">
                <a:ea typeface="Calibri" pitchFamily="34" charset="-122"/>
                <a:cs typeface="Calibri" pitchFamily="34" charset="-120"/>
              </a:rPr>
              <a:t>Consulta análisis de partido</a:t>
            </a:r>
          </a:p>
          <a:p>
            <a:pPr algn="ctr"/>
            <a:r>
              <a:rPr lang="es-EC" sz="900" dirty="0">
                <a:ea typeface="Calibri" pitchFamily="34" charset="-122"/>
                <a:cs typeface="Calibri" pitchFamily="34" charset="-120"/>
              </a:rPr>
              <a:t>[JSON · HTTP POST /chat]</a:t>
            </a:r>
            <a:endParaRPr lang="es-EC" sz="900" noProof="0" dirty="0"/>
          </a:p>
        </p:txBody>
      </p:sp>
      <p:sp>
        <p:nvSpPr>
          <p:cNvPr id="119" name="Text 18">
            <a:extLst>
              <a:ext uri="{FF2B5EF4-FFF2-40B4-BE49-F238E27FC236}">
                <a16:creationId xmlns:a16="http://schemas.microsoft.com/office/drawing/2014/main" id="{A176CC19-8F89-163C-29D1-400002554E12}"/>
              </a:ext>
            </a:extLst>
          </p:cNvPr>
          <p:cNvSpPr/>
          <p:nvPr/>
        </p:nvSpPr>
        <p:spPr>
          <a:xfrm>
            <a:off x="3990695" y="5469269"/>
            <a:ext cx="1070719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900" noProof="0" dirty="0">
                <a:ea typeface="Calibri" pitchFamily="34" charset="-122"/>
                <a:cs typeface="Calibri" pitchFamily="34" charset="-120"/>
              </a:rPr>
              <a:t>Solicita recomendación de premio</a:t>
            </a:r>
            <a:br>
              <a:rPr lang="es-EC" sz="900" noProof="0" dirty="0">
                <a:ea typeface="Calibri" pitchFamily="34" charset="-122"/>
                <a:cs typeface="Calibri" pitchFamily="34" charset="-120"/>
              </a:rPr>
            </a:br>
            <a:r>
              <a:rPr lang="es-EC" sz="900" noProof="0" dirty="0">
                <a:ea typeface="Calibri" pitchFamily="34" charset="-122"/>
                <a:cs typeface="Calibri" pitchFamily="34" charset="-120"/>
              </a:rPr>
              <a:t>[JSON · HTTP POST /segmentar]</a:t>
            </a:r>
            <a:endParaRPr lang="es-EC" sz="900" noProof="0" dirty="0"/>
          </a:p>
        </p:txBody>
      </p:sp>
      <p:cxnSp>
        <p:nvCxnSpPr>
          <p:cNvPr id="124" name="Conector: curvado 123">
            <a:extLst>
              <a:ext uri="{FF2B5EF4-FFF2-40B4-BE49-F238E27FC236}">
                <a16:creationId xmlns:a16="http://schemas.microsoft.com/office/drawing/2014/main" id="{35905B73-D689-3EFA-72B3-B94649CC163F}"/>
              </a:ext>
            </a:extLst>
          </p:cNvPr>
          <p:cNvCxnSpPr>
            <a:endCxn id="104" idx="0"/>
          </p:cNvCxnSpPr>
          <p:nvPr/>
        </p:nvCxnSpPr>
        <p:spPr>
          <a:xfrm rot="10800000" flipV="1">
            <a:off x="2136782" y="5371783"/>
            <a:ext cx="758527" cy="70412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Conector recto de flecha 124">
            <a:extLst>
              <a:ext uri="{FF2B5EF4-FFF2-40B4-BE49-F238E27FC236}">
                <a16:creationId xmlns:a16="http://schemas.microsoft.com/office/drawing/2014/main" id="{7EA61281-BA75-B5C0-6EAE-0700E25FE192}"/>
              </a:ext>
            </a:extLst>
          </p:cNvPr>
          <p:cNvCxnSpPr>
            <a:cxnSpLocks/>
            <a:stCxn id="112" idx="2"/>
            <a:endCxn id="102" idx="0"/>
          </p:cNvCxnSpPr>
          <p:nvPr/>
        </p:nvCxnSpPr>
        <p:spPr>
          <a:xfrm>
            <a:off x="3655751" y="5378697"/>
            <a:ext cx="435318" cy="799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Text 18">
            <a:extLst>
              <a:ext uri="{FF2B5EF4-FFF2-40B4-BE49-F238E27FC236}">
                <a16:creationId xmlns:a16="http://schemas.microsoft.com/office/drawing/2014/main" id="{CD7F874B-2474-A311-7853-35B010CDEE6F}"/>
              </a:ext>
            </a:extLst>
          </p:cNvPr>
          <p:cNvSpPr/>
          <p:nvPr/>
        </p:nvSpPr>
        <p:spPr>
          <a:xfrm>
            <a:off x="1282982" y="7627041"/>
            <a:ext cx="1070719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noProof="0" dirty="0">
                <a:ea typeface="Calibri" pitchFamily="34" charset="-122"/>
                <a:cs typeface="Calibri" pitchFamily="34" charset="-120"/>
              </a:rPr>
              <a:t>Invoca LLM por cada agente</a:t>
            </a:r>
            <a:br>
              <a:rPr lang="es-ES" sz="900" noProof="0" dirty="0">
                <a:ea typeface="Calibri" pitchFamily="34" charset="-122"/>
                <a:cs typeface="Calibri" pitchFamily="34" charset="-120"/>
              </a:rPr>
            </a:br>
            <a:r>
              <a:rPr lang="es-EC" sz="900" dirty="0">
                <a:ea typeface="Calibri" pitchFamily="34" charset="-122"/>
                <a:cs typeface="Calibri" pitchFamily="34" charset="-120"/>
              </a:rPr>
              <a:t>[REST API / HTTPS]</a:t>
            </a:r>
            <a:endParaRPr lang="es-EC" sz="900" noProof="0" dirty="0"/>
          </a:p>
        </p:txBody>
      </p:sp>
      <p:cxnSp>
        <p:nvCxnSpPr>
          <p:cNvPr id="133" name="Conector: curvado 132">
            <a:extLst>
              <a:ext uri="{FF2B5EF4-FFF2-40B4-BE49-F238E27FC236}">
                <a16:creationId xmlns:a16="http://schemas.microsoft.com/office/drawing/2014/main" id="{BD73A14E-E173-EE60-05A6-4D8919B9B35E}"/>
              </a:ext>
            </a:extLst>
          </p:cNvPr>
          <p:cNvCxnSpPr>
            <a:cxnSpLocks/>
            <a:stCxn id="104" idx="2"/>
            <a:endCxn id="106" idx="0"/>
          </p:cNvCxnSpPr>
          <p:nvPr/>
        </p:nvCxnSpPr>
        <p:spPr>
          <a:xfrm rot="5400000">
            <a:off x="1112230" y="7272568"/>
            <a:ext cx="1062778" cy="986325"/>
          </a:xfrm>
          <a:prstGeom prst="curvedConnector3">
            <a:avLst>
              <a:gd name="adj1" fmla="val 1297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Conector recto de flecha 136">
            <a:extLst>
              <a:ext uri="{FF2B5EF4-FFF2-40B4-BE49-F238E27FC236}">
                <a16:creationId xmlns:a16="http://schemas.microsoft.com/office/drawing/2014/main" id="{754DDF3A-677B-1BF0-7EB6-767960FA37F2}"/>
              </a:ext>
            </a:extLst>
          </p:cNvPr>
          <p:cNvCxnSpPr>
            <a:cxnSpLocks/>
            <a:endCxn id="108" idx="0"/>
          </p:cNvCxnSpPr>
          <p:nvPr/>
        </p:nvCxnSpPr>
        <p:spPr>
          <a:xfrm>
            <a:off x="2157132" y="7222708"/>
            <a:ext cx="730692" cy="1181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Text 18">
            <a:extLst>
              <a:ext uri="{FF2B5EF4-FFF2-40B4-BE49-F238E27FC236}">
                <a16:creationId xmlns:a16="http://schemas.microsoft.com/office/drawing/2014/main" id="{8A8DEA48-889F-B20F-956D-1487ED7BF28F}"/>
              </a:ext>
            </a:extLst>
          </p:cNvPr>
          <p:cNvSpPr/>
          <p:nvPr/>
        </p:nvSpPr>
        <p:spPr>
          <a:xfrm>
            <a:off x="2690743" y="7575124"/>
            <a:ext cx="1070719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noProof="0" dirty="0">
                <a:ea typeface="Calibri" pitchFamily="34" charset="-122"/>
                <a:cs typeface="Calibri" pitchFamily="34" charset="-120"/>
              </a:rPr>
              <a:t>Ejecuta 6 búsquedas deportivas</a:t>
            </a:r>
            <a:br>
              <a:rPr lang="es-ES" sz="900" noProof="0" dirty="0">
                <a:ea typeface="Calibri" pitchFamily="34" charset="-122"/>
                <a:cs typeface="Calibri" pitchFamily="34" charset="-120"/>
              </a:rPr>
            </a:br>
            <a:r>
              <a:rPr lang="es-EC" sz="900" dirty="0">
                <a:ea typeface="Calibri" pitchFamily="34" charset="-122"/>
                <a:cs typeface="Calibri" pitchFamily="34" charset="-120"/>
              </a:rPr>
              <a:t>[REST API / HTTPS]</a:t>
            </a:r>
            <a:endParaRPr lang="es-EC" sz="900" noProof="0" dirty="0"/>
          </a:p>
        </p:txBody>
      </p:sp>
      <p:cxnSp>
        <p:nvCxnSpPr>
          <p:cNvPr id="144" name="Conector: curvado 143">
            <a:extLst>
              <a:ext uri="{FF2B5EF4-FFF2-40B4-BE49-F238E27FC236}">
                <a16:creationId xmlns:a16="http://schemas.microsoft.com/office/drawing/2014/main" id="{BB76016B-2BD2-7548-6AB7-3C0CFF6E1357}"/>
              </a:ext>
            </a:extLst>
          </p:cNvPr>
          <p:cNvCxnSpPr>
            <a:stCxn id="110" idx="0"/>
            <a:endCxn id="112" idx="3"/>
          </p:cNvCxnSpPr>
          <p:nvPr/>
        </p:nvCxnSpPr>
        <p:spPr>
          <a:xfrm rot="16200000" flipV="1">
            <a:off x="3574232" y="5641443"/>
            <a:ext cx="2913626" cy="1229702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Conector: curvado 145">
            <a:extLst>
              <a:ext uri="{FF2B5EF4-FFF2-40B4-BE49-F238E27FC236}">
                <a16:creationId xmlns:a16="http://schemas.microsoft.com/office/drawing/2014/main" id="{712F6DA6-EC4D-DF76-E374-24A53A82A7BE}"/>
              </a:ext>
            </a:extLst>
          </p:cNvPr>
          <p:cNvCxnSpPr>
            <a:stCxn id="102" idx="2"/>
            <a:endCxn id="110" idx="1"/>
          </p:cNvCxnSpPr>
          <p:nvPr/>
        </p:nvCxnSpPr>
        <p:spPr>
          <a:xfrm rot="16200000" flipH="1">
            <a:off x="3779125" y="7639520"/>
            <a:ext cx="1311045" cy="687157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Text 18">
            <a:extLst>
              <a:ext uri="{FF2B5EF4-FFF2-40B4-BE49-F238E27FC236}">
                <a16:creationId xmlns:a16="http://schemas.microsoft.com/office/drawing/2014/main" id="{839556E4-6DF1-CFB1-5FD9-4B3FAD58E9D2}"/>
              </a:ext>
            </a:extLst>
          </p:cNvPr>
          <p:cNvSpPr/>
          <p:nvPr/>
        </p:nvSpPr>
        <p:spPr>
          <a:xfrm>
            <a:off x="5325756" y="4869794"/>
            <a:ext cx="1070719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noProof="0" dirty="0">
                <a:ea typeface="Calibri" pitchFamily="34" charset="-122"/>
                <a:cs typeface="Calibri" pitchFamily="34" charset="-120"/>
              </a:rPr>
              <a:t>Lee y escribe perfil, pronósticos, cromos y consumo</a:t>
            </a:r>
            <a:br>
              <a:rPr lang="es-EC" sz="900" noProof="0" dirty="0">
                <a:ea typeface="Calibri" pitchFamily="34" charset="-122"/>
                <a:cs typeface="Calibri" pitchFamily="34" charset="-120"/>
              </a:rPr>
            </a:br>
            <a:r>
              <a:rPr lang="es-EC" sz="900" noProof="0" dirty="0">
                <a:ea typeface="Calibri" pitchFamily="34" charset="-122"/>
                <a:cs typeface="Calibri" pitchFamily="34" charset="-120"/>
              </a:rPr>
              <a:t>[</a:t>
            </a:r>
            <a:r>
              <a:rPr lang="es-EC" sz="900" noProof="0" dirty="0" err="1">
                <a:ea typeface="Calibri" pitchFamily="34" charset="-122"/>
                <a:cs typeface="Calibri" pitchFamily="34" charset="-120"/>
              </a:rPr>
              <a:t>Supabase</a:t>
            </a:r>
            <a:r>
              <a:rPr lang="es-EC" sz="900" noProof="0" dirty="0">
                <a:ea typeface="Calibri" pitchFamily="34" charset="-122"/>
                <a:cs typeface="Calibri" pitchFamily="34" charset="-120"/>
              </a:rPr>
              <a:t> SDK / REST]</a:t>
            </a:r>
            <a:endParaRPr lang="es-EC" sz="900" noProof="0" dirty="0"/>
          </a:p>
        </p:txBody>
      </p:sp>
      <p:sp>
        <p:nvSpPr>
          <p:cNvPr id="148" name="Text 18">
            <a:extLst>
              <a:ext uri="{FF2B5EF4-FFF2-40B4-BE49-F238E27FC236}">
                <a16:creationId xmlns:a16="http://schemas.microsoft.com/office/drawing/2014/main" id="{D34D9E91-3FD0-4568-B3F9-289AA6428BF6}"/>
              </a:ext>
            </a:extLst>
          </p:cNvPr>
          <p:cNvSpPr/>
          <p:nvPr/>
        </p:nvSpPr>
        <p:spPr>
          <a:xfrm>
            <a:off x="3707507" y="8700910"/>
            <a:ext cx="1070719" cy="63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C" sz="900" noProof="0" dirty="0">
                <a:ea typeface="Calibri" pitchFamily="34" charset="-122"/>
                <a:cs typeface="Calibri" pitchFamily="34" charset="-120"/>
              </a:rPr>
              <a:t>Solicita recomendación de premio</a:t>
            </a:r>
            <a:br>
              <a:rPr lang="es-EC" sz="900" noProof="0" dirty="0">
                <a:ea typeface="Calibri" pitchFamily="34" charset="-122"/>
                <a:cs typeface="Calibri" pitchFamily="34" charset="-120"/>
              </a:rPr>
            </a:br>
            <a:r>
              <a:rPr lang="es-EC" sz="900" noProof="0" dirty="0">
                <a:ea typeface="Calibri" pitchFamily="34" charset="-122"/>
                <a:cs typeface="Calibri" pitchFamily="34" charset="-120"/>
              </a:rPr>
              <a:t>[JSON · HTTP POST /segmentar]</a:t>
            </a:r>
            <a:endParaRPr lang="es-EC" sz="900" noProof="0" dirty="0"/>
          </a:p>
        </p:txBody>
      </p:sp>
      <p:pic>
        <p:nvPicPr>
          <p:cNvPr id="149" name="Imagen 148">
            <a:extLst>
              <a:ext uri="{FF2B5EF4-FFF2-40B4-BE49-F238E27FC236}">
                <a16:creationId xmlns:a16="http://schemas.microsoft.com/office/drawing/2014/main" id="{84B82B25-108C-B578-C097-53AD8736E9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4010" y="2633227"/>
            <a:ext cx="1517056" cy="1214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52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2F2D5-2CC4-D889-8FF7-03490772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DF176B-1A3D-D8B4-374F-F8680BF700E3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1536-7861-ABD5-B99F-7F378EFCAB17}"/>
              </a:ext>
            </a:extLst>
          </p:cNvPr>
          <p:cNvSpPr txBox="1"/>
          <p:nvPr/>
        </p:nvSpPr>
        <p:spPr>
          <a:xfrm>
            <a:off x="140472" y="2212651"/>
            <a:ext cx="594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400" b="1" noProof="0" dirty="0"/>
              <a:t>Diagrama de Componentes</a:t>
            </a:r>
          </a:p>
        </p:txBody>
      </p:sp>
    </p:spTree>
    <p:extLst>
      <p:ext uri="{BB962C8B-B14F-4D97-AF65-F5344CB8AC3E}">
        <p14:creationId xmlns:p14="http://schemas.microsoft.com/office/powerpoint/2010/main" val="132757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ED751-01F7-D03A-7788-9EB393D29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595E82-D0DA-C05A-BCCB-A16EC4721B32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1CB3F3-CE9E-015F-27DB-5005E9D31BAF}"/>
              </a:ext>
            </a:extLst>
          </p:cNvPr>
          <p:cNvSpPr txBox="1"/>
          <p:nvPr/>
        </p:nvSpPr>
        <p:spPr>
          <a:xfrm>
            <a:off x="140472" y="2212651"/>
            <a:ext cx="594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400" b="1" noProof="0" dirty="0"/>
              <a:t>Diagrama de Componentes</a:t>
            </a:r>
          </a:p>
        </p:txBody>
      </p:sp>
    </p:spTree>
    <p:extLst>
      <p:ext uri="{BB962C8B-B14F-4D97-AF65-F5344CB8AC3E}">
        <p14:creationId xmlns:p14="http://schemas.microsoft.com/office/powerpoint/2010/main" val="1504693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8075-AF68-7846-488B-8A73FC61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174C14-CEC5-28E3-F0E7-DE1CDF9B6910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607C1-6DFE-0DAC-CEB9-1690C096574F}"/>
              </a:ext>
            </a:extLst>
          </p:cNvPr>
          <p:cNvSpPr txBox="1"/>
          <p:nvPr/>
        </p:nvSpPr>
        <p:spPr>
          <a:xfrm>
            <a:off x="140472" y="2212651"/>
            <a:ext cx="594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400" b="1" noProof="0" dirty="0"/>
              <a:t>Diagrama de Componentes</a:t>
            </a:r>
          </a:p>
        </p:txBody>
      </p:sp>
    </p:spTree>
    <p:extLst>
      <p:ext uri="{BB962C8B-B14F-4D97-AF65-F5344CB8AC3E}">
        <p14:creationId xmlns:p14="http://schemas.microsoft.com/office/powerpoint/2010/main" val="3824782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7C55-9AF7-9191-1F58-393A73796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F2676-4D29-E6E9-9B31-F06E35C2769E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921B8-6FF1-AA34-97C9-E6DFAE5278B5}"/>
              </a:ext>
            </a:extLst>
          </p:cNvPr>
          <p:cNvSpPr txBox="1"/>
          <p:nvPr/>
        </p:nvSpPr>
        <p:spPr>
          <a:xfrm>
            <a:off x="160792" y="2342888"/>
            <a:ext cx="5946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400" b="1" noProof="0" dirty="0"/>
              <a:t>Modelamiento de datos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ADBCFAF-7ABB-8A40-7DF7-50EEB0546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1789"/>
            <a:ext cx="6858000" cy="354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798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35E4C-813C-446C-E6A2-A993B3B69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B6D9B5-6C36-0ADE-A914-AE1E0DD37B69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8566C-C750-97DA-8D4E-A66116E59B49}"/>
              </a:ext>
            </a:extLst>
          </p:cNvPr>
          <p:cNvSpPr txBox="1"/>
          <p:nvPr/>
        </p:nvSpPr>
        <p:spPr>
          <a:xfrm>
            <a:off x="59193" y="2212651"/>
            <a:ext cx="5946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400" b="1" noProof="0" dirty="0"/>
              <a:t>Generación y procesamiento de datos</a:t>
            </a:r>
          </a:p>
        </p:txBody>
      </p:sp>
    </p:spTree>
    <p:extLst>
      <p:ext uri="{BB962C8B-B14F-4D97-AF65-F5344CB8AC3E}">
        <p14:creationId xmlns:p14="http://schemas.microsoft.com/office/powerpoint/2010/main" val="1207004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95726-0060-663B-34E9-3060D9BC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21A9B-300F-0590-4FB6-499C8C22F818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D468BA-177D-243B-B481-01C6DF7517EE}"/>
              </a:ext>
            </a:extLst>
          </p:cNvPr>
          <p:cNvSpPr txBox="1"/>
          <p:nvPr/>
        </p:nvSpPr>
        <p:spPr>
          <a:xfrm>
            <a:off x="59193" y="2212651"/>
            <a:ext cx="5946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400" b="1" noProof="0" dirty="0"/>
              <a:t>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821FA9-A098-C19F-D04A-DB192E430DB8}"/>
              </a:ext>
            </a:extLst>
          </p:cNvPr>
          <p:cNvSpPr txBox="1"/>
          <p:nvPr/>
        </p:nvSpPr>
        <p:spPr>
          <a:xfrm>
            <a:off x="280555" y="2710134"/>
            <a:ext cx="6255327" cy="25391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s-EC" sz="1100" b="1" noProof="0" dirty="0" err="1"/>
              <a:t>Chatbot</a:t>
            </a:r>
            <a:r>
              <a:rPr lang="es-EC" sz="1100" b="1" noProof="0" dirty="0"/>
              <a:t> de Análisis Deportivo:</a:t>
            </a:r>
            <a:r>
              <a:rPr lang="es-EC" sz="1100" noProof="0" dirty="0"/>
              <a:t> Sistema </a:t>
            </a:r>
            <a:r>
              <a:rPr lang="es-EC" sz="1100" noProof="0" dirty="0" err="1"/>
              <a:t>multi-agente</a:t>
            </a:r>
            <a:r>
              <a:rPr lang="es-EC" sz="1100" noProof="0" dirty="0"/>
              <a:t> basado en Gemini 2.5 Flash que genera informes estadísticos profundos sobre el Mundial. Orquesta la búsqueda de datos en tiempo real (FIFA, ESPN) y entrega análisis neutros en </a:t>
            </a:r>
            <a:r>
              <a:rPr lang="es-EC" sz="1100" noProof="0" dirty="0" err="1"/>
              <a:t>Markdown</a:t>
            </a:r>
            <a:r>
              <a:rPr lang="es-EC" sz="1100" noProof="0" dirty="0"/>
              <a:t>, evitando predicciones directas para incentivar el juego con la moneda de la app.</a:t>
            </a:r>
            <a:endParaRPr lang="es-EC" sz="1400" noProof="0" dirty="0"/>
          </a:p>
          <a:p>
            <a:pPr marL="285750" indent="-285750" algn="just">
              <a:buFont typeface="Arial"/>
              <a:buChar char="•"/>
            </a:pPr>
            <a:endParaRPr lang="es-EC" sz="1100" noProof="0" dirty="0"/>
          </a:p>
          <a:p>
            <a:pPr marL="285750" indent="-285750">
              <a:buFont typeface="Arial"/>
              <a:buChar char="•"/>
            </a:pPr>
            <a:r>
              <a:rPr lang="es-EC" sz="1100" b="1" noProof="0" dirty="0"/>
              <a:t>Segmentación Inteligente de Premios:</a:t>
            </a:r>
            <a:r>
              <a:rPr lang="es-EC" sz="1100" noProof="0" dirty="0"/>
              <a:t> Motor de personalización que utiliza Machine </a:t>
            </a:r>
            <a:r>
              <a:rPr lang="es-EC" sz="1100" noProof="0" dirty="0" err="1"/>
              <a:t>Learning</a:t>
            </a:r>
            <a:r>
              <a:rPr lang="es-EC" sz="1100" noProof="0" dirty="0"/>
              <a:t> para clasificar a los usuarios en categorías de interés. Cruza el comportamiento y perfil del usuario con reglas de negocio para ofrecer recomendaciones de premios explicables y alternativas adaptadas a su contexto específico.</a:t>
            </a:r>
            <a:endParaRPr lang="es-EC" sz="1400" noProof="0" dirty="0"/>
          </a:p>
          <a:p>
            <a:pPr marL="285750" indent="-285750" algn="just">
              <a:buFont typeface="Arial"/>
              <a:buChar char="•"/>
            </a:pPr>
            <a:endParaRPr lang="es-EC" sz="1100" noProof="0" dirty="0"/>
          </a:p>
          <a:p>
            <a:pPr marL="285750" indent="-285750" algn="just">
              <a:buFont typeface="Arial"/>
              <a:buChar char="•"/>
            </a:pPr>
            <a:r>
              <a:rPr lang="es-EC" sz="1100" b="1" noProof="0" dirty="0"/>
              <a:t>Motor de </a:t>
            </a:r>
            <a:r>
              <a:rPr lang="es-EC" sz="1100" b="1" noProof="0" dirty="0" err="1"/>
              <a:t>Matchmaking</a:t>
            </a:r>
            <a:r>
              <a:rPr lang="es-EC" sz="1100" b="1" dirty="0"/>
              <a:t>: </a:t>
            </a:r>
            <a:r>
              <a:rPr lang="es-ES" sz="1100" noProof="0" dirty="0"/>
              <a:t>El algoritmo asigna un peso del 70% al historial de egresos (categorización de comercios y frecuencia de consumo) y un 30% a la liquidez financiera (saldo proyectado). El sistema procesa estas variables para calcular un índice de compatibilidad y automatizar la asignación de grupos.</a:t>
            </a:r>
            <a:endParaRPr lang="es-EC" sz="1100" noProof="0" dirty="0"/>
          </a:p>
        </p:txBody>
      </p:sp>
    </p:spTree>
    <p:extLst>
      <p:ext uri="{BB962C8B-B14F-4D97-AF65-F5344CB8AC3E}">
        <p14:creationId xmlns:p14="http://schemas.microsoft.com/office/powerpoint/2010/main" val="599482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A67DB-F973-C37E-95E3-42E9BC6D0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431BE3-8451-B3E8-1551-372651A29002}"/>
              </a:ext>
            </a:extLst>
          </p:cNvPr>
          <p:cNvSpPr txBox="1"/>
          <p:nvPr/>
        </p:nvSpPr>
        <p:spPr>
          <a:xfrm>
            <a:off x="0" y="1381654"/>
            <a:ext cx="5381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800" b="1" noProof="0" dirty="0">
                <a:solidFill>
                  <a:srgbClr val="10399C"/>
                </a:solidFill>
              </a:rPr>
              <a:t>Mundial de Millas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0939D-7CD6-5FA5-9F91-65BC79D67ECB}"/>
              </a:ext>
            </a:extLst>
          </p:cNvPr>
          <p:cNvSpPr txBox="1"/>
          <p:nvPr/>
        </p:nvSpPr>
        <p:spPr>
          <a:xfrm>
            <a:off x="59193" y="2212651"/>
            <a:ext cx="59469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1400" b="1" noProof="0" dirty="0"/>
              <a:t>TRABAJO FUTURO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78938C6-CF7B-97D2-8962-693A92F26220}"/>
              </a:ext>
            </a:extLst>
          </p:cNvPr>
          <p:cNvSpPr/>
          <p:nvPr/>
        </p:nvSpPr>
        <p:spPr>
          <a:xfrm>
            <a:off x="154432" y="2687320"/>
            <a:ext cx="1059374" cy="3808650"/>
          </a:xfrm>
          <a:prstGeom prst="rect">
            <a:avLst/>
          </a:prstGeom>
          <a:solidFill>
            <a:srgbClr val="003399">
              <a:alpha val="12000"/>
            </a:srgbClr>
          </a:solidFill>
          <a:ln w="19050">
            <a:solidFill>
              <a:srgbClr val="003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CBE959B-735D-B74D-2947-7D6ACAD82060}"/>
              </a:ext>
            </a:extLst>
          </p:cNvPr>
          <p:cNvSpPr/>
          <p:nvPr/>
        </p:nvSpPr>
        <p:spPr>
          <a:xfrm>
            <a:off x="200152" y="2733040"/>
            <a:ext cx="993981" cy="46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3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9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24FDA29-54F2-7E60-D3F8-F23E0BC67E28}"/>
              </a:ext>
            </a:extLst>
          </p:cNvPr>
          <p:cNvSpPr/>
          <p:nvPr/>
        </p:nvSpPr>
        <p:spPr>
          <a:xfrm>
            <a:off x="245872" y="3254248"/>
            <a:ext cx="928587" cy="983751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BD8D944-DED5-A941-C188-7ED52410A062}"/>
              </a:ext>
            </a:extLst>
          </p:cNvPr>
          <p:cNvSpPr/>
          <p:nvPr/>
        </p:nvSpPr>
        <p:spPr>
          <a:xfrm>
            <a:off x="245872" y="3254248"/>
            <a:ext cx="928587" cy="983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Apps</a:t>
            </a:r>
            <a:endParaRPr lang="en-US" sz="8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70BF600-CF19-9773-74C6-1A75E0A754CA}"/>
              </a:ext>
            </a:extLst>
          </p:cNvPr>
          <p:cNvSpPr/>
          <p:nvPr/>
        </p:nvSpPr>
        <p:spPr>
          <a:xfrm>
            <a:off x="245872" y="5430520"/>
            <a:ext cx="928587" cy="983751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1E186A1-B5C8-FE51-1030-881C5BE58D3F}"/>
              </a:ext>
            </a:extLst>
          </p:cNvPr>
          <p:cNvSpPr/>
          <p:nvPr/>
        </p:nvSpPr>
        <p:spPr>
          <a:xfrm>
            <a:off x="245872" y="5430520"/>
            <a:ext cx="928587" cy="983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Mgmt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(APIM)</a:t>
            </a:r>
            <a:endParaRPr lang="en-US" sz="8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E3250AB-92CC-4AF9-2188-4B8365405F1F}"/>
              </a:ext>
            </a:extLst>
          </p:cNvPr>
          <p:cNvSpPr/>
          <p:nvPr/>
        </p:nvSpPr>
        <p:spPr>
          <a:xfrm>
            <a:off x="1404112" y="2687320"/>
            <a:ext cx="1386342" cy="3808650"/>
          </a:xfrm>
          <a:prstGeom prst="rect">
            <a:avLst/>
          </a:prstGeom>
          <a:solidFill>
            <a:srgbClr val="DCE2EF"/>
          </a:solidFill>
          <a:ln w="19050">
            <a:solidFill>
              <a:srgbClr val="1039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2CA4514-E0D9-3E9E-951D-475E4423D7E5}"/>
              </a:ext>
            </a:extLst>
          </p:cNvPr>
          <p:cNvSpPr/>
          <p:nvPr/>
        </p:nvSpPr>
        <p:spPr>
          <a:xfrm>
            <a:off x="1449832" y="2733040"/>
            <a:ext cx="1320948" cy="469312"/>
          </a:xfrm>
          <a:prstGeom prst="rect">
            <a:avLst/>
          </a:prstGeom>
          <a:solidFill>
            <a:srgbClr val="DCE2E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900" dirty="0">
              <a:solidFill>
                <a:srgbClr val="10399C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900" b="1" dirty="0" err="1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>
              <a:solidFill>
                <a:srgbClr val="10399C"/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AD4317D-DB3E-7E91-CC38-672AF6E65A7A}"/>
              </a:ext>
            </a:extLst>
          </p:cNvPr>
          <p:cNvSpPr/>
          <p:nvPr/>
        </p:nvSpPr>
        <p:spPr>
          <a:xfrm>
            <a:off x="1495552" y="3254248"/>
            <a:ext cx="1255555" cy="55415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12700">
            <a:solidFill>
              <a:srgbClr val="1039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>
              <a:solidFill>
                <a:srgbClr val="10399C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3CF95EE-9879-560F-343D-7F99DF4A5E04}"/>
              </a:ext>
            </a:extLst>
          </p:cNvPr>
          <p:cNvSpPr/>
          <p:nvPr/>
        </p:nvSpPr>
        <p:spPr>
          <a:xfrm>
            <a:off x="1495552" y="3254248"/>
            <a:ext cx="1255555" cy="55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8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19B6BE8-A07E-1CD8-0FB2-63B18AB86644}"/>
              </a:ext>
            </a:extLst>
          </p:cNvPr>
          <p:cNvSpPr/>
          <p:nvPr/>
        </p:nvSpPr>
        <p:spPr>
          <a:xfrm>
            <a:off x="1495552" y="3907130"/>
            <a:ext cx="1255555" cy="554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6600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>
              <a:solidFill>
                <a:srgbClr val="10399C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AB24A92-3596-C4D0-4FA9-27434965D0A5}"/>
              </a:ext>
            </a:extLst>
          </p:cNvPr>
          <p:cNvSpPr/>
          <p:nvPr/>
        </p:nvSpPr>
        <p:spPr>
          <a:xfrm>
            <a:off x="1495552" y="3907130"/>
            <a:ext cx="1255555" cy="55415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10399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Service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8252EC0-D2C2-2AB3-CA71-E0CEBB73EE29}"/>
              </a:ext>
            </a:extLst>
          </p:cNvPr>
          <p:cNvSpPr/>
          <p:nvPr/>
        </p:nvSpPr>
        <p:spPr>
          <a:xfrm>
            <a:off x="1495552" y="4560011"/>
            <a:ext cx="1255555" cy="55415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12700">
            <a:solidFill>
              <a:srgbClr val="1039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>
              <a:solidFill>
                <a:srgbClr val="10399C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D66FE2D-FF45-250D-292B-065C5DA3F25A}"/>
              </a:ext>
            </a:extLst>
          </p:cNvPr>
          <p:cNvSpPr/>
          <p:nvPr/>
        </p:nvSpPr>
        <p:spPr>
          <a:xfrm>
            <a:off x="1495552" y="4560011"/>
            <a:ext cx="1255555" cy="55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Svc</a:t>
            </a:r>
            <a:endParaRPr lang="en-US" sz="8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3F5D6DE-3D1F-12EC-CFC5-0FBCC237FB83}"/>
              </a:ext>
            </a:extLst>
          </p:cNvPr>
          <p:cNvSpPr/>
          <p:nvPr/>
        </p:nvSpPr>
        <p:spPr>
          <a:xfrm>
            <a:off x="1495552" y="5212893"/>
            <a:ext cx="1255555" cy="55415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12700">
            <a:solidFill>
              <a:srgbClr val="1039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>
              <a:solidFill>
                <a:srgbClr val="10399C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3B66594-4D70-CBE0-F059-2CF4BEB68F2C}"/>
              </a:ext>
            </a:extLst>
          </p:cNvPr>
          <p:cNvSpPr/>
          <p:nvPr/>
        </p:nvSpPr>
        <p:spPr>
          <a:xfrm>
            <a:off x="1495552" y="5212893"/>
            <a:ext cx="1255555" cy="55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Service</a:t>
            </a:r>
            <a:endParaRPr lang="en-US" sz="8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E06BF28-B02A-118E-8F3B-C57BE6C527F2}"/>
              </a:ext>
            </a:extLst>
          </p:cNvPr>
          <p:cNvSpPr/>
          <p:nvPr/>
        </p:nvSpPr>
        <p:spPr>
          <a:xfrm>
            <a:off x="1495552" y="5865774"/>
            <a:ext cx="1255555" cy="55415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 w="12700">
            <a:solidFill>
              <a:srgbClr val="10399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>
              <a:solidFill>
                <a:srgbClr val="10399C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8667334-33C5-33FA-C0E6-443711049B47}"/>
              </a:ext>
            </a:extLst>
          </p:cNvPr>
          <p:cNvSpPr/>
          <p:nvPr/>
        </p:nvSpPr>
        <p:spPr>
          <a:xfrm>
            <a:off x="1495552" y="5865774"/>
            <a:ext cx="1255555" cy="554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Service</a:t>
            </a:r>
            <a:endParaRPr lang="en-US" sz="8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B0FEE16-1A08-BC86-9CB5-7E91619E98A5}"/>
              </a:ext>
            </a:extLst>
          </p:cNvPr>
          <p:cNvSpPr/>
          <p:nvPr/>
        </p:nvSpPr>
        <p:spPr>
          <a:xfrm>
            <a:off x="3029712" y="2687320"/>
            <a:ext cx="1255555" cy="3808650"/>
          </a:xfrm>
          <a:prstGeom prst="rect">
            <a:avLst/>
          </a:prstGeom>
          <a:solidFill>
            <a:srgbClr val="1A47B8">
              <a:alpha val="12000"/>
            </a:srgbClr>
          </a:solidFill>
          <a:ln w="19050">
            <a:solidFill>
              <a:srgbClr val="1A47B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>
              <a:solidFill>
                <a:srgbClr val="10399C"/>
              </a:solidFill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6BD8504-F0FF-E413-02E8-604542E87F85}"/>
              </a:ext>
            </a:extLst>
          </p:cNvPr>
          <p:cNvSpPr/>
          <p:nvPr/>
        </p:nvSpPr>
        <p:spPr>
          <a:xfrm>
            <a:off x="3075432" y="2733040"/>
            <a:ext cx="1190161" cy="46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900" dirty="0">
              <a:solidFill>
                <a:srgbClr val="10399C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IA</a:t>
            </a:r>
            <a:endParaRPr lang="en-US" sz="900" dirty="0">
              <a:solidFill>
                <a:srgbClr val="10399C"/>
              </a:solidFill>
            </a:endParaRP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4F5B65D-981E-A403-8C9C-4566CF261D34}"/>
              </a:ext>
            </a:extLst>
          </p:cNvPr>
          <p:cNvSpPr/>
          <p:nvPr/>
        </p:nvSpPr>
        <p:spPr>
          <a:xfrm>
            <a:off x="3121152" y="3254248"/>
            <a:ext cx="1124768" cy="152075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solidFill>
              <a:srgbClr val="1A47B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>
              <a:solidFill>
                <a:srgbClr val="10399C"/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A036A65-34E1-2381-80E6-31CAC58F42AA}"/>
              </a:ext>
            </a:extLst>
          </p:cNvPr>
          <p:cNvSpPr/>
          <p:nvPr/>
        </p:nvSpPr>
        <p:spPr>
          <a:xfrm>
            <a:off x="3121152" y="3254248"/>
            <a:ext cx="1124768" cy="152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42B9A59-D569-DB61-A45E-E4D2375AD548}"/>
              </a:ext>
            </a:extLst>
          </p:cNvPr>
          <p:cNvSpPr/>
          <p:nvPr/>
        </p:nvSpPr>
        <p:spPr>
          <a:xfrm>
            <a:off x="3121152" y="4886452"/>
            <a:ext cx="1124768" cy="152075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12700">
            <a:solidFill>
              <a:srgbClr val="1A47B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4B78342-7C63-CEF8-58DD-25D077D90C0F}"/>
              </a:ext>
            </a:extLst>
          </p:cNvPr>
          <p:cNvSpPr/>
          <p:nvPr/>
        </p:nvSpPr>
        <p:spPr>
          <a:xfrm>
            <a:off x="3121152" y="4886452"/>
            <a:ext cx="1124768" cy="152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8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970E00D-736F-98F5-F039-6C4C9A57B34C}"/>
              </a:ext>
            </a:extLst>
          </p:cNvPr>
          <p:cNvSpPr/>
          <p:nvPr/>
        </p:nvSpPr>
        <p:spPr>
          <a:xfrm>
            <a:off x="4543552" y="2687320"/>
            <a:ext cx="1124768" cy="3808650"/>
          </a:xfrm>
          <a:prstGeom prst="rect">
            <a:avLst/>
          </a:prstGeom>
          <a:solidFill>
            <a:srgbClr val="DCE2EF">
              <a:alpha val="12000"/>
            </a:srgbClr>
          </a:solidFill>
          <a:ln w="19050">
            <a:solidFill>
              <a:schemeClr val="tx2">
                <a:lumMod val="50000"/>
                <a:lumOff val="50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2E804C3-FEB3-B578-F8D8-8C35FD0DDF73}"/>
              </a:ext>
            </a:extLst>
          </p:cNvPr>
          <p:cNvSpPr/>
          <p:nvPr/>
        </p:nvSpPr>
        <p:spPr>
          <a:xfrm>
            <a:off x="4589272" y="2733040"/>
            <a:ext cx="1059374" cy="46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00" dirty="0">
              <a:solidFill>
                <a:srgbClr val="10399C"/>
              </a:solidFill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C370B7F-F10F-E8C7-C8B0-B14CFB930B99}"/>
              </a:ext>
            </a:extLst>
          </p:cNvPr>
          <p:cNvSpPr/>
          <p:nvPr/>
        </p:nvSpPr>
        <p:spPr>
          <a:xfrm>
            <a:off x="4634992" y="3254248"/>
            <a:ext cx="993981" cy="98375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solidFill>
              <a:schemeClr val="tx2">
                <a:lumMod val="50000"/>
                <a:lumOff val="50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C387751-2E11-D726-18E5-89BBF55FAEED}"/>
              </a:ext>
            </a:extLst>
          </p:cNvPr>
          <p:cNvSpPr/>
          <p:nvPr/>
        </p:nvSpPr>
        <p:spPr>
          <a:xfrm>
            <a:off x="4634992" y="3254248"/>
            <a:ext cx="993981" cy="983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B5ABEDAA-BEEC-2395-D78D-ADE2D8D2A26C}"/>
              </a:ext>
            </a:extLst>
          </p:cNvPr>
          <p:cNvSpPr/>
          <p:nvPr/>
        </p:nvSpPr>
        <p:spPr>
          <a:xfrm>
            <a:off x="4634992" y="5425602"/>
            <a:ext cx="993981" cy="983751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2700">
            <a:solidFill>
              <a:srgbClr val="1A7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89BAE5F-501B-75F4-0FEE-3C3F7AE44316}"/>
              </a:ext>
            </a:extLst>
          </p:cNvPr>
          <p:cNvSpPr/>
          <p:nvPr/>
        </p:nvSpPr>
        <p:spPr>
          <a:xfrm>
            <a:off x="4634992" y="5425602"/>
            <a:ext cx="993981" cy="983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(Gremlin)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85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FC47A435-BAB4-FF93-DC9F-EA8670409987}"/>
              </a:ext>
            </a:extLst>
          </p:cNvPr>
          <p:cNvSpPr/>
          <p:nvPr/>
        </p:nvSpPr>
        <p:spPr>
          <a:xfrm>
            <a:off x="5915152" y="2687320"/>
            <a:ext cx="719328" cy="3808650"/>
          </a:xfrm>
          <a:prstGeom prst="rect">
            <a:avLst/>
          </a:prstGeom>
          <a:solidFill>
            <a:srgbClr val="DCE2EF">
              <a:alpha val="12000"/>
            </a:srgbClr>
          </a:solidFill>
          <a:ln w="19050">
            <a:solidFill>
              <a:schemeClr val="tx2">
                <a:lumMod val="25000"/>
                <a:lumOff val="7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E6893467-6078-299A-F219-F7B5D1ABF976}"/>
              </a:ext>
            </a:extLst>
          </p:cNvPr>
          <p:cNvSpPr/>
          <p:nvPr/>
        </p:nvSpPr>
        <p:spPr>
          <a:xfrm>
            <a:off x="5960872" y="2733040"/>
            <a:ext cx="653935" cy="469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>
              <a:solidFill>
                <a:srgbClr val="10399C"/>
              </a:solidFill>
            </a:endParaRPr>
          </a:p>
          <a:p>
            <a:pPr marL="0" indent="0" algn="ctr">
              <a:buNone/>
            </a:pPr>
            <a:r>
              <a:rPr lang="en-US" sz="900" b="1" dirty="0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Ops</a:t>
            </a:r>
            <a:endParaRPr lang="en-US" sz="900" dirty="0">
              <a:solidFill>
                <a:srgbClr val="10399C"/>
              </a:solidFill>
            </a:endParaRP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22B1DE8A-1DF9-EDEB-5D54-9EC7A920782E}"/>
              </a:ext>
            </a:extLst>
          </p:cNvPr>
          <p:cNvSpPr/>
          <p:nvPr/>
        </p:nvSpPr>
        <p:spPr>
          <a:xfrm>
            <a:off x="6006592" y="3254248"/>
            <a:ext cx="588541" cy="9837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 dirty="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B5398D22-8BFE-7D05-64D5-7937A11BCB68}"/>
              </a:ext>
            </a:extLst>
          </p:cNvPr>
          <p:cNvSpPr/>
          <p:nvPr/>
        </p:nvSpPr>
        <p:spPr>
          <a:xfrm>
            <a:off x="6006592" y="3254248"/>
            <a:ext cx="588541" cy="983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50" dirty="0">
              <a:solidFill>
                <a:srgbClr val="10399C"/>
              </a:solidFill>
            </a:endParaRPr>
          </a:p>
        </p:txBody>
      </p:sp>
      <p:sp>
        <p:nvSpPr>
          <p:cNvPr id="41" name="Shape 43">
            <a:extLst>
              <a:ext uri="{FF2B5EF4-FFF2-40B4-BE49-F238E27FC236}">
                <a16:creationId xmlns:a16="http://schemas.microsoft.com/office/drawing/2014/main" id="{784AF131-3F3D-E046-30D3-0A248DECE14B}"/>
              </a:ext>
            </a:extLst>
          </p:cNvPr>
          <p:cNvSpPr/>
          <p:nvPr/>
        </p:nvSpPr>
        <p:spPr>
          <a:xfrm>
            <a:off x="6006592" y="5430520"/>
            <a:ext cx="588541" cy="98375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>
                <a:lumMod val="25000"/>
                <a:lumOff val="75000"/>
              </a:schemeClr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2" name="Text 44">
            <a:extLst>
              <a:ext uri="{FF2B5EF4-FFF2-40B4-BE49-F238E27FC236}">
                <a16:creationId xmlns:a16="http://schemas.microsoft.com/office/drawing/2014/main" id="{C7FAF740-738B-9143-F4B6-3BB725F86C25}"/>
              </a:ext>
            </a:extLst>
          </p:cNvPr>
          <p:cNvSpPr/>
          <p:nvPr/>
        </p:nvSpPr>
        <p:spPr>
          <a:xfrm>
            <a:off x="6006592" y="5430520"/>
            <a:ext cx="588541" cy="983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50" dirty="0">
              <a:solidFill>
                <a:srgbClr val="10399C"/>
              </a:solidFill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103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AppInsights</a:t>
            </a:r>
            <a:endParaRPr lang="en-US" sz="850" dirty="0">
              <a:solidFill>
                <a:srgbClr val="10399C"/>
              </a:solidFill>
            </a:endParaRPr>
          </a:p>
        </p:txBody>
      </p:sp>
      <p:sp>
        <p:nvSpPr>
          <p:cNvPr id="43" name="Shape 45">
            <a:extLst>
              <a:ext uri="{FF2B5EF4-FFF2-40B4-BE49-F238E27FC236}">
                <a16:creationId xmlns:a16="http://schemas.microsoft.com/office/drawing/2014/main" id="{22EC1DAB-D042-413B-FD46-E450FC10C2EC}"/>
              </a:ext>
            </a:extLst>
          </p:cNvPr>
          <p:cNvSpPr/>
          <p:nvPr/>
        </p:nvSpPr>
        <p:spPr>
          <a:xfrm>
            <a:off x="1239520" y="4616704"/>
            <a:ext cx="117708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solid"/>
            <a:tailEnd type="arrow"/>
          </a:ln>
        </p:spPr>
        <p:txBody>
          <a:bodyPr/>
          <a:lstStyle/>
          <a:p>
            <a:endParaRPr lang="es-EC"/>
          </a:p>
        </p:txBody>
      </p:sp>
      <p:sp>
        <p:nvSpPr>
          <p:cNvPr id="44" name="Shape 46">
            <a:extLst>
              <a:ext uri="{FF2B5EF4-FFF2-40B4-BE49-F238E27FC236}">
                <a16:creationId xmlns:a16="http://schemas.microsoft.com/office/drawing/2014/main" id="{AD2A0DA3-ED4F-3A90-E103-9DB214BC03E2}"/>
              </a:ext>
            </a:extLst>
          </p:cNvPr>
          <p:cNvSpPr/>
          <p:nvPr/>
        </p:nvSpPr>
        <p:spPr>
          <a:xfrm>
            <a:off x="2854960" y="4616704"/>
            <a:ext cx="117708" cy="0"/>
          </a:xfrm>
          <a:prstGeom prst="line">
            <a:avLst/>
          </a:prstGeom>
          <a:noFill/>
          <a:ln w="19050">
            <a:solidFill>
              <a:srgbClr val="6600FF"/>
            </a:solidFill>
            <a:prstDash val="solid"/>
            <a:tailEnd type="arrow"/>
          </a:ln>
        </p:spPr>
        <p:txBody>
          <a:bodyPr/>
          <a:lstStyle/>
          <a:p>
            <a:endParaRPr lang="es-EC"/>
          </a:p>
        </p:txBody>
      </p:sp>
      <p:sp>
        <p:nvSpPr>
          <p:cNvPr id="45" name="Shape 47">
            <a:extLst>
              <a:ext uri="{FF2B5EF4-FFF2-40B4-BE49-F238E27FC236}">
                <a16:creationId xmlns:a16="http://schemas.microsoft.com/office/drawing/2014/main" id="{F3345D24-BF38-9536-D6AD-C1EAF31893DA}"/>
              </a:ext>
            </a:extLst>
          </p:cNvPr>
          <p:cNvSpPr/>
          <p:nvPr/>
        </p:nvSpPr>
        <p:spPr>
          <a:xfrm>
            <a:off x="4378960" y="4616704"/>
            <a:ext cx="117708" cy="0"/>
          </a:xfrm>
          <a:prstGeom prst="line">
            <a:avLst/>
          </a:prstGeom>
          <a:noFill/>
          <a:ln w="19050">
            <a:solidFill>
              <a:srgbClr val="1A47B8"/>
            </a:solidFill>
            <a:prstDash val="solid"/>
            <a:tailEnd type="arrow"/>
          </a:ln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46642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564</TotalTime>
  <Words>1123</Words>
  <Application>Microsoft Office PowerPoint</Application>
  <PresentationFormat>A4 (210 x 297 mm)</PresentationFormat>
  <Paragraphs>144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Sans Serif Collection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(Estudiante) Ivan Andres Tulcan Jaya</dc:creator>
  <cp:lastModifiedBy>MARCO VINICIO ESPIN TINILLO</cp:lastModifiedBy>
  <cp:revision>121</cp:revision>
  <dcterms:created xsi:type="dcterms:W3CDTF">2026-04-09T01:17:49Z</dcterms:created>
  <dcterms:modified xsi:type="dcterms:W3CDTF">2026-04-09T12:40:45Z</dcterms:modified>
</cp:coreProperties>
</file>