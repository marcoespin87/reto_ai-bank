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99"/>
        </a:solidFill>
      </p:bgPr>
    </p:bg>
    <p:spTree>
      <p:nvGrpSpPr>
        <p:cNvPr id="1" name=""/>
        <p:cNvGrpSpPr/>
        <p:nvPr/>
      </p:nvGrpSpPr>
      <p:grpSpPr>
        <a:xfrm>
          <a:off x="0" y="0"/>
          <a:ext cx="0" cy="0"/>
          <a:chOff x="0" y="0"/>
          <a:chExt cx="0" cy="0"/>
        </a:xfrm>
      </p:grpSpPr>
      <p:sp>
        <p:nvSpPr>
          <p:cNvPr id="2" name="Shape 0"/>
          <p:cNvSpPr/>
          <p:nvPr/>
        </p:nvSpPr>
        <p:spPr>
          <a:xfrm>
            <a:off x="5943600" y="-2011680"/>
            <a:ext cx="6858000" cy="6858000"/>
          </a:xfrm>
          <a:prstGeom prst="ellipse">
            <a:avLst/>
          </a:prstGeom>
          <a:solidFill>
            <a:srgbClr val="6600FF">
              <a:alpha val="38000"/>
            </a:srgbClr>
          </a:solidFill>
          <a:ln w="12700">
            <a:solidFill>
              <a:srgbClr val="6600FF">
                <a:alpha val="38000"/>
              </a:srgbClr>
            </a:solidFill>
            <a:prstDash val="solid"/>
          </a:ln>
        </p:spPr>
      </p:sp>
      <p:sp>
        <p:nvSpPr>
          <p:cNvPr id="3" name="Shape 1"/>
          <p:cNvSpPr/>
          <p:nvPr/>
        </p:nvSpPr>
        <p:spPr>
          <a:xfrm>
            <a:off x="-1645920" y="2560320"/>
            <a:ext cx="5029200" cy="5029200"/>
          </a:xfrm>
          <a:prstGeom prst="ellipse">
            <a:avLst/>
          </a:prstGeom>
          <a:solidFill>
            <a:srgbClr val="E6192E">
              <a:alpha val="26000"/>
            </a:srgbClr>
          </a:solidFill>
          <a:ln w="12700">
            <a:solidFill>
              <a:srgbClr val="E6192E">
                <a:alpha val="26000"/>
              </a:srgbClr>
            </a:solidFill>
            <a:prstDash val="solid"/>
          </a:ln>
        </p:spPr>
      </p:sp>
      <p:sp>
        <p:nvSpPr>
          <p:cNvPr id="4" name="Shape 2"/>
          <p:cNvSpPr/>
          <p:nvPr/>
        </p:nvSpPr>
        <p:spPr>
          <a:xfrm>
            <a:off x="475488" y="960120"/>
            <a:ext cx="128016" cy="3200400"/>
          </a:xfrm>
          <a:prstGeom prst="rect">
            <a:avLst/>
          </a:prstGeom>
          <a:solidFill>
            <a:srgbClr val="D1FF00"/>
          </a:solidFill>
          <a:ln w="12700">
            <a:solidFill>
              <a:srgbClr val="D1FF00"/>
            </a:solidFill>
            <a:prstDash val="solid"/>
          </a:ln>
        </p:spPr>
      </p:sp>
      <p:sp>
        <p:nvSpPr>
          <p:cNvPr id="5" name="Text 3"/>
          <p:cNvSpPr/>
          <p:nvPr/>
        </p:nvSpPr>
        <p:spPr>
          <a:xfrm>
            <a:off x="777240" y="868680"/>
            <a:ext cx="8229600" cy="1737360"/>
          </a:xfrm>
          <a:prstGeom prst="rect">
            <a:avLst/>
          </a:prstGeom>
          <a:noFill/>
          <a:ln/>
        </p:spPr>
        <p:txBody>
          <a:bodyPr wrap="square" lIns="0" tIns="0" rIns="0" bIns="0" rtlCol="0" anchor="ctr"/>
          <a:lstStyle/>
          <a:p>
            <a:pPr algn="l" indent="0" marL="0">
              <a:buNone/>
            </a:pPr>
            <a:r>
              <a:rPr lang="en-US" sz="7400" b="1" dirty="0">
                <a:solidFill>
                  <a:srgbClr val="FFFFFF"/>
                </a:solidFill>
                <a:latin typeface="Calibri" pitchFamily="34" charset="0"/>
                <a:ea typeface="Calibri" pitchFamily="34" charset="-122"/>
                <a:cs typeface="Calibri" pitchFamily="34" charset="-120"/>
              </a:rPr>
              <a:t>AI-Bank</a:t>
            </a:r>
            <a:endParaRPr lang="en-US" sz="7400" dirty="0"/>
          </a:p>
        </p:txBody>
      </p:sp>
      <p:sp>
        <p:nvSpPr>
          <p:cNvPr id="6" name="Text 4"/>
          <p:cNvSpPr/>
          <p:nvPr/>
        </p:nvSpPr>
        <p:spPr>
          <a:xfrm>
            <a:off x="777240" y="2697480"/>
            <a:ext cx="7772400" cy="548640"/>
          </a:xfrm>
          <a:prstGeom prst="rect">
            <a:avLst/>
          </a:prstGeom>
          <a:noFill/>
          <a:ln/>
        </p:spPr>
        <p:txBody>
          <a:bodyPr wrap="square" lIns="0" tIns="0" rIns="0" bIns="0" rtlCol="0" anchor="ctr"/>
          <a:lstStyle/>
          <a:p>
            <a:pPr algn="l" indent="0" marL="0">
              <a:buNone/>
            </a:pPr>
            <a:r>
              <a:rPr lang="en-US" sz="1800" dirty="0">
                <a:solidFill>
                  <a:srgbClr val="D1FF00"/>
                </a:solidFill>
                <a:latin typeface="Calibri" pitchFamily="34" charset="0"/>
                <a:ea typeface="Calibri" pitchFamily="34" charset="-122"/>
                <a:cs typeface="Calibri" pitchFamily="34" charset="-120"/>
              </a:rPr>
              <a:t>Informe Ejecutivo · Arquitectura del Sistema</a:t>
            </a:r>
            <a:endParaRPr lang="en-US" sz="1800" dirty="0"/>
          </a:p>
        </p:txBody>
      </p:sp>
      <p:sp>
        <p:nvSpPr>
          <p:cNvPr id="7" name="Shape 5"/>
          <p:cNvSpPr/>
          <p:nvPr/>
        </p:nvSpPr>
        <p:spPr>
          <a:xfrm>
            <a:off x="777240" y="3337560"/>
            <a:ext cx="5303520" cy="0"/>
          </a:xfrm>
          <a:prstGeom prst="line">
            <a:avLst/>
          </a:prstGeom>
          <a:noFill/>
          <a:ln w="12700">
            <a:solidFill>
              <a:srgbClr val="FFFFFF">
                <a:alpha val="45000"/>
              </a:srgbClr>
            </a:solidFill>
            <a:prstDash val="solid"/>
          </a:ln>
        </p:spPr>
      </p:sp>
      <p:sp>
        <p:nvSpPr>
          <p:cNvPr id="8" name="Text 6"/>
          <p:cNvSpPr/>
          <p:nvPr/>
        </p:nvSpPr>
        <p:spPr>
          <a:xfrm>
            <a:off x="777240" y="3474720"/>
            <a:ext cx="7315200" cy="38404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Reto Tata Consultancy Services · Abril 2026</a:t>
            </a:r>
            <a:endParaRPr lang="en-US" sz="1300" dirty="0"/>
          </a:p>
        </p:txBody>
      </p:sp>
      <p:sp>
        <p:nvSpPr>
          <p:cNvPr id="9" name="Shape 7"/>
          <p:cNvSpPr/>
          <p:nvPr/>
        </p:nvSpPr>
        <p:spPr>
          <a:xfrm>
            <a:off x="777240" y="4005072"/>
            <a:ext cx="1371600" cy="384048"/>
          </a:xfrm>
          <a:prstGeom prst="rect">
            <a:avLst/>
          </a:prstGeom>
          <a:solidFill>
            <a:srgbClr val="E6192E"/>
          </a:solidFill>
          <a:ln w="12700">
            <a:solidFill>
              <a:srgbClr val="E6192E"/>
            </a:solidFill>
            <a:prstDash val="solid"/>
          </a:ln>
        </p:spPr>
      </p:sp>
      <p:sp>
        <p:nvSpPr>
          <p:cNvPr id="10" name="Text 8"/>
          <p:cNvSpPr/>
          <p:nvPr/>
        </p:nvSpPr>
        <p:spPr>
          <a:xfrm>
            <a:off x="777240" y="4005072"/>
            <a:ext cx="13716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 FIRST</a:t>
            </a:r>
            <a:endParaRPr lang="en-US" sz="1100" dirty="0"/>
          </a:p>
        </p:txBody>
      </p:sp>
      <p:sp>
        <p:nvSpPr>
          <p:cNvPr id="11" name="Shape 9"/>
          <p:cNvSpPr/>
          <p:nvPr/>
        </p:nvSpPr>
        <p:spPr>
          <a:xfrm>
            <a:off x="2286000" y="4005072"/>
            <a:ext cx="2194560" cy="384048"/>
          </a:xfrm>
          <a:prstGeom prst="rect">
            <a:avLst/>
          </a:prstGeom>
          <a:solidFill>
            <a:srgbClr val="D1FF00"/>
          </a:solidFill>
          <a:ln w="12700">
            <a:solidFill>
              <a:srgbClr val="D1FF00"/>
            </a:solidFill>
            <a:prstDash val="solid"/>
          </a:ln>
        </p:spPr>
      </p:sp>
      <p:sp>
        <p:nvSpPr>
          <p:cNvPr id="12" name="Text 10"/>
          <p:cNvSpPr/>
          <p:nvPr/>
        </p:nvSpPr>
        <p:spPr>
          <a:xfrm>
            <a:off x="2286000" y="4005072"/>
            <a:ext cx="2194560" cy="384048"/>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MUNDIAL FIFA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600FF"/>
        </a:solidFill>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003399">
              <a:alpha val="40000"/>
            </a:srgbClr>
          </a:solidFill>
          <a:ln w="12700">
            <a:solidFill>
              <a:srgbClr val="003399">
                <a:alpha val="40000"/>
              </a:srgbClr>
            </a:solidFill>
            <a:prstDash val="solid"/>
          </a:ln>
        </p:spPr>
      </p:sp>
      <p:sp>
        <p:nvSpPr>
          <p:cNvPr id="3" name="Shape 1"/>
          <p:cNvSpPr/>
          <p:nvPr/>
        </p:nvSpPr>
        <p:spPr>
          <a:xfrm>
            <a:off x="-1828800" y="2743200"/>
            <a:ext cx="5029200" cy="5029200"/>
          </a:xfrm>
          <a:prstGeom prst="ellipse">
            <a:avLst/>
          </a:prstGeom>
          <a:solidFill>
            <a:srgbClr val="E6192E">
              <a:alpha val="28000"/>
            </a:srgbClr>
          </a:solidFill>
          <a:ln w="12700">
            <a:solidFill>
              <a:srgbClr val="E6192E">
                <a:alpha val="28000"/>
              </a:srgbClr>
            </a:solidFill>
            <a:prstDash val="solid"/>
          </a:ln>
        </p:spPr>
      </p:sp>
      <p:sp>
        <p:nvSpPr>
          <p:cNvPr id="4" name="Shape 2"/>
          <p:cNvSpPr/>
          <p:nvPr/>
        </p:nvSpPr>
        <p:spPr>
          <a:xfrm>
            <a:off x="0" y="4754880"/>
            <a:ext cx="9144000" cy="388620"/>
          </a:xfrm>
          <a:prstGeom prst="rect">
            <a:avLst/>
          </a:prstGeom>
          <a:solidFill>
            <a:srgbClr val="003399"/>
          </a:solidFill>
          <a:ln w="12700">
            <a:solidFill>
              <a:srgbClr val="003399"/>
            </a:solidFill>
            <a:prstDash val="solid"/>
          </a:ln>
        </p:spPr>
      </p:sp>
      <p:sp>
        <p:nvSpPr>
          <p:cNvPr id="5" name="Shape 3"/>
          <p:cNvSpPr/>
          <p:nvPr/>
        </p:nvSpPr>
        <p:spPr>
          <a:xfrm>
            <a:off x="457200" y="1417320"/>
            <a:ext cx="118872" cy="2423160"/>
          </a:xfrm>
          <a:prstGeom prst="rect">
            <a:avLst/>
          </a:prstGeom>
          <a:solidFill>
            <a:srgbClr val="D1FF00"/>
          </a:solidFill>
          <a:ln w="12700">
            <a:solidFill>
              <a:srgbClr val="D1FF00"/>
            </a:solidFill>
            <a:prstDash val="solid"/>
          </a:ln>
        </p:spPr>
      </p:sp>
      <p:sp>
        <p:nvSpPr>
          <p:cNvPr id="6" name="Text 4"/>
          <p:cNvSpPr/>
          <p:nvPr/>
        </p:nvSpPr>
        <p:spPr>
          <a:xfrm>
            <a:off x="731520" y="1325880"/>
            <a:ext cx="3657600" cy="347472"/>
          </a:xfrm>
          <a:prstGeom prst="rect">
            <a:avLst/>
          </a:prstGeom>
          <a:noFill/>
          <a:ln/>
        </p:spPr>
        <p:txBody>
          <a:bodyPr wrap="square" lIns="0" tIns="0" rIns="0" bIns="0" rtlCol="0" anchor="ctr"/>
          <a:lstStyle/>
          <a:p>
            <a:pPr algn="l" indent="0" marL="0">
              <a:buNone/>
            </a:pPr>
            <a:r>
              <a:rPr lang="en-US" sz="1100" b="1" dirty="0">
                <a:solidFill>
                  <a:srgbClr val="D1FF00"/>
                </a:solidFill>
                <a:latin typeface="Calibri" pitchFamily="34" charset="0"/>
                <a:ea typeface="Calibri" pitchFamily="34" charset="-122"/>
                <a:cs typeface="Calibri" pitchFamily="34" charset="-120"/>
              </a:rPr>
              <a:t>01 —</a:t>
            </a:r>
            <a:endParaRPr lang="en-US" sz="1100" dirty="0"/>
          </a:p>
        </p:txBody>
      </p:sp>
      <p:sp>
        <p:nvSpPr>
          <p:cNvPr id="7" name="Text 5"/>
          <p:cNvSpPr/>
          <p:nvPr/>
        </p:nvSpPr>
        <p:spPr>
          <a:xfrm>
            <a:off x="731520" y="1691640"/>
            <a:ext cx="7772400" cy="150876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Situación Actual</a:t>
            </a:r>
            <a:endParaRPr lang="en-US" sz="4000" dirty="0"/>
          </a:p>
        </p:txBody>
      </p:sp>
      <p:sp>
        <p:nvSpPr>
          <p:cNvPr id="8" name="Text 6"/>
          <p:cNvSpPr/>
          <p:nvPr/>
        </p:nvSpPr>
        <p:spPr>
          <a:xfrm>
            <a:off x="731520" y="3291840"/>
            <a:ext cx="7315200" cy="475488"/>
          </a:xfrm>
          <a:prstGeom prst="rect">
            <a:avLst/>
          </a:prstGeom>
          <a:noFill/>
          <a:ln/>
        </p:spPr>
        <p:txBody>
          <a:bodyPr wrap="square" lIns="0" tIns="0" rIns="0" bIns="0" rtlCol="0" anchor="ctr"/>
          <a:lstStyle/>
          <a:p>
            <a:pPr algn="l" indent="0" marL="0">
              <a:buNone/>
            </a:pPr>
            <a:r>
              <a:rPr lang="en-US" sz="1500" dirty="0">
                <a:solidFill>
                  <a:srgbClr val="D1FF00"/>
                </a:solidFill>
                <a:latin typeface="Calibri" pitchFamily="34" charset="0"/>
                <a:ea typeface="Calibri" pitchFamily="34" charset="-122"/>
                <a:cs typeface="Calibri" pitchFamily="34" charset="-120"/>
              </a:rPr>
              <a:t>La problemática que AI-Bank viene a resolver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El Problema Bancario</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Shape 3"/>
          <p:cNvSpPr/>
          <p:nvPr/>
        </p:nvSpPr>
        <p:spPr>
          <a:xfrm>
            <a:off x="384048" y="960120"/>
            <a:ext cx="2651760" cy="3611880"/>
          </a:xfrm>
          <a:prstGeom prst="rect">
            <a:avLst/>
          </a:prstGeom>
          <a:solidFill>
            <a:srgbClr val="EEF2FF"/>
          </a:solidFill>
          <a:ln w="19050">
            <a:solidFill>
              <a:srgbClr val="E6192E"/>
            </a:solidFill>
            <a:prstDash val="solid"/>
          </a:ln>
          <a:effectLst>
            <a:outerShdw sx="100000" sy="100000" kx="0" ky="0" algn="bl" rotWithShape="0" blurRad="101600" dist="25400" dir="8100000">
              <a:srgbClr val="000000">
                <a:alpha val="12000"/>
              </a:srgbClr>
            </a:outerShdw>
          </a:effectLst>
        </p:spPr>
      </p:sp>
      <p:sp>
        <p:nvSpPr>
          <p:cNvPr id="6" name="Shape 4"/>
          <p:cNvSpPr/>
          <p:nvPr/>
        </p:nvSpPr>
        <p:spPr>
          <a:xfrm>
            <a:off x="384048" y="960120"/>
            <a:ext cx="2651760" cy="73152"/>
          </a:xfrm>
          <a:prstGeom prst="rect">
            <a:avLst/>
          </a:prstGeom>
          <a:solidFill>
            <a:srgbClr val="E6192E"/>
          </a:solidFill>
          <a:ln w="12700">
            <a:solidFill>
              <a:srgbClr val="E6192E"/>
            </a:solidFill>
            <a:prstDash val="solid"/>
          </a:ln>
        </p:spPr>
      </p:sp>
      <p:sp>
        <p:nvSpPr>
          <p:cNvPr id="7" name="Shape 5"/>
          <p:cNvSpPr/>
          <p:nvPr/>
        </p:nvSpPr>
        <p:spPr>
          <a:xfrm>
            <a:off x="548640" y="1161288"/>
            <a:ext cx="594360" cy="594360"/>
          </a:xfrm>
          <a:prstGeom prst="ellipse">
            <a:avLst/>
          </a:prstGeom>
          <a:solidFill>
            <a:srgbClr val="E6192E">
              <a:alpha val="18000"/>
            </a:srgbClr>
          </a:solidFill>
          <a:ln w="12700">
            <a:solidFill>
              <a:srgbClr val="E6192E">
                <a:alpha val="18000"/>
              </a:srgbClr>
            </a:solidFill>
            <a:prstDash val="solid"/>
          </a:ln>
        </p:spPr>
      </p:sp>
      <p:sp>
        <p:nvSpPr>
          <p:cNvPr id="8" name="Text 6"/>
          <p:cNvSpPr/>
          <p:nvPr/>
        </p:nvSpPr>
        <p:spPr>
          <a:xfrm>
            <a:off x="548640" y="1161288"/>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9" name="Text 7"/>
          <p:cNvSpPr/>
          <p:nvPr/>
        </p:nvSpPr>
        <p:spPr>
          <a:xfrm>
            <a:off x="521208" y="1920240"/>
            <a:ext cx="2377440" cy="475488"/>
          </a:xfrm>
          <a:prstGeom prst="rect">
            <a:avLst/>
          </a:prstGeom>
          <a:noFill/>
          <a:ln/>
        </p:spPr>
        <p:txBody>
          <a:bodyPr wrap="square" lIns="0" tIns="0" rIns="0" bIns="0" rtlCol="0" anchor="ctr"/>
          <a:lstStyle/>
          <a:p>
            <a:pPr algn="l" indent="0" marL="0">
              <a:buNone/>
            </a:pPr>
            <a:r>
              <a:rPr lang="en-US" sz="1350" b="1" dirty="0">
                <a:solidFill>
                  <a:srgbClr val="1A1A1A"/>
                </a:solidFill>
                <a:latin typeface="Calibri" pitchFamily="34" charset="0"/>
                <a:ea typeface="Calibri" pitchFamily="34" charset="-122"/>
                <a:cs typeface="Calibri" pitchFamily="34" charset="-120"/>
              </a:rPr>
              <a:t>Desenganche Digital</a:t>
            </a:r>
            <a:endParaRPr lang="en-US" sz="1350" dirty="0"/>
          </a:p>
        </p:txBody>
      </p:sp>
      <p:sp>
        <p:nvSpPr>
          <p:cNvPr id="10" name="Text 8"/>
          <p:cNvSpPr/>
          <p:nvPr/>
        </p:nvSpPr>
        <p:spPr>
          <a:xfrm>
            <a:off x="521208" y="2468880"/>
            <a:ext cx="2377440" cy="1965960"/>
          </a:xfrm>
          <a:prstGeom prst="rect">
            <a:avLst/>
          </a:prstGeom>
          <a:noFill/>
          <a:ln/>
        </p:spPr>
        <p:txBody>
          <a:bodyPr wrap="square" lIns="0" tIns="0" rIns="0" bIns="0" rtlCol="0" anchor="t"/>
          <a:lstStyle/>
          <a:p>
            <a:pPr algn="l" indent="0" marL="0">
              <a:buNone/>
            </a:pPr>
            <a:r>
              <a:rPr lang="en-US" sz="1100" dirty="0">
                <a:solidFill>
                  <a:srgbClr val="555555"/>
                </a:solidFill>
                <a:latin typeface="Calibri" pitchFamily="34" charset="0"/>
                <a:ea typeface="Calibri" pitchFamily="34" charset="-122"/>
                <a:cs typeface="Calibri" pitchFamily="34" charset="-120"/>
              </a:rPr>
              <a:t>Las apps bancarias tienen alta tasa de abandono y bajo uso frecuente. Los clientes jóvenes perciben la banca como transaccional y sin diferencial de valor.</a:t>
            </a:r>
            <a:endParaRPr lang="en-US" sz="1100" dirty="0"/>
          </a:p>
        </p:txBody>
      </p:sp>
      <p:sp>
        <p:nvSpPr>
          <p:cNvPr id="11" name="Shape 9"/>
          <p:cNvSpPr/>
          <p:nvPr/>
        </p:nvSpPr>
        <p:spPr>
          <a:xfrm>
            <a:off x="3209544" y="960120"/>
            <a:ext cx="2651760" cy="3611880"/>
          </a:xfrm>
          <a:prstGeom prst="rect">
            <a:avLst/>
          </a:prstGeom>
          <a:solidFill>
            <a:srgbClr val="EEF2FF"/>
          </a:solidFill>
          <a:ln w="19050">
            <a:solidFill>
              <a:srgbClr val="6600FF"/>
            </a:solidFill>
            <a:prstDash val="solid"/>
          </a:ln>
          <a:effectLst>
            <a:outerShdw sx="100000" sy="100000" kx="0" ky="0" algn="bl" rotWithShape="0" blurRad="101600" dist="25400" dir="8100000">
              <a:srgbClr val="000000">
                <a:alpha val="12000"/>
              </a:srgbClr>
            </a:outerShdw>
          </a:effectLst>
        </p:spPr>
      </p:sp>
      <p:sp>
        <p:nvSpPr>
          <p:cNvPr id="12" name="Shape 10"/>
          <p:cNvSpPr/>
          <p:nvPr/>
        </p:nvSpPr>
        <p:spPr>
          <a:xfrm>
            <a:off x="3209544" y="960120"/>
            <a:ext cx="2651760" cy="73152"/>
          </a:xfrm>
          <a:prstGeom prst="rect">
            <a:avLst/>
          </a:prstGeom>
          <a:solidFill>
            <a:srgbClr val="6600FF"/>
          </a:solidFill>
          <a:ln w="12700">
            <a:solidFill>
              <a:srgbClr val="6600FF"/>
            </a:solidFill>
            <a:prstDash val="solid"/>
          </a:ln>
        </p:spPr>
      </p:sp>
      <p:sp>
        <p:nvSpPr>
          <p:cNvPr id="13" name="Shape 11"/>
          <p:cNvSpPr/>
          <p:nvPr/>
        </p:nvSpPr>
        <p:spPr>
          <a:xfrm>
            <a:off x="3374136" y="1161288"/>
            <a:ext cx="594360" cy="594360"/>
          </a:xfrm>
          <a:prstGeom prst="ellipse">
            <a:avLst/>
          </a:prstGeom>
          <a:solidFill>
            <a:srgbClr val="6600FF">
              <a:alpha val="18000"/>
            </a:srgbClr>
          </a:solidFill>
          <a:ln w="12700">
            <a:solidFill>
              <a:srgbClr val="6600FF">
                <a:alpha val="18000"/>
              </a:srgbClr>
            </a:solidFill>
            <a:prstDash val="solid"/>
          </a:ln>
        </p:spPr>
      </p:sp>
      <p:sp>
        <p:nvSpPr>
          <p:cNvPr id="14" name="Text 12"/>
          <p:cNvSpPr/>
          <p:nvPr/>
        </p:nvSpPr>
        <p:spPr>
          <a:xfrm>
            <a:off x="3374136" y="1161288"/>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5" name="Text 13"/>
          <p:cNvSpPr/>
          <p:nvPr/>
        </p:nvSpPr>
        <p:spPr>
          <a:xfrm>
            <a:off x="3346704" y="1920240"/>
            <a:ext cx="2377440" cy="475488"/>
          </a:xfrm>
          <a:prstGeom prst="rect">
            <a:avLst/>
          </a:prstGeom>
          <a:noFill/>
          <a:ln/>
        </p:spPr>
        <p:txBody>
          <a:bodyPr wrap="square" lIns="0" tIns="0" rIns="0" bIns="0" rtlCol="0" anchor="ctr"/>
          <a:lstStyle/>
          <a:p>
            <a:pPr algn="l" indent="0" marL="0">
              <a:buNone/>
            </a:pPr>
            <a:r>
              <a:rPr lang="en-US" sz="1350" b="1" dirty="0">
                <a:solidFill>
                  <a:srgbClr val="1A1A1A"/>
                </a:solidFill>
                <a:latin typeface="Calibri" pitchFamily="34" charset="0"/>
                <a:ea typeface="Calibri" pitchFamily="34" charset="-122"/>
                <a:cs typeface="Calibri" pitchFamily="34" charset="-120"/>
              </a:rPr>
              <a:t>Lealtad sin Personalización</a:t>
            </a:r>
            <a:endParaRPr lang="en-US" sz="1350" dirty="0"/>
          </a:p>
        </p:txBody>
      </p:sp>
      <p:sp>
        <p:nvSpPr>
          <p:cNvPr id="16" name="Text 14"/>
          <p:cNvSpPr/>
          <p:nvPr/>
        </p:nvSpPr>
        <p:spPr>
          <a:xfrm>
            <a:off x="3346704" y="2468880"/>
            <a:ext cx="2377440" cy="1965960"/>
          </a:xfrm>
          <a:prstGeom prst="rect">
            <a:avLst/>
          </a:prstGeom>
          <a:noFill/>
          <a:ln/>
        </p:spPr>
        <p:txBody>
          <a:bodyPr wrap="square" lIns="0" tIns="0" rIns="0" bIns="0" rtlCol="0" anchor="t"/>
          <a:lstStyle/>
          <a:p>
            <a:pPr algn="l" indent="0" marL="0">
              <a:buNone/>
            </a:pPr>
            <a:r>
              <a:rPr lang="en-US" sz="1100" dirty="0">
                <a:solidFill>
                  <a:srgbClr val="555555"/>
                </a:solidFill>
                <a:latin typeface="Calibri" pitchFamily="34" charset="0"/>
                <a:ea typeface="Calibri" pitchFamily="34" charset="-122"/>
                <a:cs typeface="Calibri" pitchFamily="34" charset="-120"/>
              </a:rPr>
              <a:t>Los programas de puntos asignan premios por volumen de gasto, sin considerar intereses reales. El resultado: premios irrelevantes que desincentivan la participación.</a:t>
            </a:r>
            <a:endParaRPr lang="en-US" sz="1100" dirty="0"/>
          </a:p>
        </p:txBody>
      </p:sp>
      <p:sp>
        <p:nvSpPr>
          <p:cNvPr id="17" name="Shape 15"/>
          <p:cNvSpPr/>
          <p:nvPr/>
        </p:nvSpPr>
        <p:spPr>
          <a:xfrm>
            <a:off x="6035040" y="960120"/>
            <a:ext cx="2651760" cy="3611880"/>
          </a:xfrm>
          <a:prstGeom prst="rect">
            <a:avLst/>
          </a:prstGeom>
          <a:solidFill>
            <a:srgbClr val="EEF2FF"/>
          </a:solidFill>
          <a:ln w="19050">
            <a:solidFill>
              <a:srgbClr val="003399"/>
            </a:solidFill>
            <a:prstDash val="solid"/>
          </a:ln>
          <a:effectLst>
            <a:outerShdw sx="100000" sy="100000" kx="0" ky="0" algn="bl" rotWithShape="0" blurRad="101600" dist="25400" dir="8100000">
              <a:srgbClr val="000000">
                <a:alpha val="12000"/>
              </a:srgbClr>
            </a:outerShdw>
          </a:effectLst>
        </p:spPr>
      </p:sp>
      <p:sp>
        <p:nvSpPr>
          <p:cNvPr id="18" name="Shape 16"/>
          <p:cNvSpPr/>
          <p:nvPr/>
        </p:nvSpPr>
        <p:spPr>
          <a:xfrm>
            <a:off x="6035040" y="960120"/>
            <a:ext cx="2651760" cy="73152"/>
          </a:xfrm>
          <a:prstGeom prst="rect">
            <a:avLst/>
          </a:prstGeom>
          <a:solidFill>
            <a:srgbClr val="003399"/>
          </a:solidFill>
          <a:ln w="12700">
            <a:solidFill>
              <a:srgbClr val="003399"/>
            </a:solidFill>
            <a:prstDash val="solid"/>
          </a:ln>
        </p:spPr>
      </p:sp>
      <p:sp>
        <p:nvSpPr>
          <p:cNvPr id="19" name="Shape 17"/>
          <p:cNvSpPr/>
          <p:nvPr/>
        </p:nvSpPr>
        <p:spPr>
          <a:xfrm>
            <a:off x="6199632" y="1161288"/>
            <a:ext cx="594360" cy="594360"/>
          </a:xfrm>
          <a:prstGeom prst="ellipse">
            <a:avLst/>
          </a:prstGeom>
          <a:solidFill>
            <a:srgbClr val="003399">
              <a:alpha val="18000"/>
            </a:srgbClr>
          </a:solidFill>
          <a:ln w="12700">
            <a:solidFill>
              <a:srgbClr val="003399">
                <a:alpha val="18000"/>
              </a:srgbClr>
            </a:solidFill>
            <a:prstDash val="solid"/>
          </a:ln>
        </p:spPr>
      </p:sp>
      <p:sp>
        <p:nvSpPr>
          <p:cNvPr id="20" name="Text 18"/>
          <p:cNvSpPr/>
          <p:nvPr/>
        </p:nvSpPr>
        <p:spPr>
          <a:xfrm>
            <a:off x="6199632" y="1161288"/>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1" name="Text 19"/>
          <p:cNvSpPr/>
          <p:nvPr/>
        </p:nvSpPr>
        <p:spPr>
          <a:xfrm>
            <a:off x="6172200" y="1920240"/>
            <a:ext cx="2377440" cy="475488"/>
          </a:xfrm>
          <a:prstGeom prst="rect">
            <a:avLst/>
          </a:prstGeom>
          <a:noFill/>
          <a:ln/>
        </p:spPr>
        <p:txBody>
          <a:bodyPr wrap="square" lIns="0" tIns="0" rIns="0" bIns="0" rtlCol="0" anchor="ctr"/>
          <a:lstStyle/>
          <a:p>
            <a:pPr algn="l" indent="0" marL="0">
              <a:buNone/>
            </a:pPr>
            <a:r>
              <a:rPr lang="en-US" sz="1350" b="1" dirty="0">
                <a:solidFill>
                  <a:srgbClr val="1A1A1A"/>
                </a:solidFill>
                <a:latin typeface="Calibri" pitchFamily="34" charset="0"/>
                <a:ea typeface="Calibri" pitchFamily="34" charset="-122"/>
                <a:cs typeface="Calibri" pitchFamily="34" charset="-120"/>
              </a:rPr>
              <a:t>IA Ausente en la Experiencia</a:t>
            </a:r>
            <a:endParaRPr lang="en-US" sz="1350" dirty="0"/>
          </a:p>
        </p:txBody>
      </p:sp>
      <p:sp>
        <p:nvSpPr>
          <p:cNvPr id="22" name="Text 20"/>
          <p:cNvSpPr/>
          <p:nvPr/>
        </p:nvSpPr>
        <p:spPr>
          <a:xfrm>
            <a:off x="6172200" y="2468880"/>
            <a:ext cx="2377440" cy="1965960"/>
          </a:xfrm>
          <a:prstGeom prst="rect">
            <a:avLst/>
          </a:prstGeom>
          <a:noFill/>
          <a:ln/>
        </p:spPr>
        <p:txBody>
          <a:bodyPr wrap="square" lIns="0" tIns="0" rIns="0" bIns="0" rtlCol="0" anchor="t"/>
          <a:lstStyle/>
          <a:p>
            <a:pPr algn="l" indent="0" marL="0">
              <a:buNone/>
            </a:pPr>
            <a:r>
              <a:rPr lang="en-US" sz="1100" dirty="0">
                <a:solidFill>
                  <a:srgbClr val="555555"/>
                </a:solidFill>
                <a:latin typeface="Calibri" pitchFamily="34" charset="0"/>
                <a:ea typeface="Calibri" pitchFamily="34" charset="-122"/>
                <a:cs typeface="Calibri" pitchFamily="34" charset="-120"/>
              </a:rPr>
              <a:t>La IA bancaria se usa en fraude y scoring interno, pero rara vez para mejorar la experiencia del cliente en tiempo real: personalización, recomendaciones, conversaciones.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600FF"/>
        </a:solidFill>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003399">
              <a:alpha val="40000"/>
            </a:srgbClr>
          </a:solidFill>
          <a:ln w="12700">
            <a:solidFill>
              <a:srgbClr val="003399">
                <a:alpha val="40000"/>
              </a:srgbClr>
            </a:solidFill>
            <a:prstDash val="solid"/>
          </a:ln>
        </p:spPr>
      </p:sp>
      <p:sp>
        <p:nvSpPr>
          <p:cNvPr id="3" name="Shape 1"/>
          <p:cNvSpPr/>
          <p:nvPr/>
        </p:nvSpPr>
        <p:spPr>
          <a:xfrm>
            <a:off x="-1828800" y="2743200"/>
            <a:ext cx="5029200" cy="5029200"/>
          </a:xfrm>
          <a:prstGeom prst="ellipse">
            <a:avLst/>
          </a:prstGeom>
          <a:solidFill>
            <a:srgbClr val="E6192E">
              <a:alpha val="28000"/>
            </a:srgbClr>
          </a:solidFill>
          <a:ln w="12700">
            <a:solidFill>
              <a:srgbClr val="E6192E">
                <a:alpha val="28000"/>
              </a:srgbClr>
            </a:solidFill>
            <a:prstDash val="solid"/>
          </a:ln>
        </p:spPr>
      </p:sp>
      <p:sp>
        <p:nvSpPr>
          <p:cNvPr id="4" name="Shape 2"/>
          <p:cNvSpPr/>
          <p:nvPr/>
        </p:nvSpPr>
        <p:spPr>
          <a:xfrm>
            <a:off x="0" y="4754880"/>
            <a:ext cx="9144000" cy="388620"/>
          </a:xfrm>
          <a:prstGeom prst="rect">
            <a:avLst/>
          </a:prstGeom>
          <a:solidFill>
            <a:srgbClr val="003399"/>
          </a:solidFill>
          <a:ln w="12700">
            <a:solidFill>
              <a:srgbClr val="003399"/>
            </a:solidFill>
            <a:prstDash val="solid"/>
          </a:ln>
        </p:spPr>
      </p:sp>
      <p:sp>
        <p:nvSpPr>
          <p:cNvPr id="5" name="Shape 3"/>
          <p:cNvSpPr/>
          <p:nvPr/>
        </p:nvSpPr>
        <p:spPr>
          <a:xfrm>
            <a:off x="457200" y="1417320"/>
            <a:ext cx="118872" cy="2423160"/>
          </a:xfrm>
          <a:prstGeom prst="rect">
            <a:avLst/>
          </a:prstGeom>
          <a:solidFill>
            <a:srgbClr val="D1FF00"/>
          </a:solidFill>
          <a:ln w="12700">
            <a:solidFill>
              <a:srgbClr val="D1FF00"/>
            </a:solidFill>
            <a:prstDash val="solid"/>
          </a:ln>
        </p:spPr>
      </p:sp>
      <p:sp>
        <p:nvSpPr>
          <p:cNvPr id="6" name="Text 4"/>
          <p:cNvSpPr/>
          <p:nvPr/>
        </p:nvSpPr>
        <p:spPr>
          <a:xfrm>
            <a:off x="731520" y="1325880"/>
            <a:ext cx="3657600" cy="347472"/>
          </a:xfrm>
          <a:prstGeom prst="rect">
            <a:avLst/>
          </a:prstGeom>
          <a:noFill/>
          <a:ln/>
        </p:spPr>
        <p:txBody>
          <a:bodyPr wrap="square" lIns="0" tIns="0" rIns="0" bIns="0" rtlCol="0" anchor="ctr"/>
          <a:lstStyle/>
          <a:p>
            <a:pPr algn="l" indent="0" marL="0">
              <a:buNone/>
            </a:pPr>
            <a:r>
              <a:rPr lang="en-US" sz="1100" b="1" dirty="0">
                <a:solidFill>
                  <a:srgbClr val="D1FF00"/>
                </a:solidFill>
                <a:latin typeface="Calibri" pitchFamily="34" charset="0"/>
                <a:ea typeface="Calibri" pitchFamily="34" charset="-122"/>
                <a:cs typeface="Calibri" pitchFamily="34" charset="-120"/>
              </a:rPr>
              <a:t>02 —</a:t>
            </a:r>
            <a:endParaRPr lang="en-US" sz="1100" dirty="0"/>
          </a:p>
        </p:txBody>
      </p:sp>
      <p:sp>
        <p:nvSpPr>
          <p:cNvPr id="7" name="Text 5"/>
          <p:cNvSpPr/>
          <p:nvPr/>
        </p:nvSpPr>
        <p:spPr>
          <a:xfrm>
            <a:off x="731520" y="1691640"/>
            <a:ext cx="7772400" cy="150876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Oportunidad</a:t>
            </a:r>
            <a:endParaRPr lang="en-US" sz="4000" dirty="0"/>
          </a:p>
        </p:txBody>
      </p:sp>
      <p:sp>
        <p:nvSpPr>
          <p:cNvPr id="8" name="Text 6"/>
          <p:cNvSpPr/>
          <p:nvPr/>
        </p:nvSpPr>
        <p:spPr>
          <a:xfrm>
            <a:off x="731520" y="3291840"/>
            <a:ext cx="7315200" cy="475488"/>
          </a:xfrm>
          <a:prstGeom prst="rect">
            <a:avLst/>
          </a:prstGeom>
          <a:noFill/>
          <a:ln/>
        </p:spPr>
        <p:txBody>
          <a:bodyPr wrap="square" lIns="0" tIns="0" rIns="0" bIns="0" rtlCol="0" anchor="ctr"/>
          <a:lstStyle/>
          <a:p>
            <a:pPr algn="l" indent="0" marL="0">
              <a:buNone/>
            </a:pPr>
            <a:r>
              <a:rPr lang="en-US" sz="1500" dirty="0">
                <a:solidFill>
                  <a:srgbClr val="D1FF00"/>
                </a:solidFill>
                <a:latin typeface="Calibri" pitchFamily="34" charset="0"/>
                <a:ea typeface="Calibri" pitchFamily="34" charset="-122"/>
                <a:cs typeface="Calibri" pitchFamily="34" charset="-120"/>
              </a:rPr>
              <a:t>El Mundial 2026 como catalizador de una nueva relación bancaria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Los Tres Ejes de Oportunidad</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Shape 3"/>
          <p:cNvSpPr/>
          <p:nvPr/>
        </p:nvSpPr>
        <p:spPr>
          <a:xfrm>
            <a:off x="411480" y="1005840"/>
            <a:ext cx="2606040" cy="3520440"/>
          </a:xfrm>
          <a:prstGeom prst="rect">
            <a:avLst/>
          </a:prstGeom>
          <a:solidFill>
            <a:srgbClr val="FFFFFF"/>
          </a:solidFill>
          <a:ln w="25400">
            <a:solidFill>
              <a:srgbClr val="E6192E"/>
            </a:solidFill>
            <a:prstDash val="solid"/>
          </a:ln>
          <a:effectLst>
            <a:outerShdw sx="100000" sy="100000" kx="0" ky="0" algn="bl" rotWithShape="0" blurRad="101600" dist="25400" dir="8100000">
              <a:srgbClr val="000000">
                <a:alpha val="12000"/>
              </a:srgbClr>
            </a:outerShdw>
          </a:effectLst>
        </p:spPr>
      </p:sp>
      <p:sp>
        <p:nvSpPr>
          <p:cNvPr id="6" name="Text 4"/>
          <p:cNvSpPr/>
          <p:nvPr/>
        </p:nvSpPr>
        <p:spPr>
          <a:xfrm>
            <a:off x="484632" y="1097280"/>
            <a:ext cx="2459736" cy="868680"/>
          </a:xfrm>
          <a:prstGeom prst="rect">
            <a:avLst/>
          </a:prstGeom>
          <a:noFill/>
          <a:ln/>
        </p:spPr>
        <p:txBody>
          <a:bodyPr wrap="square" lIns="0" tIns="0" rIns="0" bIns="0" rtlCol="0" anchor="ctr"/>
          <a:lstStyle/>
          <a:p>
            <a:pPr algn="l" indent="0" marL="0">
              <a:buNone/>
            </a:pPr>
            <a:r>
              <a:rPr lang="en-US" sz="5200" b="1" dirty="0">
                <a:solidFill>
                  <a:srgbClr val="E6192E">
                    <a:alpha val="80000"/>
                  </a:srgbClr>
                </a:solidFill>
                <a:latin typeface="Calibri" pitchFamily="34" charset="0"/>
                <a:ea typeface="Calibri" pitchFamily="34" charset="-122"/>
                <a:cs typeface="Calibri" pitchFamily="34" charset="-120"/>
              </a:rPr>
              <a:t>01</a:t>
            </a:r>
            <a:endParaRPr lang="en-US" sz="5200" dirty="0"/>
          </a:p>
        </p:txBody>
      </p:sp>
      <p:sp>
        <p:nvSpPr>
          <p:cNvPr id="7" name="Text 5"/>
          <p:cNvSpPr/>
          <p:nvPr/>
        </p:nvSpPr>
        <p:spPr>
          <a:xfrm>
            <a:off x="548640" y="2011680"/>
            <a:ext cx="2331720" cy="457200"/>
          </a:xfrm>
          <a:prstGeom prst="rect">
            <a:avLst/>
          </a:prstGeom>
          <a:noFill/>
          <a:ln/>
        </p:spPr>
        <p:txBody>
          <a:bodyPr wrap="square" lIns="0" tIns="0" rIns="0" bIns="0" rtlCol="0" anchor="ctr"/>
          <a:lstStyle/>
          <a:p>
            <a:pPr algn="l" indent="0" marL="0">
              <a:buNone/>
            </a:pPr>
            <a:r>
              <a:rPr lang="en-US" sz="1600" b="1" dirty="0">
                <a:solidFill>
                  <a:srgbClr val="E6192E"/>
                </a:solidFill>
                <a:latin typeface="Calibri" pitchFamily="34" charset="0"/>
                <a:ea typeface="Calibri" pitchFamily="34" charset="-122"/>
                <a:cs typeface="Calibri" pitchFamily="34" charset="-120"/>
              </a:rPr>
              <a:t>Gamificación</a:t>
            </a:r>
            <a:endParaRPr lang="en-US" sz="1600" dirty="0"/>
          </a:p>
        </p:txBody>
      </p:sp>
      <p:sp>
        <p:nvSpPr>
          <p:cNvPr id="8" name="Text 6"/>
          <p:cNvSpPr/>
          <p:nvPr/>
        </p:nvSpPr>
        <p:spPr>
          <a:xfrm>
            <a:off x="548640" y="2487168"/>
            <a:ext cx="2331720" cy="347472"/>
          </a:xfrm>
          <a:prstGeom prst="rect">
            <a:avLst/>
          </a:prstGeom>
          <a:noFill/>
          <a:ln/>
        </p:spPr>
        <p:txBody>
          <a:bodyPr wrap="square" lIns="0" tIns="0" rIns="0" bIns="0" rtlCol="0" anchor="ctr"/>
          <a:lstStyle/>
          <a:p>
            <a:pPr algn="l" indent="0" marL="0">
              <a:buNone/>
            </a:pPr>
            <a:r>
              <a:rPr lang="en-US" sz="1050" b="1" dirty="0">
                <a:solidFill>
                  <a:srgbClr val="888888"/>
                </a:solidFill>
                <a:latin typeface="Calibri" pitchFamily="34" charset="0"/>
                <a:ea typeface="Calibri" pitchFamily="34" charset="-122"/>
                <a:cs typeface="Calibri" pitchFamily="34" charset="-120"/>
              </a:rPr>
              <a:t>Motor de engagement sostenido</a:t>
            </a:r>
            <a:endParaRPr lang="en-US" sz="1050" dirty="0"/>
          </a:p>
        </p:txBody>
      </p:sp>
      <p:sp>
        <p:nvSpPr>
          <p:cNvPr id="9" name="Shape 7"/>
          <p:cNvSpPr/>
          <p:nvPr/>
        </p:nvSpPr>
        <p:spPr>
          <a:xfrm>
            <a:off x="548640" y="2880360"/>
            <a:ext cx="2331720" cy="0"/>
          </a:xfrm>
          <a:prstGeom prst="line">
            <a:avLst/>
          </a:prstGeom>
          <a:noFill/>
          <a:ln w="12700">
            <a:solidFill>
              <a:srgbClr val="E6192E">
                <a:alpha val="40000"/>
              </a:srgbClr>
            </a:solidFill>
            <a:prstDash val="solid"/>
          </a:ln>
        </p:spPr>
      </p:sp>
      <p:sp>
        <p:nvSpPr>
          <p:cNvPr id="10" name="Text 8"/>
          <p:cNvSpPr/>
          <p:nvPr/>
        </p:nvSpPr>
        <p:spPr>
          <a:xfrm>
            <a:off x="548640" y="2971800"/>
            <a:ext cx="2331720" cy="141732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Vincular las interacciones financieras (consumos, productos, antigüedad) con mecánicas de juego: pronósticos, cromos coleccionables, ligas y grupos competitivos.</a:t>
            </a:r>
            <a:endParaRPr lang="en-US" sz="1050" dirty="0"/>
          </a:p>
        </p:txBody>
      </p:sp>
      <p:sp>
        <p:nvSpPr>
          <p:cNvPr id="11" name="Shape 9"/>
          <p:cNvSpPr/>
          <p:nvPr/>
        </p:nvSpPr>
        <p:spPr>
          <a:xfrm>
            <a:off x="3200400" y="1005840"/>
            <a:ext cx="2606040" cy="3520440"/>
          </a:xfrm>
          <a:prstGeom prst="rect">
            <a:avLst/>
          </a:prstGeom>
          <a:solidFill>
            <a:srgbClr val="FFFFFF"/>
          </a:solidFill>
          <a:ln w="25400">
            <a:solidFill>
              <a:srgbClr val="6600FF"/>
            </a:solidFill>
            <a:prstDash val="solid"/>
          </a:ln>
          <a:effectLst>
            <a:outerShdw sx="100000" sy="100000" kx="0" ky="0" algn="bl" rotWithShape="0" blurRad="101600" dist="25400" dir="8100000">
              <a:srgbClr val="000000">
                <a:alpha val="12000"/>
              </a:srgbClr>
            </a:outerShdw>
          </a:effectLst>
        </p:spPr>
      </p:sp>
      <p:sp>
        <p:nvSpPr>
          <p:cNvPr id="12" name="Text 10"/>
          <p:cNvSpPr/>
          <p:nvPr/>
        </p:nvSpPr>
        <p:spPr>
          <a:xfrm>
            <a:off x="3273552" y="1097280"/>
            <a:ext cx="2459736" cy="868680"/>
          </a:xfrm>
          <a:prstGeom prst="rect">
            <a:avLst/>
          </a:prstGeom>
          <a:noFill/>
          <a:ln/>
        </p:spPr>
        <p:txBody>
          <a:bodyPr wrap="square" lIns="0" tIns="0" rIns="0" bIns="0" rtlCol="0" anchor="ctr"/>
          <a:lstStyle/>
          <a:p>
            <a:pPr algn="l" indent="0" marL="0">
              <a:buNone/>
            </a:pPr>
            <a:r>
              <a:rPr lang="en-US" sz="5200" b="1" dirty="0">
                <a:solidFill>
                  <a:srgbClr val="6600FF">
                    <a:alpha val="80000"/>
                  </a:srgbClr>
                </a:solidFill>
                <a:latin typeface="Calibri" pitchFamily="34" charset="0"/>
                <a:ea typeface="Calibri" pitchFamily="34" charset="-122"/>
                <a:cs typeface="Calibri" pitchFamily="34" charset="-120"/>
              </a:rPr>
              <a:t>02</a:t>
            </a:r>
            <a:endParaRPr lang="en-US" sz="5200" dirty="0"/>
          </a:p>
        </p:txBody>
      </p:sp>
      <p:sp>
        <p:nvSpPr>
          <p:cNvPr id="13" name="Text 11"/>
          <p:cNvSpPr/>
          <p:nvPr/>
        </p:nvSpPr>
        <p:spPr>
          <a:xfrm>
            <a:off x="3337560" y="2011680"/>
            <a:ext cx="2331720" cy="457200"/>
          </a:xfrm>
          <a:prstGeom prst="rect">
            <a:avLst/>
          </a:prstGeom>
          <a:noFill/>
          <a:ln/>
        </p:spPr>
        <p:txBody>
          <a:bodyPr wrap="square" lIns="0" tIns="0" rIns="0" bIns="0" rtlCol="0" anchor="ctr"/>
          <a:lstStyle/>
          <a:p>
            <a:pPr algn="l" indent="0" marL="0">
              <a:buNone/>
            </a:pPr>
            <a:r>
              <a:rPr lang="en-US" sz="1600" b="1" dirty="0">
                <a:solidFill>
                  <a:srgbClr val="6600FF"/>
                </a:solidFill>
                <a:latin typeface="Calibri" pitchFamily="34" charset="0"/>
                <a:ea typeface="Calibri" pitchFamily="34" charset="-122"/>
                <a:cs typeface="Calibri" pitchFamily="34" charset="-120"/>
              </a:rPr>
              <a:t>IA Personalizada</a:t>
            </a:r>
            <a:endParaRPr lang="en-US" sz="1600" dirty="0"/>
          </a:p>
        </p:txBody>
      </p:sp>
      <p:sp>
        <p:nvSpPr>
          <p:cNvPr id="14" name="Text 12"/>
          <p:cNvSpPr/>
          <p:nvPr/>
        </p:nvSpPr>
        <p:spPr>
          <a:xfrm>
            <a:off x="3337560" y="2487168"/>
            <a:ext cx="2331720" cy="347472"/>
          </a:xfrm>
          <a:prstGeom prst="rect">
            <a:avLst/>
          </a:prstGeom>
          <a:noFill/>
          <a:ln/>
        </p:spPr>
        <p:txBody>
          <a:bodyPr wrap="square" lIns="0" tIns="0" rIns="0" bIns="0" rtlCol="0" anchor="ctr"/>
          <a:lstStyle/>
          <a:p>
            <a:pPr algn="l" indent="0" marL="0">
              <a:buNone/>
            </a:pPr>
            <a:r>
              <a:rPr lang="en-US" sz="1050" b="1" dirty="0">
                <a:solidFill>
                  <a:srgbClr val="888888"/>
                </a:solidFill>
                <a:latin typeface="Calibri" pitchFamily="34" charset="0"/>
                <a:ea typeface="Calibri" pitchFamily="34" charset="-122"/>
                <a:cs typeface="Calibri" pitchFamily="34" charset="-120"/>
              </a:rPr>
              <a:t>Del catálogo genérico al premio ideal</a:t>
            </a:r>
            <a:endParaRPr lang="en-US" sz="1050" dirty="0"/>
          </a:p>
        </p:txBody>
      </p:sp>
      <p:sp>
        <p:nvSpPr>
          <p:cNvPr id="15" name="Shape 13"/>
          <p:cNvSpPr/>
          <p:nvPr/>
        </p:nvSpPr>
        <p:spPr>
          <a:xfrm>
            <a:off x="3337560" y="2880360"/>
            <a:ext cx="2331720" cy="0"/>
          </a:xfrm>
          <a:prstGeom prst="line">
            <a:avLst/>
          </a:prstGeom>
          <a:noFill/>
          <a:ln w="12700">
            <a:solidFill>
              <a:srgbClr val="6600FF">
                <a:alpha val="40000"/>
              </a:srgbClr>
            </a:solidFill>
            <a:prstDash val="solid"/>
          </a:ln>
        </p:spPr>
      </p:sp>
      <p:sp>
        <p:nvSpPr>
          <p:cNvPr id="16" name="Text 14"/>
          <p:cNvSpPr/>
          <p:nvPr/>
        </p:nvSpPr>
        <p:spPr>
          <a:xfrm>
            <a:off x="3337560" y="2971800"/>
            <a:ext cx="2331720" cy="141732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Segmentar al cliente de forma granular combinando su perfil financiero, comportamiento digital y patrones de consumo para ofrecer beneficios genuinamente relevantes.</a:t>
            </a:r>
            <a:endParaRPr lang="en-US" sz="1050" dirty="0"/>
          </a:p>
        </p:txBody>
      </p:sp>
      <p:sp>
        <p:nvSpPr>
          <p:cNvPr id="17" name="Shape 15"/>
          <p:cNvSpPr/>
          <p:nvPr/>
        </p:nvSpPr>
        <p:spPr>
          <a:xfrm>
            <a:off x="5989320" y="1005840"/>
            <a:ext cx="2606040" cy="3520440"/>
          </a:xfrm>
          <a:prstGeom prst="rect">
            <a:avLst/>
          </a:prstGeom>
          <a:solidFill>
            <a:srgbClr val="FFFFFF"/>
          </a:solidFill>
          <a:ln w="25400">
            <a:solidFill>
              <a:srgbClr val="003399"/>
            </a:solidFill>
            <a:prstDash val="solid"/>
          </a:ln>
          <a:effectLst>
            <a:outerShdw sx="100000" sy="100000" kx="0" ky="0" algn="bl" rotWithShape="0" blurRad="101600" dist="25400" dir="8100000">
              <a:srgbClr val="000000">
                <a:alpha val="12000"/>
              </a:srgbClr>
            </a:outerShdw>
          </a:effectLst>
        </p:spPr>
      </p:sp>
      <p:sp>
        <p:nvSpPr>
          <p:cNvPr id="18" name="Text 16"/>
          <p:cNvSpPr/>
          <p:nvPr/>
        </p:nvSpPr>
        <p:spPr>
          <a:xfrm>
            <a:off x="6062472" y="1097280"/>
            <a:ext cx="2459736" cy="868680"/>
          </a:xfrm>
          <a:prstGeom prst="rect">
            <a:avLst/>
          </a:prstGeom>
          <a:noFill/>
          <a:ln/>
        </p:spPr>
        <p:txBody>
          <a:bodyPr wrap="square" lIns="0" tIns="0" rIns="0" bIns="0" rtlCol="0" anchor="ctr"/>
          <a:lstStyle/>
          <a:p>
            <a:pPr algn="l" indent="0" marL="0">
              <a:buNone/>
            </a:pPr>
            <a:r>
              <a:rPr lang="en-US" sz="5200" b="1" dirty="0">
                <a:solidFill>
                  <a:srgbClr val="003399">
                    <a:alpha val="80000"/>
                  </a:srgbClr>
                </a:solidFill>
                <a:latin typeface="Calibri" pitchFamily="34" charset="0"/>
                <a:ea typeface="Calibri" pitchFamily="34" charset="-122"/>
                <a:cs typeface="Calibri" pitchFamily="34" charset="-120"/>
              </a:rPr>
              <a:t>03</a:t>
            </a:r>
            <a:endParaRPr lang="en-US" sz="5200" dirty="0"/>
          </a:p>
        </p:txBody>
      </p:sp>
      <p:sp>
        <p:nvSpPr>
          <p:cNvPr id="19" name="Text 17"/>
          <p:cNvSpPr/>
          <p:nvPr/>
        </p:nvSpPr>
        <p:spPr>
          <a:xfrm>
            <a:off x="6126480" y="2011680"/>
            <a:ext cx="2331720" cy="457200"/>
          </a:xfrm>
          <a:prstGeom prst="rect">
            <a:avLst/>
          </a:prstGeom>
          <a:noFill/>
          <a:ln/>
        </p:spPr>
        <p:txBody>
          <a:bodyPr wrap="square" lIns="0" tIns="0" rIns="0" bIns="0" rtlCol="0" anchor="ctr"/>
          <a:lstStyle/>
          <a:p>
            <a:pPr algn="l" indent="0" marL="0">
              <a:buNone/>
            </a:pPr>
            <a:r>
              <a:rPr lang="en-US" sz="1600" b="1" dirty="0">
                <a:solidFill>
                  <a:srgbClr val="003399"/>
                </a:solidFill>
                <a:latin typeface="Calibri" pitchFamily="34" charset="0"/>
                <a:ea typeface="Calibri" pitchFamily="34" charset="-122"/>
                <a:cs typeface="Calibri" pitchFamily="34" charset="-120"/>
              </a:rPr>
              <a:t>Chatbot Deportivo</a:t>
            </a:r>
            <a:endParaRPr lang="en-US" sz="1600" dirty="0"/>
          </a:p>
        </p:txBody>
      </p:sp>
      <p:sp>
        <p:nvSpPr>
          <p:cNvPr id="20" name="Text 18"/>
          <p:cNvSpPr/>
          <p:nvPr/>
        </p:nvSpPr>
        <p:spPr>
          <a:xfrm>
            <a:off x="6126480" y="2487168"/>
            <a:ext cx="2331720" cy="347472"/>
          </a:xfrm>
          <a:prstGeom prst="rect">
            <a:avLst/>
          </a:prstGeom>
          <a:noFill/>
          <a:ln/>
        </p:spPr>
        <p:txBody>
          <a:bodyPr wrap="square" lIns="0" tIns="0" rIns="0" bIns="0" rtlCol="0" anchor="ctr"/>
          <a:lstStyle/>
          <a:p>
            <a:pPr algn="l" indent="0" marL="0">
              <a:buNone/>
            </a:pPr>
            <a:r>
              <a:rPr lang="en-US" sz="1050" b="1" dirty="0">
                <a:solidFill>
                  <a:srgbClr val="888888"/>
                </a:solidFill>
                <a:latin typeface="Calibri" pitchFamily="34" charset="0"/>
                <a:ea typeface="Calibri" pitchFamily="34" charset="-122"/>
                <a:cs typeface="Calibri" pitchFamily="34" charset="-120"/>
              </a:rPr>
              <a:t>La puerta de entrada diaria</a:t>
            </a:r>
            <a:endParaRPr lang="en-US" sz="1050" dirty="0"/>
          </a:p>
        </p:txBody>
      </p:sp>
      <p:sp>
        <p:nvSpPr>
          <p:cNvPr id="21" name="Shape 19"/>
          <p:cNvSpPr/>
          <p:nvPr/>
        </p:nvSpPr>
        <p:spPr>
          <a:xfrm>
            <a:off x="6126480" y="2880360"/>
            <a:ext cx="2331720" cy="0"/>
          </a:xfrm>
          <a:prstGeom prst="line">
            <a:avLst/>
          </a:prstGeom>
          <a:noFill/>
          <a:ln w="12700">
            <a:solidFill>
              <a:srgbClr val="003399">
                <a:alpha val="40000"/>
              </a:srgbClr>
            </a:solidFill>
            <a:prstDash val="solid"/>
          </a:ln>
        </p:spPr>
      </p:sp>
      <p:sp>
        <p:nvSpPr>
          <p:cNvPr id="22" name="Text 20"/>
          <p:cNvSpPr/>
          <p:nvPr/>
        </p:nvSpPr>
        <p:spPr>
          <a:xfrm>
            <a:off x="6126480" y="2971800"/>
            <a:ext cx="2331720" cy="141732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Un agente conversacional que analiza partidos del Mundial con estadísticas en tiempo real le da al cliente un motivo concreto para abrir la app del banco todos los días.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3399"/>
        </a:solidFill>
      </p:bgPr>
    </p:bg>
    <p:spTree>
      <p:nvGrpSpPr>
        <p:cNvPr id="1" name=""/>
        <p:cNvGrpSpPr/>
        <p:nvPr/>
      </p:nvGrpSpPr>
      <p:grpSpPr>
        <a:xfrm>
          <a:off x="0" y="0"/>
          <a:ext cx="0" cy="0"/>
          <a:chOff x="0" y="0"/>
          <a:chExt cx="0" cy="0"/>
        </a:xfrm>
      </p:grpSpPr>
      <p:sp>
        <p:nvSpPr>
          <p:cNvPr id="2" name="Shape 0"/>
          <p:cNvSpPr/>
          <p:nvPr/>
        </p:nvSpPr>
        <p:spPr>
          <a:xfrm>
            <a:off x="6400800" y="-1371600"/>
            <a:ext cx="5486400" cy="5486400"/>
          </a:xfrm>
          <a:prstGeom prst="ellipse">
            <a:avLst/>
          </a:prstGeom>
          <a:solidFill>
            <a:srgbClr val="6600FF">
              <a:alpha val="35000"/>
            </a:srgbClr>
          </a:solidFill>
          <a:ln w="12700">
            <a:solidFill>
              <a:srgbClr val="6600FF">
                <a:alpha val="35000"/>
              </a:srgbClr>
            </a:solidFill>
            <a:prstDash val="solid"/>
          </a:ln>
        </p:spPr>
      </p:sp>
      <p:sp>
        <p:nvSpPr>
          <p:cNvPr id="3" name="Shape 1"/>
          <p:cNvSpPr/>
          <p:nvPr/>
        </p:nvSpPr>
        <p:spPr>
          <a:xfrm>
            <a:off x="-1371600" y="3200400"/>
            <a:ext cx="4572000" cy="4572000"/>
          </a:xfrm>
          <a:prstGeom prst="ellipse">
            <a:avLst/>
          </a:prstGeom>
          <a:solidFill>
            <a:srgbClr val="E6192E">
              <a:alpha val="25000"/>
            </a:srgbClr>
          </a:solidFill>
          <a:ln w="12700">
            <a:solidFill>
              <a:srgbClr val="E6192E">
                <a:alpha val="25000"/>
              </a:srgbClr>
            </a:solidFill>
            <a:prstDash val="solid"/>
          </a:ln>
        </p:spPr>
      </p:sp>
      <p:sp>
        <p:nvSpPr>
          <p:cNvPr id="4" name="Shape 2"/>
          <p:cNvSpPr/>
          <p:nvPr/>
        </p:nvSpPr>
        <p:spPr>
          <a:xfrm>
            <a:off x="0" y="4754880"/>
            <a:ext cx="9144000" cy="388620"/>
          </a:xfrm>
          <a:prstGeom prst="rect">
            <a:avLst/>
          </a:prstGeom>
          <a:solidFill>
            <a:srgbClr val="6600FF"/>
          </a:solidFill>
          <a:ln w="12700">
            <a:solidFill>
              <a:srgbClr val="6600FF"/>
            </a:solidFill>
            <a:prstDash val="solid"/>
          </a:ln>
        </p:spPr>
      </p:sp>
      <p:sp>
        <p:nvSpPr>
          <p:cNvPr id="5" name="Text 3"/>
          <p:cNvSpPr/>
          <p:nvPr/>
        </p:nvSpPr>
        <p:spPr>
          <a:xfrm>
            <a:off x="548640" y="365760"/>
            <a:ext cx="3657600" cy="347472"/>
          </a:xfrm>
          <a:prstGeom prst="rect">
            <a:avLst/>
          </a:prstGeom>
          <a:noFill/>
          <a:ln/>
        </p:spPr>
        <p:txBody>
          <a:bodyPr wrap="square" lIns="0" tIns="0" rIns="0" bIns="0" rtlCol="0" anchor="ctr"/>
          <a:lstStyle/>
          <a:p>
            <a:pPr algn="l" indent="0" marL="0">
              <a:buNone/>
            </a:pPr>
            <a:r>
              <a:rPr lang="en-US" sz="1100" b="1" dirty="0">
                <a:solidFill>
                  <a:srgbClr val="D1FF00"/>
                </a:solidFill>
                <a:latin typeface="Calibri" pitchFamily="34" charset="0"/>
                <a:ea typeface="Calibri" pitchFamily="34" charset="-122"/>
                <a:cs typeface="Calibri" pitchFamily="34" charset="-120"/>
              </a:rPr>
              <a:t>03 — VISIÓN</a:t>
            </a:r>
            <a:endParaRPr lang="en-US" sz="1100" dirty="0"/>
          </a:p>
        </p:txBody>
      </p:sp>
      <p:sp>
        <p:nvSpPr>
          <p:cNvPr id="6" name="Text 4"/>
          <p:cNvSpPr/>
          <p:nvPr/>
        </p:nvSpPr>
        <p:spPr>
          <a:xfrm>
            <a:off x="365760" y="640080"/>
            <a:ext cx="1371600" cy="1097280"/>
          </a:xfrm>
          <a:prstGeom prst="rect">
            <a:avLst/>
          </a:prstGeom>
          <a:noFill/>
          <a:ln/>
        </p:spPr>
        <p:txBody>
          <a:bodyPr wrap="square" lIns="0" tIns="0" rIns="0" bIns="0" rtlCol="0" anchor="ctr"/>
          <a:lstStyle/>
          <a:p>
            <a:pPr algn="l" indent="0" marL="0">
              <a:buNone/>
            </a:pPr>
            <a:r>
              <a:rPr lang="en-US" sz="9000" b="1" dirty="0">
                <a:solidFill>
                  <a:srgbClr val="D1FF00">
                    <a:alpha val="80000"/>
                  </a:srgbClr>
                </a:solidFill>
                <a:latin typeface="Calibri" pitchFamily="34" charset="0"/>
                <a:ea typeface="Calibri" pitchFamily="34" charset="-122"/>
                <a:cs typeface="Calibri" pitchFamily="34" charset="-120"/>
              </a:rPr>
              <a:t>“</a:t>
            </a:r>
            <a:endParaRPr lang="en-US" sz="9000" dirty="0"/>
          </a:p>
        </p:txBody>
      </p:sp>
      <p:sp>
        <p:nvSpPr>
          <p:cNvPr id="7" name="Text 5"/>
          <p:cNvSpPr/>
          <p:nvPr/>
        </p:nvSpPr>
        <p:spPr>
          <a:xfrm>
            <a:off x="548640" y="960120"/>
            <a:ext cx="8046720" cy="274320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Construir la primera plataforma bancaria AI-First que utilice el Mundial de Fútbol como catalizador de engagement, transformando la relación financiera en una experiencia inteligente, personalizada y emocionalmente significativa.</a:t>
            </a:r>
            <a:endParaRPr lang="en-US" sz="2200" dirty="0"/>
          </a:p>
        </p:txBody>
      </p:sp>
      <p:sp>
        <p:nvSpPr>
          <p:cNvPr id="8" name="Text 6"/>
          <p:cNvSpPr/>
          <p:nvPr/>
        </p:nvSpPr>
        <p:spPr>
          <a:xfrm>
            <a:off x="548640" y="3886200"/>
            <a:ext cx="8046720" cy="548640"/>
          </a:xfrm>
          <a:prstGeom prst="rect">
            <a:avLst/>
          </a:prstGeom>
          <a:noFill/>
          <a:ln/>
        </p:spPr>
        <p:txBody>
          <a:bodyPr wrap="square" lIns="0" tIns="0" rIns="0" bIns="0" rtlCol="0" anchor="ctr"/>
          <a:lstStyle/>
          <a:p>
            <a:pPr algn="l" indent="0" marL="0">
              <a:buNone/>
            </a:pPr>
            <a:r>
              <a:rPr lang="en-US" sz="1400" dirty="0">
                <a:solidFill>
                  <a:srgbClr val="D1FF00"/>
                </a:solidFill>
                <a:latin typeface="Calibri" pitchFamily="34" charset="0"/>
                <a:ea typeface="Calibri" pitchFamily="34" charset="-122"/>
                <a:cs typeface="Calibri" pitchFamily="34" charset="-120"/>
              </a:rPr>
              <a:t>Ir más allá de la transacción — acompañar al cliente en los momentos que le importan.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Expectativas respecto a la Solución</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Shape 3"/>
          <p:cNvSpPr/>
          <p:nvPr/>
        </p:nvSpPr>
        <p:spPr>
          <a:xfrm>
            <a:off x="384048" y="987552"/>
            <a:ext cx="2697480" cy="1572768"/>
          </a:xfrm>
          <a:prstGeom prst="rect">
            <a:avLst/>
          </a:prstGeom>
          <a:solidFill>
            <a:srgbClr val="EEF2FF"/>
          </a:solidFill>
          <a:ln w="15240">
            <a:solidFill>
              <a:srgbClr val="003399"/>
            </a:solidFill>
            <a:prstDash val="solid"/>
          </a:ln>
          <a:effectLst>
            <a:outerShdw sx="100000" sy="100000" kx="0" ky="0" algn="bl" rotWithShape="0" blurRad="101600" dist="25400" dir="8100000">
              <a:srgbClr val="000000">
                <a:alpha val="12000"/>
              </a:srgbClr>
            </a:outerShdw>
          </a:effectLst>
        </p:spPr>
      </p:sp>
      <p:sp>
        <p:nvSpPr>
          <p:cNvPr id="6" name="Shape 4"/>
          <p:cNvSpPr/>
          <p:nvPr/>
        </p:nvSpPr>
        <p:spPr>
          <a:xfrm>
            <a:off x="384048" y="987552"/>
            <a:ext cx="54864" cy="1572768"/>
          </a:xfrm>
          <a:prstGeom prst="rect">
            <a:avLst/>
          </a:prstGeom>
          <a:solidFill>
            <a:srgbClr val="003399"/>
          </a:solidFill>
          <a:ln w="12700">
            <a:solidFill>
              <a:srgbClr val="003399"/>
            </a:solidFill>
            <a:prstDash val="solid"/>
          </a:ln>
        </p:spPr>
      </p:sp>
      <p:sp>
        <p:nvSpPr>
          <p:cNvPr id="7" name="Text 5"/>
          <p:cNvSpPr/>
          <p:nvPr/>
        </p:nvSpPr>
        <p:spPr>
          <a:xfrm>
            <a:off x="548640" y="1097280"/>
            <a:ext cx="2423160" cy="329184"/>
          </a:xfrm>
          <a:prstGeom prst="rect">
            <a:avLst/>
          </a:prstGeom>
          <a:noFill/>
          <a:ln/>
        </p:spPr>
        <p:txBody>
          <a:bodyPr wrap="square" lIns="0" tIns="0" rIns="0" bIns="0" rtlCol="0" anchor="ctr"/>
          <a:lstStyle/>
          <a:p>
            <a:pPr algn="l" indent="0" marL="0">
              <a:buNone/>
            </a:pPr>
            <a:r>
              <a:rPr lang="en-US" sz="1300" b="1" dirty="0">
                <a:solidFill>
                  <a:srgbClr val="003399"/>
                </a:solidFill>
                <a:latin typeface="Calibri" pitchFamily="34" charset="0"/>
                <a:ea typeface="Calibri" pitchFamily="34" charset="-122"/>
                <a:cs typeface="Calibri" pitchFamily="34" charset="-120"/>
              </a:rPr>
              <a:t>Engagement</a:t>
            </a:r>
            <a:endParaRPr lang="en-US" sz="1300" dirty="0"/>
          </a:p>
        </p:txBody>
      </p:sp>
      <p:sp>
        <p:nvSpPr>
          <p:cNvPr id="8" name="Text 6"/>
          <p:cNvSpPr/>
          <p:nvPr/>
        </p:nvSpPr>
        <p:spPr>
          <a:xfrm>
            <a:off x="548640" y="1463040"/>
            <a:ext cx="2423160" cy="100584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Mayor frecuencia de apertura de la app impulsada por el chatbot y los pronósticos diarios del Mundial.</a:t>
            </a:r>
            <a:endParaRPr lang="en-US" sz="1050" dirty="0"/>
          </a:p>
        </p:txBody>
      </p:sp>
      <p:sp>
        <p:nvSpPr>
          <p:cNvPr id="9" name="Shape 7"/>
          <p:cNvSpPr/>
          <p:nvPr/>
        </p:nvSpPr>
        <p:spPr>
          <a:xfrm>
            <a:off x="3218688" y="987552"/>
            <a:ext cx="2697480" cy="1572768"/>
          </a:xfrm>
          <a:prstGeom prst="rect">
            <a:avLst/>
          </a:prstGeom>
          <a:solidFill>
            <a:srgbClr val="EEF2FF"/>
          </a:solidFill>
          <a:ln w="15240">
            <a:solidFill>
              <a:srgbClr val="6600FF"/>
            </a:solidFill>
            <a:prstDash val="solid"/>
          </a:ln>
          <a:effectLst>
            <a:outerShdw sx="100000" sy="100000" kx="0" ky="0" algn="bl" rotWithShape="0" blurRad="101600" dist="25400" dir="8100000">
              <a:srgbClr val="000000">
                <a:alpha val="12000"/>
              </a:srgbClr>
            </a:outerShdw>
          </a:effectLst>
        </p:spPr>
      </p:sp>
      <p:sp>
        <p:nvSpPr>
          <p:cNvPr id="10" name="Shape 8"/>
          <p:cNvSpPr/>
          <p:nvPr/>
        </p:nvSpPr>
        <p:spPr>
          <a:xfrm>
            <a:off x="3218688" y="987552"/>
            <a:ext cx="54864" cy="1572768"/>
          </a:xfrm>
          <a:prstGeom prst="rect">
            <a:avLst/>
          </a:prstGeom>
          <a:solidFill>
            <a:srgbClr val="6600FF"/>
          </a:solidFill>
          <a:ln w="12700">
            <a:solidFill>
              <a:srgbClr val="6600FF"/>
            </a:solidFill>
            <a:prstDash val="solid"/>
          </a:ln>
        </p:spPr>
      </p:sp>
      <p:sp>
        <p:nvSpPr>
          <p:cNvPr id="11" name="Text 9"/>
          <p:cNvSpPr/>
          <p:nvPr/>
        </p:nvSpPr>
        <p:spPr>
          <a:xfrm>
            <a:off x="3383280" y="1097280"/>
            <a:ext cx="2423160" cy="329184"/>
          </a:xfrm>
          <a:prstGeom prst="rect">
            <a:avLst/>
          </a:prstGeom>
          <a:noFill/>
          <a:ln/>
        </p:spPr>
        <p:txBody>
          <a:bodyPr wrap="square" lIns="0" tIns="0" rIns="0" bIns="0" rtlCol="0" anchor="ctr"/>
          <a:lstStyle/>
          <a:p>
            <a:pPr algn="l" indent="0" marL="0">
              <a:buNone/>
            </a:pPr>
            <a:r>
              <a:rPr lang="en-US" sz="1300" b="1" dirty="0">
                <a:solidFill>
                  <a:srgbClr val="6600FF"/>
                </a:solidFill>
                <a:latin typeface="Calibri" pitchFamily="34" charset="0"/>
                <a:ea typeface="Calibri" pitchFamily="34" charset="-122"/>
                <a:cs typeface="Calibri" pitchFamily="34" charset="-120"/>
              </a:rPr>
              <a:t>Fidelización</a:t>
            </a:r>
            <a:endParaRPr lang="en-US" sz="1300" dirty="0"/>
          </a:p>
        </p:txBody>
      </p:sp>
      <p:sp>
        <p:nvSpPr>
          <p:cNvPr id="12" name="Text 10"/>
          <p:cNvSpPr/>
          <p:nvPr/>
        </p:nvSpPr>
        <p:spPr>
          <a:xfrm>
            <a:off x="3383280" y="1463040"/>
            <a:ext cx="2423160" cy="100584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Participación sostenida en ligas Bronce → Plata → Oro → Diamante, incentivada por gamificación de consumos.</a:t>
            </a:r>
            <a:endParaRPr lang="en-US" sz="1050" dirty="0"/>
          </a:p>
        </p:txBody>
      </p:sp>
      <p:sp>
        <p:nvSpPr>
          <p:cNvPr id="13" name="Shape 11"/>
          <p:cNvSpPr/>
          <p:nvPr/>
        </p:nvSpPr>
        <p:spPr>
          <a:xfrm>
            <a:off x="6053328" y="987552"/>
            <a:ext cx="2697480" cy="1572768"/>
          </a:xfrm>
          <a:prstGeom prst="rect">
            <a:avLst/>
          </a:prstGeom>
          <a:solidFill>
            <a:srgbClr val="EEF2FF"/>
          </a:solidFill>
          <a:ln w="15240">
            <a:solidFill>
              <a:srgbClr val="E6192E"/>
            </a:solidFill>
            <a:prstDash val="solid"/>
          </a:ln>
          <a:effectLst>
            <a:outerShdw sx="100000" sy="100000" kx="0" ky="0" algn="bl" rotWithShape="0" blurRad="101600" dist="25400" dir="8100000">
              <a:srgbClr val="000000">
                <a:alpha val="12000"/>
              </a:srgbClr>
            </a:outerShdw>
          </a:effectLst>
        </p:spPr>
      </p:sp>
      <p:sp>
        <p:nvSpPr>
          <p:cNvPr id="14" name="Shape 12"/>
          <p:cNvSpPr/>
          <p:nvPr/>
        </p:nvSpPr>
        <p:spPr>
          <a:xfrm>
            <a:off x="6053328" y="987552"/>
            <a:ext cx="54864" cy="1572768"/>
          </a:xfrm>
          <a:prstGeom prst="rect">
            <a:avLst/>
          </a:prstGeom>
          <a:solidFill>
            <a:srgbClr val="E6192E"/>
          </a:solidFill>
          <a:ln w="12700">
            <a:solidFill>
              <a:srgbClr val="E6192E"/>
            </a:solidFill>
            <a:prstDash val="solid"/>
          </a:ln>
        </p:spPr>
      </p:sp>
      <p:sp>
        <p:nvSpPr>
          <p:cNvPr id="15" name="Text 13"/>
          <p:cNvSpPr/>
          <p:nvPr/>
        </p:nvSpPr>
        <p:spPr>
          <a:xfrm>
            <a:off x="6217920" y="1097280"/>
            <a:ext cx="2423160" cy="329184"/>
          </a:xfrm>
          <a:prstGeom prst="rect">
            <a:avLst/>
          </a:prstGeom>
          <a:noFill/>
          <a:ln/>
        </p:spPr>
        <p:txBody>
          <a:bodyPr wrap="square" lIns="0" tIns="0" rIns="0" bIns="0" rtlCol="0" anchor="ctr"/>
          <a:lstStyle/>
          <a:p>
            <a:pPr algn="l" indent="0" marL="0">
              <a:buNone/>
            </a:pPr>
            <a:r>
              <a:rPr lang="en-US" sz="1300" b="1" dirty="0">
                <a:solidFill>
                  <a:srgbClr val="E6192E"/>
                </a:solidFill>
                <a:latin typeface="Calibri" pitchFamily="34" charset="0"/>
                <a:ea typeface="Calibri" pitchFamily="34" charset="-122"/>
                <a:cs typeface="Calibri" pitchFamily="34" charset="-120"/>
              </a:rPr>
              <a:t>Relevancia de Premios</a:t>
            </a:r>
            <a:endParaRPr lang="en-US" sz="1300" dirty="0"/>
          </a:p>
        </p:txBody>
      </p:sp>
      <p:sp>
        <p:nvSpPr>
          <p:cNvPr id="16" name="Text 14"/>
          <p:cNvSpPr/>
          <p:nvPr/>
        </p:nvSpPr>
        <p:spPr>
          <a:xfrm>
            <a:off x="6217920" y="1463040"/>
            <a:ext cx="2423160" cy="100584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Mejora percibida en la pertinencia de los premios gracias a la segmentación por IA frente a catálogos genéricos.</a:t>
            </a:r>
            <a:endParaRPr lang="en-US" sz="1050" dirty="0"/>
          </a:p>
        </p:txBody>
      </p:sp>
      <p:sp>
        <p:nvSpPr>
          <p:cNvPr id="17" name="Shape 15"/>
          <p:cNvSpPr/>
          <p:nvPr/>
        </p:nvSpPr>
        <p:spPr>
          <a:xfrm>
            <a:off x="384048" y="2724912"/>
            <a:ext cx="2697480" cy="1572768"/>
          </a:xfrm>
          <a:prstGeom prst="rect">
            <a:avLst/>
          </a:prstGeom>
          <a:solidFill>
            <a:srgbClr val="EEF2FF"/>
          </a:solidFill>
          <a:ln w="15240">
            <a:solidFill>
              <a:srgbClr val="003399"/>
            </a:solidFill>
            <a:prstDash val="solid"/>
          </a:ln>
          <a:effectLst>
            <a:outerShdw sx="100000" sy="100000" kx="0" ky="0" algn="bl" rotWithShape="0" blurRad="101600" dist="25400" dir="8100000">
              <a:srgbClr val="000000">
                <a:alpha val="12000"/>
              </a:srgbClr>
            </a:outerShdw>
          </a:effectLst>
        </p:spPr>
      </p:sp>
      <p:sp>
        <p:nvSpPr>
          <p:cNvPr id="18" name="Shape 16"/>
          <p:cNvSpPr/>
          <p:nvPr/>
        </p:nvSpPr>
        <p:spPr>
          <a:xfrm>
            <a:off x="384048" y="2724912"/>
            <a:ext cx="54864" cy="1572768"/>
          </a:xfrm>
          <a:prstGeom prst="rect">
            <a:avLst/>
          </a:prstGeom>
          <a:solidFill>
            <a:srgbClr val="003399"/>
          </a:solidFill>
          <a:ln w="12700">
            <a:solidFill>
              <a:srgbClr val="003399"/>
            </a:solidFill>
            <a:prstDash val="solid"/>
          </a:ln>
        </p:spPr>
      </p:sp>
      <p:sp>
        <p:nvSpPr>
          <p:cNvPr id="19" name="Text 17"/>
          <p:cNvSpPr/>
          <p:nvPr/>
        </p:nvSpPr>
        <p:spPr>
          <a:xfrm>
            <a:off x="548640" y="2834640"/>
            <a:ext cx="2423160" cy="329184"/>
          </a:xfrm>
          <a:prstGeom prst="rect">
            <a:avLst/>
          </a:prstGeom>
          <a:noFill/>
          <a:ln/>
        </p:spPr>
        <p:txBody>
          <a:bodyPr wrap="square" lIns="0" tIns="0" rIns="0" bIns="0" rtlCol="0" anchor="ctr"/>
          <a:lstStyle/>
          <a:p>
            <a:pPr algn="l" indent="0" marL="0">
              <a:buNone/>
            </a:pPr>
            <a:r>
              <a:rPr lang="en-US" sz="1300" b="1" dirty="0">
                <a:solidFill>
                  <a:srgbClr val="003399"/>
                </a:solidFill>
                <a:latin typeface="Calibri" pitchFamily="34" charset="0"/>
                <a:ea typeface="Calibri" pitchFamily="34" charset="-122"/>
                <a:cs typeface="Calibri" pitchFamily="34" charset="-120"/>
              </a:rPr>
              <a:t>Adopción de Productos</a:t>
            </a:r>
            <a:endParaRPr lang="en-US" sz="1300" dirty="0"/>
          </a:p>
        </p:txBody>
      </p:sp>
      <p:sp>
        <p:nvSpPr>
          <p:cNvPr id="20" name="Text 18"/>
          <p:cNvSpPr/>
          <p:nvPr/>
        </p:nvSpPr>
        <p:spPr>
          <a:xfrm>
            <a:off x="548640" y="3200400"/>
            <a:ext cx="2423160" cy="100584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Aumento en uso de crédito, ahorro y tarjeta vinculado al sistema de puntos y ligas de fidelidad.</a:t>
            </a:r>
            <a:endParaRPr lang="en-US" sz="1050" dirty="0"/>
          </a:p>
        </p:txBody>
      </p:sp>
      <p:sp>
        <p:nvSpPr>
          <p:cNvPr id="21" name="Shape 19"/>
          <p:cNvSpPr/>
          <p:nvPr/>
        </p:nvSpPr>
        <p:spPr>
          <a:xfrm>
            <a:off x="3218688" y="2724912"/>
            <a:ext cx="2697480" cy="1572768"/>
          </a:xfrm>
          <a:prstGeom prst="rect">
            <a:avLst/>
          </a:prstGeom>
          <a:solidFill>
            <a:srgbClr val="EEF2FF"/>
          </a:solidFill>
          <a:ln w="15240">
            <a:solidFill>
              <a:srgbClr val="6600FF"/>
            </a:solidFill>
            <a:prstDash val="solid"/>
          </a:ln>
          <a:effectLst>
            <a:outerShdw sx="100000" sy="100000" kx="0" ky="0" algn="bl" rotWithShape="0" blurRad="101600" dist="25400" dir="8100000">
              <a:srgbClr val="000000">
                <a:alpha val="12000"/>
              </a:srgbClr>
            </a:outerShdw>
          </a:effectLst>
        </p:spPr>
      </p:sp>
      <p:sp>
        <p:nvSpPr>
          <p:cNvPr id="22" name="Shape 20"/>
          <p:cNvSpPr/>
          <p:nvPr/>
        </p:nvSpPr>
        <p:spPr>
          <a:xfrm>
            <a:off x="3218688" y="2724912"/>
            <a:ext cx="54864" cy="1572768"/>
          </a:xfrm>
          <a:prstGeom prst="rect">
            <a:avLst/>
          </a:prstGeom>
          <a:solidFill>
            <a:srgbClr val="6600FF"/>
          </a:solidFill>
          <a:ln w="12700">
            <a:solidFill>
              <a:srgbClr val="6600FF"/>
            </a:solidFill>
            <a:prstDash val="solid"/>
          </a:ln>
        </p:spPr>
      </p:sp>
      <p:sp>
        <p:nvSpPr>
          <p:cNvPr id="23" name="Text 21"/>
          <p:cNvSpPr/>
          <p:nvPr/>
        </p:nvSpPr>
        <p:spPr>
          <a:xfrm>
            <a:off x="3383280" y="2834640"/>
            <a:ext cx="2423160" cy="329184"/>
          </a:xfrm>
          <a:prstGeom prst="rect">
            <a:avLst/>
          </a:prstGeom>
          <a:noFill/>
          <a:ln/>
        </p:spPr>
        <p:txBody>
          <a:bodyPr wrap="square" lIns="0" tIns="0" rIns="0" bIns="0" rtlCol="0" anchor="ctr"/>
          <a:lstStyle/>
          <a:p>
            <a:pPr algn="l" indent="0" marL="0">
              <a:buNone/>
            </a:pPr>
            <a:r>
              <a:rPr lang="en-US" sz="1300" b="1" dirty="0">
                <a:solidFill>
                  <a:srgbClr val="6600FF"/>
                </a:solidFill>
                <a:latin typeface="Calibri" pitchFamily="34" charset="0"/>
                <a:ea typeface="Calibri" pitchFamily="34" charset="-122"/>
                <a:cs typeface="Calibri" pitchFamily="34" charset="-120"/>
              </a:rPr>
              <a:t>Datos del Cliente</a:t>
            </a:r>
            <a:endParaRPr lang="en-US" sz="1300" dirty="0"/>
          </a:p>
        </p:txBody>
      </p:sp>
      <p:sp>
        <p:nvSpPr>
          <p:cNvPr id="24" name="Text 22"/>
          <p:cNvSpPr/>
          <p:nvPr/>
        </p:nvSpPr>
        <p:spPr>
          <a:xfrm>
            <a:off x="3383280" y="3200400"/>
            <a:ext cx="2423160" cy="100584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Enriquecimiento del perfil con patrones de predicción, intereses deportivos y actividad social dentro de la plataforma.</a:t>
            </a:r>
            <a:endParaRPr lang="en-US" sz="1050" dirty="0"/>
          </a:p>
        </p:txBody>
      </p:sp>
      <p:sp>
        <p:nvSpPr>
          <p:cNvPr id="25" name="Shape 23"/>
          <p:cNvSpPr/>
          <p:nvPr/>
        </p:nvSpPr>
        <p:spPr>
          <a:xfrm>
            <a:off x="6053328" y="2724912"/>
            <a:ext cx="2697480" cy="1572768"/>
          </a:xfrm>
          <a:prstGeom prst="rect">
            <a:avLst/>
          </a:prstGeom>
          <a:solidFill>
            <a:srgbClr val="EEF2FF"/>
          </a:solidFill>
          <a:ln w="15240">
            <a:solidFill>
              <a:srgbClr val="E6192E"/>
            </a:solidFill>
            <a:prstDash val="solid"/>
          </a:ln>
          <a:effectLst>
            <a:outerShdw sx="100000" sy="100000" kx="0" ky="0" algn="bl" rotWithShape="0" blurRad="101600" dist="25400" dir="8100000">
              <a:srgbClr val="000000">
                <a:alpha val="12000"/>
              </a:srgbClr>
            </a:outerShdw>
          </a:effectLst>
        </p:spPr>
      </p:sp>
      <p:sp>
        <p:nvSpPr>
          <p:cNvPr id="26" name="Shape 24"/>
          <p:cNvSpPr/>
          <p:nvPr/>
        </p:nvSpPr>
        <p:spPr>
          <a:xfrm>
            <a:off x="6053328" y="2724912"/>
            <a:ext cx="54864" cy="1572768"/>
          </a:xfrm>
          <a:prstGeom prst="rect">
            <a:avLst/>
          </a:prstGeom>
          <a:solidFill>
            <a:srgbClr val="E6192E"/>
          </a:solidFill>
          <a:ln w="12700">
            <a:solidFill>
              <a:srgbClr val="E6192E"/>
            </a:solidFill>
            <a:prstDash val="solid"/>
          </a:ln>
        </p:spPr>
      </p:sp>
      <p:sp>
        <p:nvSpPr>
          <p:cNvPr id="27" name="Text 25"/>
          <p:cNvSpPr/>
          <p:nvPr/>
        </p:nvSpPr>
        <p:spPr>
          <a:xfrm>
            <a:off x="6217920" y="2834640"/>
            <a:ext cx="2423160" cy="329184"/>
          </a:xfrm>
          <a:prstGeom prst="rect">
            <a:avLst/>
          </a:prstGeom>
          <a:noFill/>
          <a:ln/>
        </p:spPr>
        <p:txBody>
          <a:bodyPr wrap="square" lIns="0" tIns="0" rIns="0" bIns="0" rtlCol="0" anchor="ctr"/>
          <a:lstStyle/>
          <a:p>
            <a:pPr algn="l" indent="0" marL="0">
              <a:buNone/>
            </a:pPr>
            <a:r>
              <a:rPr lang="en-US" sz="1300" b="1" dirty="0">
                <a:solidFill>
                  <a:srgbClr val="E6192E"/>
                </a:solidFill>
                <a:latin typeface="Calibri" pitchFamily="34" charset="0"/>
                <a:ea typeface="Calibri" pitchFamily="34" charset="-122"/>
                <a:cs typeface="Calibri" pitchFamily="34" charset="-120"/>
              </a:rPr>
              <a:t>Diferenciación</a:t>
            </a:r>
            <a:endParaRPr lang="en-US" sz="1300" dirty="0"/>
          </a:p>
        </p:txBody>
      </p:sp>
      <p:sp>
        <p:nvSpPr>
          <p:cNvPr id="28" name="Text 26"/>
          <p:cNvSpPr/>
          <p:nvPr/>
        </p:nvSpPr>
        <p:spPr>
          <a:xfrm>
            <a:off x="6217920" y="3200400"/>
            <a:ext cx="2423160" cy="100584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Posicionamiento del banco como referente en IA para la experiencia del cliente en la región LATAM.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600FF"/>
        </a:solidFill>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003399">
              <a:alpha val="40000"/>
            </a:srgbClr>
          </a:solidFill>
          <a:ln w="12700">
            <a:solidFill>
              <a:srgbClr val="003399">
                <a:alpha val="40000"/>
              </a:srgbClr>
            </a:solidFill>
            <a:prstDash val="solid"/>
          </a:ln>
        </p:spPr>
      </p:sp>
      <p:sp>
        <p:nvSpPr>
          <p:cNvPr id="3" name="Shape 1"/>
          <p:cNvSpPr/>
          <p:nvPr/>
        </p:nvSpPr>
        <p:spPr>
          <a:xfrm>
            <a:off x="-1828800" y="2743200"/>
            <a:ext cx="5029200" cy="5029200"/>
          </a:xfrm>
          <a:prstGeom prst="ellipse">
            <a:avLst/>
          </a:prstGeom>
          <a:solidFill>
            <a:srgbClr val="E6192E">
              <a:alpha val="28000"/>
            </a:srgbClr>
          </a:solidFill>
          <a:ln w="12700">
            <a:solidFill>
              <a:srgbClr val="E6192E">
                <a:alpha val="28000"/>
              </a:srgbClr>
            </a:solidFill>
            <a:prstDash val="solid"/>
          </a:ln>
        </p:spPr>
      </p:sp>
      <p:sp>
        <p:nvSpPr>
          <p:cNvPr id="4" name="Shape 2"/>
          <p:cNvSpPr/>
          <p:nvPr/>
        </p:nvSpPr>
        <p:spPr>
          <a:xfrm>
            <a:off x="0" y="4754880"/>
            <a:ext cx="9144000" cy="388620"/>
          </a:xfrm>
          <a:prstGeom prst="rect">
            <a:avLst/>
          </a:prstGeom>
          <a:solidFill>
            <a:srgbClr val="003399"/>
          </a:solidFill>
          <a:ln w="12700">
            <a:solidFill>
              <a:srgbClr val="003399"/>
            </a:solidFill>
            <a:prstDash val="solid"/>
          </a:ln>
        </p:spPr>
      </p:sp>
      <p:sp>
        <p:nvSpPr>
          <p:cNvPr id="5" name="Shape 3"/>
          <p:cNvSpPr/>
          <p:nvPr/>
        </p:nvSpPr>
        <p:spPr>
          <a:xfrm>
            <a:off x="457200" y="1417320"/>
            <a:ext cx="118872" cy="2423160"/>
          </a:xfrm>
          <a:prstGeom prst="rect">
            <a:avLst/>
          </a:prstGeom>
          <a:solidFill>
            <a:srgbClr val="D1FF00"/>
          </a:solidFill>
          <a:ln w="12700">
            <a:solidFill>
              <a:srgbClr val="D1FF00"/>
            </a:solidFill>
            <a:prstDash val="solid"/>
          </a:ln>
        </p:spPr>
      </p:sp>
      <p:sp>
        <p:nvSpPr>
          <p:cNvPr id="6" name="Text 4"/>
          <p:cNvSpPr/>
          <p:nvPr/>
        </p:nvSpPr>
        <p:spPr>
          <a:xfrm>
            <a:off x="731520" y="1325880"/>
            <a:ext cx="3657600" cy="347472"/>
          </a:xfrm>
          <a:prstGeom prst="rect">
            <a:avLst/>
          </a:prstGeom>
          <a:noFill/>
          <a:ln/>
        </p:spPr>
        <p:txBody>
          <a:bodyPr wrap="square" lIns="0" tIns="0" rIns="0" bIns="0" rtlCol="0" anchor="ctr"/>
          <a:lstStyle/>
          <a:p>
            <a:pPr algn="l" indent="0" marL="0">
              <a:buNone/>
            </a:pPr>
            <a:r>
              <a:rPr lang="en-US" sz="1100" b="1" dirty="0">
                <a:solidFill>
                  <a:srgbClr val="D1FF00"/>
                </a:solidFill>
                <a:latin typeface="Calibri" pitchFamily="34" charset="0"/>
                <a:ea typeface="Calibri" pitchFamily="34" charset="-122"/>
                <a:cs typeface="Calibri" pitchFamily="34" charset="-120"/>
              </a:rPr>
              <a:t>04 —</a:t>
            </a:r>
            <a:endParaRPr lang="en-US" sz="1100" dirty="0"/>
          </a:p>
        </p:txBody>
      </p:sp>
      <p:sp>
        <p:nvSpPr>
          <p:cNvPr id="7" name="Text 5"/>
          <p:cNvSpPr/>
          <p:nvPr/>
        </p:nvSpPr>
        <p:spPr>
          <a:xfrm>
            <a:off x="731520" y="1691640"/>
            <a:ext cx="7772400" cy="150876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Funcionalidades con</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IA First</a:t>
            </a:r>
            <a:endParaRPr lang="en-US" sz="4000" dirty="0"/>
          </a:p>
        </p:txBody>
      </p:sp>
      <p:sp>
        <p:nvSpPr>
          <p:cNvPr id="8" name="Text 6"/>
          <p:cNvSpPr/>
          <p:nvPr/>
        </p:nvSpPr>
        <p:spPr>
          <a:xfrm>
            <a:off x="731520" y="3291840"/>
            <a:ext cx="7315200" cy="475488"/>
          </a:xfrm>
          <a:prstGeom prst="rect">
            <a:avLst/>
          </a:prstGeom>
          <a:noFill/>
          <a:ln/>
        </p:spPr>
        <p:txBody>
          <a:bodyPr wrap="square" lIns="0" tIns="0" rIns="0" bIns="0" rtlCol="0" anchor="ctr"/>
          <a:lstStyle/>
          <a:p>
            <a:pPr algn="l" indent="0" marL="0">
              <a:buNone/>
            </a:pPr>
            <a:r>
              <a:rPr lang="en-US" sz="1500" dirty="0">
                <a:solidFill>
                  <a:srgbClr val="D1FF00"/>
                </a:solidFill>
                <a:latin typeface="Calibri" pitchFamily="34" charset="0"/>
                <a:ea typeface="Calibri" pitchFamily="34" charset="-122"/>
                <a:cs typeface="Calibri" pitchFamily="34" charset="-120"/>
              </a:rPr>
              <a:t>Cómo la IA está en cada flujo principal de la aplicación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Chatbot Deportivo — Sistema Multi-Agente</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Text 3"/>
          <p:cNvSpPr/>
          <p:nvPr/>
        </p:nvSpPr>
        <p:spPr>
          <a:xfrm>
            <a:off x="384048" y="914400"/>
            <a:ext cx="8412480" cy="438912"/>
          </a:xfrm>
          <a:prstGeom prst="rect">
            <a:avLst/>
          </a:prstGeom>
          <a:noFill/>
          <a:ln/>
        </p:spPr>
        <p:txBody>
          <a:bodyPr wrap="square" lIns="0" tIns="0" rIns="0" bIns="0" rtlCol="0" anchor="ctr"/>
          <a:lstStyle/>
          <a:p>
            <a:pPr algn="l" indent="0" marL="0">
              <a:buNone/>
            </a:pPr>
            <a:r>
              <a:rPr lang="en-US" sz="1100" dirty="0">
                <a:solidFill>
                  <a:srgbClr val="555555"/>
                </a:solidFill>
                <a:latin typeface="Calibri" pitchFamily="34" charset="0"/>
                <a:ea typeface="Calibri" pitchFamily="34" charset="-122"/>
                <a:cs typeface="Calibri" pitchFamily="34" charset="-120"/>
              </a:rPr>
              <a:t>Pipeline de 3 agentes IA en cascada. El usuario recibe análisis estadístico balanceado sin predicción de ganador, preservando la mecánica de apuestas con mAiles.</a:t>
            </a:r>
            <a:endParaRPr lang="en-US" sz="1100" dirty="0"/>
          </a:p>
        </p:txBody>
      </p:sp>
      <p:sp>
        <p:nvSpPr>
          <p:cNvPr id="6" name="Shape 4"/>
          <p:cNvSpPr/>
          <p:nvPr/>
        </p:nvSpPr>
        <p:spPr>
          <a:xfrm>
            <a:off x="347472" y="1508760"/>
            <a:ext cx="1417320" cy="777240"/>
          </a:xfrm>
          <a:prstGeom prst="rect">
            <a:avLst/>
          </a:prstGeom>
          <a:solidFill>
            <a:srgbClr val="F0FFB8"/>
          </a:solidFill>
          <a:ln w="25400">
            <a:solidFill>
              <a:srgbClr val="D1FF00"/>
            </a:solidFill>
            <a:prstDash val="solid"/>
          </a:ln>
          <a:effectLst>
            <a:outerShdw sx="100000" sy="100000" kx="0" ky="0" algn="bl" rotWithShape="0" blurRad="101600" dist="25400" dir="8100000">
              <a:srgbClr val="000000">
                <a:alpha val="12000"/>
              </a:srgbClr>
            </a:outerShdw>
          </a:effectLst>
        </p:spPr>
      </p:sp>
      <p:sp>
        <p:nvSpPr>
          <p:cNvPr id="7" name="Text 5"/>
          <p:cNvSpPr/>
          <p:nvPr/>
        </p:nvSpPr>
        <p:spPr>
          <a:xfrm>
            <a:off x="347472" y="1508760"/>
            <a:ext cx="1417320" cy="777240"/>
          </a:xfrm>
          <a:prstGeom prst="rect">
            <a:avLst/>
          </a:prstGeom>
          <a:noFill/>
          <a:ln/>
        </p:spPr>
        <p:txBody>
          <a:bodyPr wrap="square" lIns="0" tIns="0" rIns="0" bIns="0" rtlCol="0" anchor="ctr"/>
          <a:lstStyle/>
          <a:p>
            <a:pPr algn="ctr" indent="0" marL="0">
              <a:buNone/>
            </a:pPr>
            <a:r>
              <a:rPr lang="en-US" sz="950" b="1" dirty="0">
                <a:solidFill>
                  <a:srgbClr val="1A1A1A"/>
                </a:solidFill>
                <a:latin typeface="Calibri" pitchFamily="34" charset="0"/>
                <a:ea typeface="Calibri" pitchFamily="34" charset="-122"/>
                <a:cs typeface="Calibri" pitchFamily="34" charset="-120"/>
              </a:rPr>
              <a:t>Usuario</a:t>
            </a:r>
            <a:endParaRPr lang="en-US" sz="950" dirty="0"/>
          </a:p>
          <a:p>
            <a:pPr algn="ctr" indent="0" marL="0">
              <a:buNone/>
            </a:pPr>
            <a:r>
              <a:rPr lang="en-US" sz="950" b="1" dirty="0">
                <a:solidFill>
                  <a:srgbClr val="1A1A1A"/>
                </a:solidFill>
                <a:latin typeface="Calibri" pitchFamily="34" charset="0"/>
                <a:ea typeface="Calibri" pitchFamily="34" charset="-122"/>
                <a:cs typeface="Calibri" pitchFamily="34" charset="-120"/>
              </a:rPr>
              <a:t>"Argentina</a:t>
            </a:r>
            <a:endParaRPr lang="en-US" sz="950" dirty="0"/>
          </a:p>
          <a:p>
            <a:pPr algn="ctr" indent="0" marL="0">
              <a:buNone/>
            </a:pPr>
            <a:r>
              <a:rPr lang="en-US" sz="950" b="1" dirty="0">
                <a:solidFill>
                  <a:srgbClr val="1A1A1A"/>
                </a:solidFill>
                <a:latin typeface="Calibri" pitchFamily="34" charset="0"/>
                <a:ea typeface="Calibri" pitchFamily="34" charset="-122"/>
                <a:cs typeface="Calibri" pitchFamily="34" charset="-120"/>
              </a:rPr>
              <a:t>vs Francia"</a:t>
            </a:r>
            <a:endParaRPr lang="en-US" sz="950" dirty="0"/>
          </a:p>
        </p:txBody>
      </p:sp>
      <p:sp>
        <p:nvSpPr>
          <p:cNvPr id="8" name="Shape 6"/>
          <p:cNvSpPr/>
          <p:nvPr/>
        </p:nvSpPr>
        <p:spPr>
          <a:xfrm>
            <a:off x="1783080" y="1892808"/>
            <a:ext cx="365760" cy="0"/>
          </a:xfrm>
          <a:prstGeom prst="line">
            <a:avLst/>
          </a:prstGeom>
          <a:noFill/>
          <a:ln w="19050">
            <a:solidFill>
              <a:srgbClr val="003399"/>
            </a:solidFill>
            <a:prstDash val="solid"/>
            <a:tailEnd type="arrow"/>
          </a:ln>
        </p:spPr>
      </p:sp>
      <p:sp>
        <p:nvSpPr>
          <p:cNvPr id="9" name="Text 7"/>
          <p:cNvSpPr/>
          <p:nvPr/>
        </p:nvSpPr>
        <p:spPr>
          <a:xfrm>
            <a:off x="1600200" y="1691640"/>
            <a:ext cx="731520" cy="201168"/>
          </a:xfrm>
          <a:prstGeom prst="rect">
            <a:avLst/>
          </a:prstGeom>
          <a:noFill/>
          <a:ln/>
        </p:spPr>
        <p:txBody>
          <a:bodyPr wrap="square" lIns="0" tIns="0" rIns="0" bIns="0" rtlCol="0" anchor="ctr"/>
          <a:lstStyle/>
          <a:p>
            <a:pPr algn="ctr" indent="0" marL="0">
              <a:buNone/>
            </a:pPr>
            <a:r>
              <a:rPr lang="en-US" sz="750" dirty="0">
                <a:solidFill>
                  <a:srgbClr val="888888"/>
                </a:solidFill>
                <a:latin typeface="Calibri" pitchFamily="34" charset="0"/>
                <a:ea typeface="Calibri" pitchFamily="34" charset="-122"/>
                <a:cs typeface="Calibri" pitchFamily="34" charset="-120"/>
              </a:rPr>
              <a:t>query</a:t>
            </a:r>
            <a:endParaRPr lang="en-US" sz="750" dirty="0"/>
          </a:p>
        </p:txBody>
      </p:sp>
      <p:sp>
        <p:nvSpPr>
          <p:cNvPr id="10" name="Shape 8"/>
          <p:cNvSpPr/>
          <p:nvPr/>
        </p:nvSpPr>
        <p:spPr>
          <a:xfrm>
            <a:off x="2148840" y="1389888"/>
            <a:ext cx="1874520" cy="1024128"/>
          </a:xfrm>
          <a:prstGeom prst="rect">
            <a:avLst/>
          </a:prstGeom>
          <a:solidFill>
            <a:srgbClr val="003399"/>
          </a:solidFill>
          <a:ln w="12700">
            <a:solidFill>
              <a:srgbClr val="003399"/>
            </a:solidFill>
            <a:prstDash val="solid"/>
          </a:ln>
          <a:effectLst>
            <a:outerShdw sx="100000" sy="100000" kx="0" ky="0" algn="bl" rotWithShape="0" blurRad="101600" dist="25400" dir="8100000">
              <a:srgbClr val="000000">
                <a:alpha val="12000"/>
              </a:srgbClr>
            </a:outerShdw>
          </a:effectLst>
        </p:spPr>
      </p:sp>
      <p:sp>
        <p:nvSpPr>
          <p:cNvPr id="11" name="Text 9"/>
          <p:cNvSpPr/>
          <p:nvPr/>
        </p:nvSpPr>
        <p:spPr>
          <a:xfrm>
            <a:off x="2148840" y="1389888"/>
            <a:ext cx="187452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Orquestador</a:t>
            </a:r>
            <a:endParaRPr lang="en-US" sz="1050" dirty="0"/>
          </a:p>
        </p:txBody>
      </p:sp>
      <p:sp>
        <p:nvSpPr>
          <p:cNvPr id="12" name="Text 10"/>
          <p:cNvSpPr/>
          <p:nvPr/>
        </p:nvSpPr>
        <p:spPr>
          <a:xfrm>
            <a:off x="2148840" y="1773936"/>
            <a:ext cx="1874520" cy="621792"/>
          </a:xfrm>
          <a:prstGeom prst="rect">
            <a:avLst/>
          </a:prstGeom>
          <a:noFill/>
          <a:ln/>
        </p:spPr>
        <p:txBody>
          <a:bodyPr wrap="square" lIns="0" tIns="0" rIns="0" bIns="0" rtlCol="0" anchor="t"/>
          <a:lstStyle/>
          <a:p>
            <a:pPr algn="ctr" indent="0" marL="0">
              <a:buNone/>
            </a:pPr>
            <a:r>
              <a:rPr lang="en-US" sz="900" dirty="0">
                <a:solidFill>
                  <a:srgbClr val="AACCFF"/>
                </a:solidFill>
                <a:latin typeface="Calibri" pitchFamily="34" charset="0"/>
                <a:ea typeface="Calibri" pitchFamily="34" charset="-122"/>
                <a:cs typeface="Calibri" pitchFamily="34" charset="-120"/>
              </a:rPr>
              <a:t>Valida consulta</a:t>
            </a:r>
            <a:endParaRPr lang="en-US" sz="900" dirty="0"/>
          </a:p>
          <a:p>
            <a:pPr algn="ctr" indent="0" marL="0">
              <a:buNone/>
            </a:pPr>
            <a:r>
              <a:rPr lang="en-US" sz="900" dirty="0">
                <a:solidFill>
                  <a:srgbClr val="AACCFF"/>
                </a:solidFill>
                <a:latin typeface="Calibri" pitchFamily="34" charset="0"/>
                <a:ea typeface="Calibri" pitchFamily="34" charset="-122"/>
                <a:cs typeface="Calibri" pitchFamily="34" charset="-120"/>
              </a:rPr>
              <a:t>Filtro de dominio</a:t>
            </a:r>
            <a:endParaRPr lang="en-US" sz="900" dirty="0"/>
          </a:p>
          <a:p>
            <a:pPr algn="ctr" indent="0" marL="0">
              <a:buNone/>
            </a:pPr>
            <a:r>
              <a:rPr lang="en-US" sz="900" dirty="0">
                <a:solidFill>
                  <a:srgbClr val="AACCFF"/>
                </a:solidFill>
                <a:latin typeface="Calibri" pitchFamily="34" charset="0"/>
                <a:ea typeface="Calibri" pitchFamily="34" charset="-122"/>
                <a:cs typeface="Calibri" pitchFamily="34" charset="-120"/>
              </a:rPr>
              <a:t>Coordina pipeline</a:t>
            </a:r>
            <a:endParaRPr lang="en-US" sz="900" dirty="0"/>
          </a:p>
        </p:txBody>
      </p:sp>
      <p:sp>
        <p:nvSpPr>
          <p:cNvPr id="13" name="Shape 11"/>
          <p:cNvSpPr/>
          <p:nvPr/>
        </p:nvSpPr>
        <p:spPr>
          <a:xfrm>
            <a:off x="4041648" y="1892808"/>
            <a:ext cx="365760" cy="0"/>
          </a:xfrm>
          <a:prstGeom prst="line">
            <a:avLst/>
          </a:prstGeom>
          <a:noFill/>
          <a:ln w="19050">
            <a:solidFill>
              <a:srgbClr val="003399"/>
            </a:solidFill>
            <a:prstDash val="solid"/>
            <a:tailEnd type="arrow"/>
          </a:ln>
        </p:spPr>
      </p:sp>
      <p:sp>
        <p:nvSpPr>
          <p:cNvPr id="14" name="Text 12"/>
          <p:cNvSpPr/>
          <p:nvPr/>
        </p:nvSpPr>
        <p:spPr>
          <a:xfrm>
            <a:off x="3858768" y="1691640"/>
            <a:ext cx="731520" cy="201168"/>
          </a:xfrm>
          <a:prstGeom prst="rect">
            <a:avLst/>
          </a:prstGeom>
          <a:noFill/>
          <a:ln/>
        </p:spPr>
        <p:txBody>
          <a:bodyPr wrap="square" lIns="0" tIns="0" rIns="0" bIns="0" rtlCol="0" anchor="ctr"/>
          <a:lstStyle/>
          <a:p>
            <a:pPr algn="ctr" indent="0" marL="0">
              <a:buNone/>
            </a:pPr>
            <a:r>
              <a:rPr lang="en-US" sz="750" dirty="0">
                <a:solidFill>
                  <a:srgbClr val="888888"/>
                </a:solidFill>
                <a:latin typeface="Calibri" pitchFamily="34" charset="0"/>
                <a:ea typeface="Calibri" pitchFamily="34" charset="-122"/>
                <a:cs typeface="Calibri" pitchFamily="34" charset="-120"/>
              </a:rPr>
              <a:t>delega</a:t>
            </a:r>
            <a:endParaRPr lang="en-US" sz="750" dirty="0"/>
          </a:p>
        </p:txBody>
      </p:sp>
      <p:sp>
        <p:nvSpPr>
          <p:cNvPr id="15" name="Shape 13"/>
          <p:cNvSpPr/>
          <p:nvPr/>
        </p:nvSpPr>
        <p:spPr>
          <a:xfrm>
            <a:off x="4407408" y="1389888"/>
            <a:ext cx="1874520" cy="1024128"/>
          </a:xfrm>
          <a:prstGeom prst="rect">
            <a:avLst/>
          </a:prstGeom>
          <a:solidFill>
            <a:srgbClr val="1A47B8"/>
          </a:solidFill>
          <a:ln w="12700">
            <a:solidFill>
              <a:srgbClr val="1A47B8"/>
            </a:solidFill>
            <a:prstDash val="solid"/>
          </a:ln>
          <a:effectLst>
            <a:outerShdw sx="100000" sy="100000" kx="0" ky="0" algn="bl" rotWithShape="0" blurRad="101600" dist="25400" dir="8100000">
              <a:srgbClr val="000000">
                <a:alpha val="12000"/>
              </a:srgbClr>
            </a:outerShdw>
          </a:effectLst>
        </p:spPr>
      </p:sp>
      <p:sp>
        <p:nvSpPr>
          <p:cNvPr id="16" name="Text 14"/>
          <p:cNvSpPr/>
          <p:nvPr/>
        </p:nvSpPr>
        <p:spPr>
          <a:xfrm>
            <a:off x="4407408" y="1389888"/>
            <a:ext cx="187452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Analista</a:t>
            </a:r>
            <a:endParaRPr lang="en-US" sz="1050" dirty="0"/>
          </a:p>
        </p:txBody>
      </p:sp>
      <p:sp>
        <p:nvSpPr>
          <p:cNvPr id="17" name="Text 15"/>
          <p:cNvSpPr/>
          <p:nvPr/>
        </p:nvSpPr>
        <p:spPr>
          <a:xfrm>
            <a:off x="4407408" y="1773936"/>
            <a:ext cx="1874520" cy="621792"/>
          </a:xfrm>
          <a:prstGeom prst="rect">
            <a:avLst/>
          </a:prstGeom>
          <a:noFill/>
          <a:ln/>
        </p:spPr>
        <p:txBody>
          <a:bodyPr wrap="square" lIns="0" tIns="0" rIns="0" bIns="0" rtlCol="0" anchor="t"/>
          <a:lstStyle/>
          <a:p>
            <a:pPr algn="ctr" indent="0" marL="0">
              <a:buNone/>
            </a:pPr>
            <a:r>
              <a:rPr lang="en-US" sz="900" dirty="0">
                <a:solidFill>
                  <a:srgbClr val="AACCFF"/>
                </a:solidFill>
                <a:latin typeface="Calibri" pitchFamily="34" charset="0"/>
                <a:ea typeface="Calibri" pitchFamily="34" charset="-122"/>
                <a:cs typeface="Calibri" pitchFamily="34" charset="-120"/>
              </a:rPr>
              <a:t>6 búsquedas Tavily</a:t>
            </a:r>
            <a:endParaRPr lang="en-US" sz="900" dirty="0"/>
          </a:p>
          <a:p>
            <a:pPr algn="ctr" indent="0" marL="0">
              <a:buNone/>
            </a:pPr>
            <a:r>
              <a:rPr lang="en-US" sz="900" dirty="0">
                <a:solidFill>
                  <a:srgbClr val="AACCFF"/>
                </a:solidFill>
                <a:latin typeface="Calibri" pitchFamily="34" charset="0"/>
                <a:ea typeface="Calibri" pitchFamily="34" charset="-122"/>
                <a:cs typeface="Calibri" pitchFamily="34" charset="-120"/>
              </a:rPr>
              <a:t>en paralelo</a:t>
            </a:r>
            <a:endParaRPr lang="en-US" sz="900" dirty="0"/>
          </a:p>
          <a:p>
            <a:pPr algn="ctr" indent="0" marL="0">
              <a:buNone/>
            </a:pPr>
            <a:r>
              <a:rPr lang="en-US" sz="900" dirty="0">
                <a:solidFill>
                  <a:srgbClr val="AACCFF"/>
                </a:solidFill>
                <a:latin typeface="Calibri" pitchFamily="34" charset="0"/>
                <a:ea typeface="Calibri" pitchFamily="34" charset="-122"/>
                <a:cs typeface="Calibri" pitchFamily="34" charset="-120"/>
              </a:rPr>
              <a:t>JSON con stats</a:t>
            </a:r>
            <a:endParaRPr lang="en-US" sz="900" dirty="0"/>
          </a:p>
        </p:txBody>
      </p:sp>
      <p:sp>
        <p:nvSpPr>
          <p:cNvPr id="18" name="Shape 16"/>
          <p:cNvSpPr/>
          <p:nvPr/>
        </p:nvSpPr>
        <p:spPr>
          <a:xfrm>
            <a:off x="6300216" y="1892808"/>
            <a:ext cx="365760" cy="0"/>
          </a:xfrm>
          <a:prstGeom prst="line">
            <a:avLst/>
          </a:prstGeom>
          <a:noFill/>
          <a:ln w="19050">
            <a:solidFill>
              <a:srgbClr val="003399"/>
            </a:solidFill>
            <a:prstDash val="solid"/>
            <a:tailEnd type="arrow"/>
          </a:ln>
        </p:spPr>
      </p:sp>
      <p:sp>
        <p:nvSpPr>
          <p:cNvPr id="19" name="Text 17"/>
          <p:cNvSpPr/>
          <p:nvPr/>
        </p:nvSpPr>
        <p:spPr>
          <a:xfrm>
            <a:off x="6117336" y="1691640"/>
            <a:ext cx="731520" cy="201168"/>
          </a:xfrm>
          <a:prstGeom prst="rect">
            <a:avLst/>
          </a:prstGeom>
          <a:noFill/>
          <a:ln/>
        </p:spPr>
        <p:txBody>
          <a:bodyPr wrap="square" lIns="0" tIns="0" rIns="0" bIns="0" rtlCol="0" anchor="ctr"/>
          <a:lstStyle/>
          <a:p>
            <a:pPr algn="ctr" indent="0" marL="0">
              <a:buNone/>
            </a:pPr>
            <a:r>
              <a:rPr lang="en-US" sz="750" dirty="0">
                <a:solidFill>
                  <a:srgbClr val="888888"/>
                </a:solidFill>
                <a:latin typeface="Calibri" pitchFamily="34" charset="0"/>
                <a:ea typeface="Calibri" pitchFamily="34" charset="-122"/>
                <a:cs typeface="Calibri" pitchFamily="34" charset="-120"/>
              </a:rPr>
              <a:t>JSON</a:t>
            </a:r>
            <a:endParaRPr lang="en-US" sz="750" dirty="0"/>
          </a:p>
        </p:txBody>
      </p:sp>
      <p:sp>
        <p:nvSpPr>
          <p:cNvPr id="20" name="Shape 18"/>
          <p:cNvSpPr/>
          <p:nvPr/>
        </p:nvSpPr>
        <p:spPr>
          <a:xfrm>
            <a:off x="6665976" y="1389888"/>
            <a:ext cx="1874520" cy="1024128"/>
          </a:xfrm>
          <a:prstGeom prst="rect">
            <a:avLst/>
          </a:prstGeom>
          <a:solidFill>
            <a:srgbClr val="E6192E"/>
          </a:solidFill>
          <a:ln w="12700">
            <a:solidFill>
              <a:srgbClr val="E6192E"/>
            </a:solidFill>
            <a:prstDash val="solid"/>
          </a:ln>
          <a:effectLst>
            <a:outerShdw sx="100000" sy="100000" kx="0" ky="0" algn="bl" rotWithShape="0" blurRad="101600" dist="25400" dir="8100000">
              <a:srgbClr val="000000">
                <a:alpha val="12000"/>
              </a:srgbClr>
            </a:outerShdw>
          </a:effectLst>
        </p:spPr>
      </p:sp>
      <p:sp>
        <p:nvSpPr>
          <p:cNvPr id="21" name="Text 19"/>
          <p:cNvSpPr/>
          <p:nvPr/>
        </p:nvSpPr>
        <p:spPr>
          <a:xfrm>
            <a:off x="6665976" y="1389888"/>
            <a:ext cx="187452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Censor</a:t>
            </a:r>
            <a:endParaRPr lang="en-US" sz="1050" dirty="0"/>
          </a:p>
        </p:txBody>
      </p:sp>
      <p:sp>
        <p:nvSpPr>
          <p:cNvPr id="22" name="Text 20"/>
          <p:cNvSpPr/>
          <p:nvPr/>
        </p:nvSpPr>
        <p:spPr>
          <a:xfrm>
            <a:off x="6665976" y="1773936"/>
            <a:ext cx="1874520" cy="621792"/>
          </a:xfrm>
          <a:prstGeom prst="rect">
            <a:avLst/>
          </a:prstGeom>
          <a:noFill/>
          <a:ln/>
        </p:spPr>
        <p:txBody>
          <a:bodyPr wrap="square" lIns="0" tIns="0" rIns="0" bIns="0" rtlCol="0" anchor="t"/>
          <a:lstStyle/>
          <a:p>
            <a:pPr algn="ctr" indent="0" marL="0">
              <a:buNone/>
            </a:pPr>
            <a:r>
              <a:rPr lang="en-US" sz="900" dirty="0">
                <a:solidFill>
                  <a:srgbClr val="FFCCCC"/>
                </a:solidFill>
                <a:latin typeface="Calibri" pitchFamily="34" charset="0"/>
                <a:ea typeface="Calibri" pitchFamily="34" charset="-122"/>
                <a:cs typeface="Calibri" pitchFamily="34" charset="-120"/>
              </a:rPr>
              <a:t>Filtra ganador</a:t>
            </a:r>
            <a:endParaRPr lang="en-US" sz="900" dirty="0"/>
          </a:p>
          <a:p>
            <a:pPr algn="ctr" indent="0" marL="0">
              <a:buNone/>
            </a:pPr>
            <a:r>
              <a:rPr lang="en-US" sz="900" dirty="0">
                <a:solidFill>
                  <a:srgbClr val="FFCCCC"/>
                </a:solidFill>
                <a:latin typeface="Calibri" pitchFamily="34" charset="0"/>
                <a:ea typeface="Calibri" pitchFamily="34" charset="-122"/>
                <a:cs typeface="Calibri" pitchFamily="34" charset="-120"/>
              </a:rPr>
              <a:t>Formato Markdown</a:t>
            </a:r>
            <a:endParaRPr lang="en-US" sz="900" dirty="0"/>
          </a:p>
          <a:p>
            <a:pPr algn="ctr" indent="0" marL="0">
              <a:buNone/>
            </a:pPr>
            <a:r>
              <a:rPr lang="en-US" sz="900" dirty="0">
                <a:solidFill>
                  <a:srgbClr val="FFCCCC"/>
                </a:solidFill>
                <a:latin typeface="Calibri" pitchFamily="34" charset="0"/>
                <a:ea typeface="Calibri" pitchFamily="34" charset="-122"/>
                <a:cs typeface="Calibri" pitchFamily="34" charset="-120"/>
              </a:rPr>
              <a:t>Tono neutro</a:t>
            </a:r>
            <a:endParaRPr lang="en-US" sz="900" dirty="0"/>
          </a:p>
        </p:txBody>
      </p:sp>
      <p:sp>
        <p:nvSpPr>
          <p:cNvPr id="23" name="Shape 21"/>
          <p:cNvSpPr/>
          <p:nvPr/>
        </p:nvSpPr>
        <p:spPr>
          <a:xfrm>
            <a:off x="5340096" y="2423160"/>
            <a:ext cx="0" cy="411480"/>
          </a:xfrm>
          <a:prstGeom prst="line">
            <a:avLst/>
          </a:prstGeom>
          <a:noFill/>
          <a:ln w="19050">
            <a:solidFill>
              <a:srgbClr val="888888"/>
            </a:solidFill>
            <a:prstDash val="solid"/>
            <a:tailEnd type="arrow"/>
          </a:ln>
        </p:spPr>
      </p:sp>
      <p:sp>
        <p:nvSpPr>
          <p:cNvPr id="24" name="Shape 22"/>
          <p:cNvSpPr/>
          <p:nvPr/>
        </p:nvSpPr>
        <p:spPr>
          <a:xfrm>
            <a:off x="4315968" y="2834640"/>
            <a:ext cx="2057400" cy="566928"/>
          </a:xfrm>
          <a:prstGeom prst="rect">
            <a:avLst/>
          </a:prstGeom>
          <a:solidFill>
            <a:srgbClr val="F0EAFF"/>
          </a:solidFill>
          <a:ln w="12700">
            <a:solidFill>
              <a:srgbClr val="6600FF"/>
            </a:solidFill>
            <a:prstDash val="solid"/>
          </a:ln>
          <a:effectLst>
            <a:outerShdw sx="100000" sy="100000" kx="0" ky="0" algn="bl" rotWithShape="0" blurRad="101600" dist="25400" dir="8100000">
              <a:srgbClr val="000000">
                <a:alpha val="12000"/>
              </a:srgbClr>
            </a:outerShdw>
          </a:effectLst>
        </p:spPr>
      </p:sp>
      <p:sp>
        <p:nvSpPr>
          <p:cNvPr id="25" name="Text 23"/>
          <p:cNvSpPr/>
          <p:nvPr/>
        </p:nvSpPr>
        <p:spPr>
          <a:xfrm>
            <a:off x="4315968" y="2834640"/>
            <a:ext cx="2057400" cy="566928"/>
          </a:xfrm>
          <a:prstGeom prst="rect">
            <a:avLst/>
          </a:prstGeom>
          <a:noFill/>
          <a:ln/>
        </p:spPr>
        <p:txBody>
          <a:bodyPr wrap="square" lIns="0" tIns="0" rIns="0" bIns="0" rtlCol="0" anchor="ctr"/>
          <a:lstStyle/>
          <a:p>
            <a:pPr algn="ctr" indent="0" marL="0">
              <a:buNone/>
            </a:pPr>
            <a:r>
              <a:rPr lang="en-US" sz="900" b="1" dirty="0">
                <a:solidFill>
                  <a:srgbClr val="6600FF"/>
                </a:solidFill>
                <a:latin typeface="Calibri" pitchFamily="34" charset="0"/>
                <a:ea typeface="Calibri" pitchFamily="34" charset="-122"/>
                <a:cs typeface="Calibri" pitchFamily="34" charset="-120"/>
              </a:rPr>
              <a:t>Tavily Search API</a:t>
            </a:r>
            <a:endParaRPr lang="en-US" sz="900" dirty="0"/>
          </a:p>
          <a:p>
            <a:pPr algn="ctr" indent="0" marL="0">
              <a:buNone/>
            </a:pPr>
            <a:r>
              <a:rPr lang="en-US" sz="900" b="1" dirty="0">
                <a:solidFill>
                  <a:srgbClr val="6600FF"/>
                </a:solidFill>
                <a:latin typeface="Calibri" pitchFamily="34" charset="0"/>
                <a:ea typeface="Calibri" pitchFamily="34" charset="-122"/>
                <a:cs typeface="Calibri" pitchFamily="34" charset="-120"/>
              </a:rPr>
              <a:t>(dominios deportivos)</a:t>
            </a:r>
            <a:endParaRPr lang="en-US" sz="900" dirty="0"/>
          </a:p>
        </p:txBody>
      </p:sp>
      <p:sp>
        <p:nvSpPr>
          <p:cNvPr id="26" name="Shape 24"/>
          <p:cNvSpPr/>
          <p:nvPr/>
        </p:nvSpPr>
        <p:spPr>
          <a:xfrm>
            <a:off x="2148840" y="2834640"/>
            <a:ext cx="1874520" cy="566928"/>
          </a:xfrm>
          <a:prstGeom prst="rect">
            <a:avLst/>
          </a:prstGeom>
          <a:solidFill>
            <a:srgbClr val="F0FFB8"/>
          </a:solidFill>
          <a:ln w="19050">
            <a:solidFill>
              <a:srgbClr val="D1FF00"/>
            </a:solidFill>
            <a:prstDash val="solid"/>
          </a:ln>
          <a:effectLst>
            <a:outerShdw sx="100000" sy="100000" kx="0" ky="0" algn="bl" rotWithShape="0" blurRad="101600" dist="25400" dir="8100000">
              <a:srgbClr val="000000">
                <a:alpha val="12000"/>
              </a:srgbClr>
            </a:outerShdw>
          </a:effectLst>
        </p:spPr>
      </p:sp>
      <p:sp>
        <p:nvSpPr>
          <p:cNvPr id="27" name="Text 25"/>
          <p:cNvSpPr/>
          <p:nvPr/>
        </p:nvSpPr>
        <p:spPr>
          <a:xfrm>
            <a:off x="2148840" y="2834640"/>
            <a:ext cx="1874520" cy="566928"/>
          </a:xfrm>
          <a:prstGeom prst="rect">
            <a:avLst/>
          </a:prstGeom>
          <a:noFill/>
          <a:ln/>
        </p:spPr>
        <p:txBody>
          <a:bodyPr wrap="square" lIns="0" tIns="0" rIns="0" bIns="0" rtlCol="0" anchor="ctr"/>
          <a:lstStyle/>
          <a:p>
            <a:pPr algn="ctr" indent="0" marL="0">
              <a:buNone/>
            </a:pPr>
            <a:r>
              <a:rPr lang="en-US" sz="900" b="1" dirty="0">
                <a:solidFill>
                  <a:srgbClr val="1A1A1A"/>
                </a:solidFill>
                <a:latin typeface="Calibri" pitchFamily="34" charset="0"/>
                <a:ea typeface="Calibri" pitchFamily="34" charset="-122"/>
                <a:cs typeface="Calibri" pitchFamily="34" charset="-120"/>
              </a:rPr>
              <a:t>⚡ Gemini 2.5 Flash</a:t>
            </a:r>
            <a:endParaRPr lang="en-US" sz="900" dirty="0"/>
          </a:p>
          <a:p>
            <a:pPr algn="ctr" indent="0" marL="0">
              <a:buNone/>
            </a:pPr>
            <a:r>
              <a:rPr lang="en-US" sz="900" b="1" dirty="0">
                <a:solidFill>
                  <a:srgbClr val="1A1A1A"/>
                </a:solidFill>
                <a:latin typeface="Calibri" pitchFamily="34" charset="0"/>
                <a:ea typeface="Calibri" pitchFamily="34" charset="-122"/>
                <a:cs typeface="Calibri" pitchFamily="34" charset="-120"/>
              </a:rPr>
              <a:t>Motor LLM de los 3 agentes</a:t>
            </a:r>
            <a:endParaRPr lang="en-US" sz="900" dirty="0"/>
          </a:p>
        </p:txBody>
      </p:sp>
      <p:sp>
        <p:nvSpPr>
          <p:cNvPr id="28" name="Shape 26"/>
          <p:cNvSpPr/>
          <p:nvPr/>
        </p:nvSpPr>
        <p:spPr>
          <a:xfrm>
            <a:off x="6665976" y="2834640"/>
            <a:ext cx="1874520" cy="566928"/>
          </a:xfrm>
          <a:prstGeom prst="rect">
            <a:avLst/>
          </a:prstGeom>
          <a:solidFill>
            <a:srgbClr val="D1FF00"/>
          </a:solidFill>
          <a:ln w="12700">
            <a:solidFill>
              <a:srgbClr val="D1FF00"/>
            </a:solidFill>
            <a:prstDash val="solid"/>
          </a:ln>
          <a:effectLst>
            <a:outerShdw sx="100000" sy="100000" kx="0" ky="0" algn="bl" rotWithShape="0" blurRad="101600" dist="25400" dir="8100000">
              <a:srgbClr val="000000">
                <a:alpha val="12000"/>
              </a:srgbClr>
            </a:outerShdw>
          </a:effectLst>
        </p:spPr>
      </p:sp>
      <p:sp>
        <p:nvSpPr>
          <p:cNvPr id="29" name="Text 27"/>
          <p:cNvSpPr/>
          <p:nvPr/>
        </p:nvSpPr>
        <p:spPr>
          <a:xfrm>
            <a:off x="6665976" y="2834640"/>
            <a:ext cx="1874520" cy="566928"/>
          </a:xfrm>
          <a:prstGeom prst="rect">
            <a:avLst/>
          </a:prstGeom>
          <a:noFill/>
          <a:ln/>
        </p:spPr>
        <p:txBody>
          <a:bodyPr wrap="square" lIns="0" tIns="0" rIns="0" bIns="0" rtlCol="0" anchor="ctr"/>
          <a:lstStyle/>
          <a:p>
            <a:pPr algn="ctr" indent="0" marL="0">
              <a:buNone/>
            </a:pPr>
            <a:r>
              <a:rPr lang="en-US" sz="900" b="1" dirty="0">
                <a:solidFill>
                  <a:srgbClr val="1A1A1A"/>
                </a:solidFill>
                <a:latin typeface="Calibri" pitchFamily="34" charset="0"/>
                <a:ea typeface="Calibri" pitchFamily="34" charset="-122"/>
                <a:cs typeface="Calibri" pitchFamily="34" charset="-120"/>
              </a:rPr>
              <a:t>## Análisis Markdown</a:t>
            </a:r>
            <a:endParaRPr lang="en-US" sz="900" dirty="0"/>
          </a:p>
          <a:p>
            <a:pPr algn="ctr" indent="0" marL="0">
              <a:buNone/>
            </a:pPr>
            <a:r>
              <a:rPr lang="en-US" sz="900" b="1" dirty="0">
                <a:solidFill>
                  <a:srgbClr val="1A1A1A"/>
                </a:solidFill>
                <a:latin typeface="Calibri" pitchFamily="34" charset="0"/>
                <a:ea typeface="Calibri" pitchFamily="34" charset="-122"/>
                <a:cs typeface="Calibri" pitchFamily="34" charset="-120"/>
              </a:rPr>
              <a:t>(sin predicción de ganador)</a:t>
            </a:r>
            <a:endParaRPr lang="en-US" sz="900" dirty="0"/>
          </a:p>
        </p:txBody>
      </p:sp>
      <p:sp>
        <p:nvSpPr>
          <p:cNvPr id="30" name="Shape 28"/>
          <p:cNvSpPr/>
          <p:nvPr/>
        </p:nvSpPr>
        <p:spPr>
          <a:xfrm>
            <a:off x="347472" y="3566160"/>
            <a:ext cx="8430768" cy="868680"/>
          </a:xfrm>
          <a:prstGeom prst="rect">
            <a:avLst/>
          </a:prstGeom>
          <a:solidFill>
            <a:srgbClr val="EEF2FF"/>
          </a:solidFill>
          <a:ln w="6350">
            <a:solidFill>
              <a:srgbClr val="CCCCCC"/>
            </a:solidFill>
            <a:prstDash val="solid"/>
          </a:ln>
        </p:spPr>
      </p:sp>
      <p:sp>
        <p:nvSpPr>
          <p:cNvPr id="31" name="Text 29"/>
          <p:cNvSpPr/>
          <p:nvPr/>
        </p:nvSpPr>
        <p:spPr>
          <a:xfrm>
            <a:off x="502920" y="3621024"/>
            <a:ext cx="1463040" cy="274320"/>
          </a:xfrm>
          <a:prstGeom prst="rect">
            <a:avLst/>
          </a:prstGeom>
          <a:noFill/>
          <a:ln/>
        </p:spPr>
        <p:txBody>
          <a:bodyPr wrap="square" lIns="0" tIns="0" rIns="0" bIns="0" rtlCol="0" anchor="ctr"/>
          <a:lstStyle/>
          <a:p>
            <a:pPr algn="l" indent="0" marL="0">
              <a:buNone/>
            </a:pPr>
            <a:r>
              <a:rPr lang="en-US" sz="950" b="1" dirty="0">
                <a:solidFill>
                  <a:srgbClr val="003399"/>
                </a:solidFill>
                <a:latin typeface="Calibri" pitchFamily="34" charset="0"/>
                <a:ea typeface="Calibri" pitchFamily="34" charset="-122"/>
                <a:cs typeface="Calibri" pitchFamily="34" charset="-120"/>
              </a:rPr>
              <a:t>Capas de control:</a:t>
            </a:r>
            <a:endParaRPr lang="en-US" sz="950" dirty="0"/>
          </a:p>
        </p:txBody>
      </p:sp>
      <p:sp>
        <p:nvSpPr>
          <p:cNvPr id="32" name="Text 30"/>
          <p:cNvSpPr/>
          <p:nvPr/>
        </p:nvSpPr>
        <p:spPr>
          <a:xfrm>
            <a:off x="502920" y="3913632"/>
            <a:ext cx="8229600" cy="182880"/>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1.  Orquestador rechaza consultas fuera del dominio FIFA</a:t>
            </a:r>
            <a:endParaRPr lang="en-US" sz="900" dirty="0"/>
          </a:p>
        </p:txBody>
      </p:sp>
      <p:sp>
        <p:nvSpPr>
          <p:cNvPr id="33" name="Text 31"/>
          <p:cNvSpPr/>
          <p:nvPr/>
        </p:nvSpPr>
        <p:spPr>
          <a:xfrm>
            <a:off x="502920" y="4078224"/>
            <a:ext cx="8229600" cy="182880"/>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2.  Tavily restringido a dominios deportivos verificados (SofaScore, FIFA.com, Transfermarkt...)</a:t>
            </a:r>
            <a:endParaRPr lang="en-US" sz="900" dirty="0"/>
          </a:p>
        </p:txBody>
      </p:sp>
      <p:sp>
        <p:nvSpPr>
          <p:cNvPr id="34" name="Text 32"/>
          <p:cNvSpPr/>
          <p:nvPr/>
        </p:nvSpPr>
        <p:spPr>
          <a:xfrm>
            <a:off x="502920" y="4242816"/>
            <a:ext cx="8229600" cy="182880"/>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3.  Censor elimina ganador_proyectado del JSON antes de responder al usuario</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Segmentación Inteligente de Premios</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Shape 3"/>
          <p:cNvSpPr/>
          <p:nvPr/>
        </p:nvSpPr>
        <p:spPr>
          <a:xfrm>
            <a:off x="347472" y="960120"/>
            <a:ext cx="3291840" cy="3840480"/>
          </a:xfrm>
          <a:prstGeom prst="rect">
            <a:avLst/>
          </a:prstGeom>
          <a:solidFill>
            <a:srgbClr val="EEF2FF"/>
          </a:solidFill>
          <a:ln w="12700">
            <a:solidFill>
              <a:srgbClr val="003399"/>
            </a:solidFill>
            <a:prstDash val="solid"/>
          </a:ln>
          <a:effectLst>
            <a:outerShdw sx="100000" sy="100000" kx="0" ky="0" algn="bl" rotWithShape="0" blurRad="101600" dist="25400" dir="8100000">
              <a:srgbClr val="000000">
                <a:alpha val="12000"/>
              </a:srgbClr>
            </a:outerShdw>
          </a:effectLst>
        </p:spPr>
      </p:sp>
      <p:sp>
        <p:nvSpPr>
          <p:cNvPr id="6" name="Shape 4"/>
          <p:cNvSpPr/>
          <p:nvPr/>
        </p:nvSpPr>
        <p:spPr>
          <a:xfrm>
            <a:off x="347472" y="960120"/>
            <a:ext cx="3291840" cy="64008"/>
          </a:xfrm>
          <a:prstGeom prst="rect">
            <a:avLst/>
          </a:prstGeom>
          <a:solidFill>
            <a:srgbClr val="003399"/>
          </a:solidFill>
          <a:ln w="12700">
            <a:solidFill>
              <a:srgbClr val="003399"/>
            </a:solidFill>
            <a:prstDash val="solid"/>
          </a:ln>
        </p:spPr>
      </p:sp>
      <p:sp>
        <p:nvSpPr>
          <p:cNvPr id="7" name="Text 5"/>
          <p:cNvSpPr/>
          <p:nvPr/>
        </p:nvSpPr>
        <p:spPr>
          <a:xfrm>
            <a:off x="475488" y="1042416"/>
            <a:ext cx="3017520" cy="347472"/>
          </a:xfrm>
          <a:prstGeom prst="rect">
            <a:avLst/>
          </a:prstGeom>
          <a:noFill/>
          <a:ln/>
        </p:spPr>
        <p:txBody>
          <a:bodyPr wrap="square" lIns="0" tIns="0" rIns="0" bIns="0" rtlCol="0" anchor="ctr"/>
          <a:lstStyle/>
          <a:p>
            <a:pPr algn="l" indent="0" marL="0">
              <a:buNone/>
            </a:pPr>
            <a:r>
              <a:rPr lang="en-US" sz="1400" b="1" dirty="0">
                <a:solidFill>
                  <a:srgbClr val="003399"/>
                </a:solidFill>
                <a:latin typeface="Calibri" pitchFamily="34" charset="0"/>
                <a:ea typeface="Calibri" pitchFamily="34" charset="-122"/>
                <a:cs typeface="Calibri" pitchFamily="34" charset="-120"/>
              </a:rPr>
              <a:t>Modelo ML</a:t>
            </a:r>
            <a:endParaRPr lang="en-US" sz="1400" dirty="0"/>
          </a:p>
        </p:txBody>
      </p:sp>
      <p:sp>
        <p:nvSpPr>
          <p:cNvPr id="8" name="Text 6"/>
          <p:cNvSpPr/>
          <p:nvPr/>
        </p:nvSpPr>
        <p:spPr>
          <a:xfrm>
            <a:off x="475488" y="1417320"/>
            <a:ext cx="3017520" cy="91440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Logistic Regression</a:t>
            </a:r>
            <a:endParaRPr lang="en-US" sz="1050" dirty="0"/>
          </a:p>
          <a:p>
            <a:pPr algn="l" indent="0" marL="0">
              <a:buNone/>
            </a:pPr>
            <a:r>
              <a:rPr lang="en-US" sz="1050" dirty="0">
                <a:solidFill>
                  <a:srgbClr val="555555"/>
                </a:solidFill>
                <a:latin typeface="Calibri" pitchFamily="34" charset="0"/>
                <a:ea typeface="Calibri" pitchFamily="34" charset="-122"/>
                <a:cs typeface="Calibri" pitchFamily="34" charset="-120"/>
              </a:rPr>
              <a:t>F1-macro: 0.79 · Accuracy: 0.79</a:t>
            </a:r>
            <a:endParaRPr lang="en-US" sz="1050" dirty="0"/>
          </a:p>
          <a:p>
            <a:pPr algn="l" indent="0" marL="0">
              <a:buNone/>
            </a:pPr>
            <a:r>
              <a:rPr lang="en-US" sz="1050" dirty="0">
                <a:solidFill>
                  <a:srgbClr val="555555"/>
                </a:solidFill>
                <a:latin typeface="Calibri" pitchFamily="34" charset="0"/>
                <a:ea typeface="Calibri" pitchFamily="34" charset="-122"/>
                <a:cs typeface="Calibri" pitchFamily="34" charset="-120"/>
              </a:rPr>
              <a:t>Entrenado con 30.000 perfiles sintéticos</a:t>
            </a:r>
            <a:endParaRPr lang="en-US" sz="1050" dirty="0"/>
          </a:p>
          <a:p>
            <a:pPr algn="l" indent="0" marL="0">
              <a:buNone/>
            </a:pPr>
            <a:r>
              <a:rPr lang="en-US" sz="1050" dirty="0">
                <a:solidFill>
                  <a:srgbClr val="555555"/>
                </a:solidFill>
                <a:latin typeface="Calibri" pitchFamily="34" charset="0"/>
                <a:ea typeface="Calibri" pitchFamily="34" charset="-122"/>
                <a:cs typeface="Calibri" pitchFamily="34" charset="-120"/>
              </a:rPr>
              <a:t>generados con IA</a:t>
            </a:r>
            <a:endParaRPr lang="en-US" sz="1050" dirty="0"/>
          </a:p>
        </p:txBody>
      </p:sp>
      <p:sp>
        <p:nvSpPr>
          <p:cNvPr id="9" name="Shape 7"/>
          <p:cNvSpPr/>
          <p:nvPr/>
        </p:nvSpPr>
        <p:spPr>
          <a:xfrm>
            <a:off x="475488" y="2395728"/>
            <a:ext cx="3017520" cy="0"/>
          </a:xfrm>
          <a:prstGeom prst="line">
            <a:avLst/>
          </a:prstGeom>
          <a:noFill/>
          <a:ln w="6350">
            <a:solidFill>
              <a:srgbClr val="CCCCCC"/>
            </a:solidFill>
            <a:prstDash val="solid"/>
          </a:ln>
        </p:spPr>
      </p:sp>
      <p:sp>
        <p:nvSpPr>
          <p:cNvPr id="10" name="Text 8"/>
          <p:cNvSpPr/>
          <p:nvPr/>
        </p:nvSpPr>
        <p:spPr>
          <a:xfrm>
            <a:off x="475488" y="2468880"/>
            <a:ext cx="3017520" cy="292608"/>
          </a:xfrm>
          <a:prstGeom prst="rect">
            <a:avLst/>
          </a:prstGeom>
          <a:noFill/>
          <a:ln/>
        </p:spPr>
        <p:txBody>
          <a:bodyPr wrap="square" lIns="0" tIns="0" rIns="0" bIns="0" rtlCol="0" anchor="ctr"/>
          <a:lstStyle/>
          <a:p>
            <a:pPr algn="l" indent="0" marL="0">
              <a:buNone/>
            </a:pPr>
            <a:r>
              <a:rPr lang="en-US" sz="1150" b="1" dirty="0">
                <a:solidFill>
                  <a:srgbClr val="1A1A1A"/>
                </a:solidFill>
                <a:latin typeface="Calibri" pitchFamily="34" charset="0"/>
                <a:ea typeface="Calibri" pitchFamily="34" charset="-122"/>
                <a:cs typeface="Calibri" pitchFamily="34" charset="-120"/>
              </a:rPr>
              <a:t>49 features de entrada</a:t>
            </a:r>
            <a:endParaRPr lang="en-US" sz="1150" dirty="0"/>
          </a:p>
        </p:txBody>
      </p:sp>
      <p:sp>
        <p:nvSpPr>
          <p:cNvPr id="11" name="Text 9"/>
          <p:cNvSpPr/>
          <p:nvPr/>
        </p:nvSpPr>
        <p:spPr>
          <a:xfrm>
            <a:off x="475488" y="2788920"/>
            <a:ext cx="3017520" cy="274320"/>
          </a:xfrm>
          <a:prstGeom prst="rect">
            <a:avLst/>
          </a:prstGeom>
          <a:noFill/>
          <a:ln/>
        </p:spPr>
        <p:txBody>
          <a:bodyPr wrap="square" lIns="0" tIns="0" rIns="0" bIns="0" rtlCol="0" anchor="ctr"/>
          <a:lstStyle/>
          <a:p>
            <a:pPr algn="l" indent="0" marL="0">
              <a:buNone/>
            </a:pPr>
            <a:r>
              <a:rPr lang="en-US" sz="1000" dirty="0">
                <a:solidFill>
                  <a:srgbClr val="555555"/>
                </a:solidFill>
                <a:latin typeface="Calibri" pitchFamily="34" charset="0"/>
                <a:ea typeface="Calibri" pitchFamily="34" charset="-122"/>
                <a:cs typeface="Calibri" pitchFamily="34" charset="-120"/>
              </a:rPr>
              <a:t>→  Perfil financiero (gasto, score, productos)</a:t>
            </a:r>
            <a:endParaRPr lang="en-US" sz="1000" dirty="0"/>
          </a:p>
        </p:txBody>
      </p:sp>
      <p:sp>
        <p:nvSpPr>
          <p:cNvPr id="12" name="Text 10"/>
          <p:cNvSpPr/>
          <p:nvPr/>
        </p:nvSpPr>
        <p:spPr>
          <a:xfrm>
            <a:off x="475488" y="3081528"/>
            <a:ext cx="3017520" cy="274320"/>
          </a:xfrm>
          <a:prstGeom prst="rect">
            <a:avLst/>
          </a:prstGeom>
          <a:noFill/>
          <a:ln/>
        </p:spPr>
        <p:txBody>
          <a:bodyPr wrap="square" lIns="0" tIns="0" rIns="0" bIns="0" rtlCol="0" anchor="ctr"/>
          <a:lstStyle/>
          <a:p>
            <a:pPr algn="l" indent="0" marL="0">
              <a:buNone/>
            </a:pPr>
            <a:r>
              <a:rPr lang="en-US" sz="1000" dirty="0">
                <a:solidFill>
                  <a:srgbClr val="555555"/>
                </a:solidFill>
                <a:latin typeface="Calibri" pitchFamily="34" charset="0"/>
                <a:ea typeface="Calibri" pitchFamily="34" charset="-122"/>
                <a:cs typeface="Calibri" pitchFamily="34" charset="-120"/>
              </a:rPr>
              <a:t>→  Porcentaje de gasto por categoría</a:t>
            </a:r>
            <a:endParaRPr lang="en-US" sz="1000" dirty="0"/>
          </a:p>
        </p:txBody>
      </p:sp>
      <p:sp>
        <p:nvSpPr>
          <p:cNvPr id="13" name="Text 11"/>
          <p:cNvSpPr/>
          <p:nvPr/>
        </p:nvSpPr>
        <p:spPr>
          <a:xfrm>
            <a:off x="475488" y="3374136"/>
            <a:ext cx="3017520" cy="274320"/>
          </a:xfrm>
          <a:prstGeom prst="rect">
            <a:avLst/>
          </a:prstGeom>
          <a:noFill/>
          <a:ln/>
        </p:spPr>
        <p:txBody>
          <a:bodyPr wrap="square" lIns="0" tIns="0" rIns="0" bIns="0" rtlCol="0" anchor="ctr"/>
          <a:lstStyle/>
          <a:p>
            <a:pPr algn="l" indent="0" marL="0">
              <a:buNone/>
            </a:pPr>
            <a:r>
              <a:rPr lang="en-US" sz="1000" dirty="0">
                <a:solidFill>
                  <a:srgbClr val="555555"/>
                </a:solidFill>
                <a:latin typeface="Calibri" pitchFamily="34" charset="0"/>
                <a:ea typeface="Calibri" pitchFamily="34" charset="-122"/>
                <a:cs typeface="Calibri" pitchFamily="34" charset="-120"/>
              </a:rPr>
              <a:t>→  Métricas de gamificación (mAiles, cromos)</a:t>
            </a:r>
            <a:endParaRPr lang="en-US" sz="1000" dirty="0"/>
          </a:p>
        </p:txBody>
      </p:sp>
      <p:sp>
        <p:nvSpPr>
          <p:cNvPr id="14" name="Text 12"/>
          <p:cNvSpPr/>
          <p:nvPr/>
        </p:nvSpPr>
        <p:spPr>
          <a:xfrm>
            <a:off x="475488" y="3666744"/>
            <a:ext cx="3017520" cy="274320"/>
          </a:xfrm>
          <a:prstGeom prst="rect">
            <a:avLst/>
          </a:prstGeom>
          <a:noFill/>
          <a:ln/>
        </p:spPr>
        <p:txBody>
          <a:bodyPr wrap="square" lIns="0" tIns="0" rIns="0" bIns="0" rtlCol="0" anchor="ctr"/>
          <a:lstStyle/>
          <a:p>
            <a:pPr algn="l" indent="0" marL="0">
              <a:buNone/>
            </a:pPr>
            <a:r>
              <a:rPr lang="en-US" sz="1000" dirty="0">
                <a:solidFill>
                  <a:srgbClr val="555555"/>
                </a:solidFill>
                <a:latin typeface="Calibri" pitchFamily="34" charset="0"/>
                <a:ea typeface="Calibri" pitchFamily="34" charset="-122"/>
                <a:cs typeface="Calibri" pitchFamily="34" charset="-120"/>
              </a:rPr>
              <a:t>→  Comportamiento social (grupos, votos)</a:t>
            </a:r>
            <a:endParaRPr lang="en-US" sz="1000" dirty="0"/>
          </a:p>
        </p:txBody>
      </p:sp>
      <p:sp>
        <p:nvSpPr>
          <p:cNvPr id="15" name="Text 13"/>
          <p:cNvSpPr/>
          <p:nvPr/>
        </p:nvSpPr>
        <p:spPr>
          <a:xfrm>
            <a:off x="475488" y="3959352"/>
            <a:ext cx="3017520" cy="274320"/>
          </a:xfrm>
          <a:prstGeom prst="rect">
            <a:avLst/>
          </a:prstGeom>
          <a:noFill/>
          <a:ln/>
        </p:spPr>
        <p:txBody>
          <a:bodyPr wrap="square" lIns="0" tIns="0" rIns="0" bIns="0" rtlCol="0" anchor="ctr"/>
          <a:lstStyle/>
          <a:p>
            <a:pPr algn="l" indent="0" marL="0">
              <a:buNone/>
            </a:pPr>
            <a:r>
              <a:rPr lang="en-US" sz="1000" dirty="0">
                <a:solidFill>
                  <a:srgbClr val="555555"/>
                </a:solidFill>
                <a:latin typeface="Calibri" pitchFamily="34" charset="0"/>
                <a:ea typeface="Calibri" pitchFamily="34" charset="-122"/>
                <a:cs typeface="Calibri" pitchFamily="34" charset="-120"/>
              </a:rPr>
              <a:t>→  Datos demográficos (edad, ciudad)</a:t>
            </a:r>
            <a:endParaRPr lang="en-US" sz="1000" dirty="0"/>
          </a:p>
        </p:txBody>
      </p:sp>
      <p:sp>
        <p:nvSpPr>
          <p:cNvPr id="16" name="Text 14"/>
          <p:cNvSpPr/>
          <p:nvPr/>
        </p:nvSpPr>
        <p:spPr>
          <a:xfrm>
            <a:off x="475488" y="4251960"/>
            <a:ext cx="3017520" cy="274320"/>
          </a:xfrm>
          <a:prstGeom prst="rect">
            <a:avLst/>
          </a:prstGeom>
          <a:noFill/>
          <a:ln/>
        </p:spPr>
        <p:txBody>
          <a:bodyPr wrap="square" lIns="0" tIns="0" rIns="0" bIns="0" rtlCol="0" anchor="ctr"/>
          <a:lstStyle/>
          <a:p>
            <a:pPr algn="l" indent="0" marL="0">
              <a:buNone/>
            </a:pPr>
            <a:r>
              <a:rPr lang="en-US" sz="1000" dirty="0">
                <a:solidFill>
                  <a:srgbClr val="555555"/>
                </a:solidFill>
                <a:latin typeface="Calibri" pitchFamily="34" charset="0"/>
                <a:ea typeface="Calibri" pitchFamily="34" charset="-122"/>
                <a:cs typeface="Calibri" pitchFamily="34" charset="-120"/>
              </a:rPr>
              <a:t>→  Hábitos digitales (app, sesiones)</a:t>
            </a:r>
            <a:endParaRPr lang="en-US" sz="1000" dirty="0"/>
          </a:p>
        </p:txBody>
      </p:sp>
      <p:sp>
        <p:nvSpPr>
          <p:cNvPr id="17" name="Text 15"/>
          <p:cNvSpPr/>
          <p:nvPr/>
        </p:nvSpPr>
        <p:spPr>
          <a:xfrm>
            <a:off x="3840480" y="960120"/>
            <a:ext cx="5029200" cy="347472"/>
          </a:xfrm>
          <a:prstGeom prst="rect">
            <a:avLst/>
          </a:prstGeom>
          <a:noFill/>
          <a:ln/>
        </p:spPr>
        <p:txBody>
          <a:bodyPr wrap="square" lIns="0" tIns="0" rIns="0" bIns="0" rtlCol="0" anchor="ctr"/>
          <a:lstStyle/>
          <a:p>
            <a:pPr algn="l" indent="0" marL="0">
              <a:buNone/>
            </a:pPr>
            <a:r>
              <a:rPr lang="en-US" sz="1300" b="1" dirty="0">
                <a:solidFill>
                  <a:srgbClr val="1A1A1A"/>
                </a:solidFill>
                <a:latin typeface="Calibri" pitchFamily="34" charset="0"/>
                <a:ea typeface="Calibri" pitchFamily="34" charset="-122"/>
                <a:cs typeface="Calibri" pitchFamily="34" charset="-120"/>
              </a:rPr>
              <a:t>9 Categorías de Premio</a:t>
            </a:r>
            <a:endParaRPr lang="en-US" sz="1300" dirty="0"/>
          </a:p>
        </p:txBody>
      </p:sp>
      <p:sp>
        <p:nvSpPr>
          <p:cNvPr id="18" name="Shape 16"/>
          <p:cNvSpPr/>
          <p:nvPr/>
        </p:nvSpPr>
        <p:spPr>
          <a:xfrm>
            <a:off x="3840480" y="1371600"/>
            <a:ext cx="1481328" cy="713232"/>
          </a:xfrm>
          <a:prstGeom prst="rect">
            <a:avLst/>
          </a:prstGeom>
          <a:solidFill>
            <a:srgbClr val="003399"/>
          </a:solidFill>
          <a:ln w="12700">
            <a:solidFill>
              <a:srgbClr val="003399"/>
            </a:solidFill>
            <a:prstDash val="solid"/>
          </a:ln>
          <a:effectLst>
            <a:outerShdw sx="100000" sy="100000" kx="0" ky="0" algn="bl" rotWithShape="0" blurRad="101600" dist="25400" dir="8100000">
              <a:srgbClr val="000000">
                <a:alpha val="12000"/>
              </a:srgbClr>
            </a:outerShdw>
          </a:effectLst>
        </p:spPr>
      </p:sp>
      <p:sp>
        <p:nvSpPr>
          <p:cNvPr id="19" name="Text 17"/>
          <p:cNvSpPr/>
          <p:nvPr/>
        </p:nvSpPr>
        <p:spPr>
          <a:xfrm>
            <a:off x="3895344" y="1371600"/>
            <a:ext cx="1371600" cy="7132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Tecnología</a:t>
            </a:r>
            <a:endParaRPr lang="en-US" sz="1050" dirty="0"/>
          </a:p>
        </p:txBody>
      </p:sp>
      <p:sp>
        <p:nvSpPr>
          <p:cNvPr id="20" name="Shape 18"/>
          <p:cNvSpPr/>
          <p:nvPr/>
        </p:nvSpPr>
        <p:spPr>
          <a:xfrm>
            <a:off x="5413248" y="1371600"/>
            <a:ext cx="1481328" cy="713232"/>
          </a:xfrm>
          <a:prstGeom prst="rect">
            <a:avLst/>
          </a:prstGeom>
          <a:solidFill>
            <a:srgbClr val="6600FF"/>
          </a:solidFill>
          <a:ln w="12700">
            <a:solidFill>
              <a:srgbClr val="6600FF"/>
            </a:solidFill>
            <a:prstDash val="solid"/>
          </a:ln>
          <a:effectLst>
            <a:outerShdw sx="100000" sy="100000" kx="0" ky="0" algn="bl" rotWithShape="0" blurRad="101600" dist="25400" dir="8100000">
              <a:srgbClr val="000000">
                <a:alpha val="12000"/>
              </a:srgbClr>
            </a:outerShdw>
          </a:effectLst>
        </p:spPr>
      </p:sp>
      <p:sp>
        <p:nvSpPr>
          <p:cNvPr id="21" name="Text 19"/>
          <p:cNvSpPr/>
          <p:nvPr/>
        </p:nvSpPr>
        <p:spPr>
          <a:xfrm>
            <a:off x="5468112" y="1371600"/>
            <a:ext cx="1371600" cy="7132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Viajes Nacionales</a:t>
            </a:r>
            <a:endParaRPr lang="en-US" sz="1050" dirty="0"/>
          </a:p>
        </p:txBody>
      </p:sp>
      <p:sp>
        <p:nvSpPr>
          <p:cNvPr id="22" name="Shape 20"/>
          <p:cNvSpPr/>
          <p:nvPr/>
        </p:nvSpPr>
        <p:spPr>
          <a:xfrm>
            <a:off x="6986016" y="1371600"/>
            <a:ext cx="1481328" cy="713232"/>
          </a:xfrm>
          <a:prstGeom prst="rect">
            <a:avLst/>
          </a:prstGeom>
          <a:solidFill>
            <a:srgbClr val="E6192E"/>
          </a:solidFill>
          <a:ln w="12700">
            <a:solidFill>
              <a:srgbClr val="E6192E"/>
            </a:solidFill>
            <a:prstDash val="solid"/>
          </a:ln>
          <a:effectLst>
            <a:outerShdw sx="100000" sy="100000" kx="0" ky="0" algn="bl" rotWithShape="0" blurRad="101600" dist="25400" dir="8100000">
              <a:srgbClr val="000000">
                <a:alpha val="12000"/>
              </a:srgbClr>
            </a:outerShdw>
          </a:effectLst>
        </p:spPr>
      </p:sp>
      <p:sp>
        <p:nvSpPr>
          <p:cNvPr id="23" name="Text 21"/>
          <p:cNvSpPr/>
          <p:nvPr/>
        </p:nvSpPr>
        <p:spPr>
          <a:xfrm>
            <a:off x="7040880" y="1371600"/>
            <a:ext cx="1371600" cy="7132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Viajes Internac.</a:t>
            </a:r>
            <a:endParaRPr lang="en-US" sz="1050" dirty="0"/>
          </a:p>
        </p:txBody>
      </p:sp>
      <p:sp>
        <p:nvSpPr>
          <p:cNvPr id="24" name="Shape 22"/>
          <p:cNvSpPr/>
          <p:nvPr/>
        </p:nvSpPr>
        <p:spPr>
          <a:xfrm>
            <a:off x="3840480" y="2194560"/>
            <a:ext cx="1481328" cy="713232"/>
          </a:xfrm>
          <a:prstGeom prst="rect">
            <a:avLst/>
          </a:prstGeom>
          <a:solidFill>
            <a:srgbClr val="003399"/>
          </a:solidFill>
          <a:ln w="12700">
            <a:solidFill>
              <a:srgbClr val="003399"/>
            </a:solidFill>
            <a:prstDash val="solid"/>
          </a:ln>
          <a:effectLst>
            <a:outerShdw sx="100000" sy="100000" kx="0" ky="0" algn="bl" rotWithShape="0" blurRad="101600" dist="25400" dir="8100000">
              <a:srgbClr val="000000">
                <a:alpha val="12000"/>
              </a:srgbClr>
            </a:outerShdw>
          </a:effectLst>
        </p:spPr>
      </p:sp>
      <p:sp>
        <p:nvSpPr>
          <p:cNvPr id="25" name="Text 23"/>
          <p:cNvSpPr/>
          <p:nvPr/>
        </p:nvSpPr>
        <p:spPr>
          <a:xfrm>
            <a:off x="3895344" y="2194560"/>
            <a:ext cx="1371600" cy="7132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Gastronomía</a:t>
            </a:r>
            <a:endParaRPr lang="en-US" sz="1050" dirty="0"/>
          </a:p>
        </p:txBody>
      </p:sp>
      <p:sp>
        <p:nvSpPr>
          <p:cNvPr id="26" name="Shape 24"/>
          <p:cNvSpPr/>
          <p:nvPr/>
        </p:nvSpPr>
        <p:spPr>
          <a:xfrm>
            <a:off x="5413248" y="2194560"/>
            <a:ext cx="1481328" cy="713232"/>
          </a:xfrm>
          <a:prstGeom prst="rect">
            <a:avLst/>
          </a:prstGeom>
          <a:solidFill>
            <a:srgbClr val="6600FF"/>
          </a:solidFill>
          <a:ln w="12700">
            <a:solidFill>
              <a:srgbClr val="6600FF"/>
            </a:solidFill>
            <a:prstDash val="solid"/>
          </a:ln>
          <a:effectLst>
            <a:outerShdw sx="100000" sy="100000" kx="0" ky="0" algn="bl" rotWithShape="0" blurRad="101600" dist="25400" dir="8100000">
              <a:srgbClr val="000000">
                <a:alpha val="12000"/>
              </a:srgbClr>
            </a:outerShdw>
          </a:effectLst>
        </p:spPr>
      </p:sp>
      <p:sp>
        <p:nvSpPr>
          <p:cNvPr id="27" name="Text 25"/>
          <p:cNvSpPr/>
          <p:nvPr/>
        </p:nvSpPr>
        <p:spPr>
          <a:xfrm>
            <a:off x="5468112" y="2194560"/>
            <a:ext cx="1371600" cy="7132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Entretenimiento</a:t>
            </a:r>
            <a:endParaRPr lang="en-US" sz="1050" dirty="0"/>
          </a:p>
        </p:txBody>
      </p:sp>
      <p:sp>
        <p:nvSpPr>
          <p:cNvPr id="28" name="Shape 26"/>
          <p:cNvSpPr/>
          <p:nvPr/>
        </p:nvSpPr>
        <p:spPr>
          <a:xfrm>
            <a:off x="6986016" y="2194560"/>
            <a:ext cx="1481328" cy="713232"/>
          </a:xfrm>
          <a:prstGeom prst="rect">
            <a:avLst/>
          </a:prstGeom>
          <a:solidFill>
            <a:srgbClr val="E6192E"/>
          </a:solidFill>
          <a:ln w="12700">
            <a:solidFill>
              <a:srgbClr val="E6192E"/>
            </a:solidFill>
            <a:prstDash val="solid"/>
          </a:ln>
          <a:effectLst>
            <a:outerShdw sx="100000" sy="100000" kx="0" ky="0" algn="bl" rotWithShape="0" blurRad="101600" dist="25400" dir="8100000">
              <a:srgbClr val="000000">
                <a:alpha val="12000"/>
              </a:srgbClr>
            </a:outerShdw>
          </a:effectLst>
        </p:spPr>
      </p:sp>
      <p:sp>
        <p:nvSpPr>
          <p:cNvPr id="29" name="Text 27"/>
          <p:cNvSpPr/>
          <p:nvPr/>
        </p:nvSpPr>
        <p:spPr>
          <a:xfrm>
            <a:off x="7040880" y="2194560"/>
            <a:ext cx="1371600" cy="7132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Salud &amp; Bienestar</a:t>
            </a:r>
            <a:endParaRPr lang="en-US" sz="1050" dirty="0"/>
          </a:p>
        </p:txBody>
      </p:sp>
      <p:sp>
        <p:nvSpPr>
          <p:cNvPr id="30" name="Shape 28"/>
          <p:cNvSpPr/>
          <p:nvPr/>
        </p:nvSpPr>
        <p:spPr>
          <a:xfrm>
            <a:off x="3840480" y="3017520"/>
            <a:ext cx="1481328" cy="713232"/>
          </a:xfrm>
          <a:prstGeom prst="rect">
            <a:avLst/>
          </a:prstGeom>
          <a:solidFill>
            <a:srgbClr val="003399"/>
          </a:solidFill>
          <a:ln w="12700">
            <a:solidFill>
              <a:srgbClr val="003399"/>
            </a:solidFill>
            <a:prstDash val="solid"/>
          </a:ln>
          <a:effectLst>
            <a:outerShdw sx="100000" sy="100000" kx="0" ky="0" algn="bl" rotWithShape="0" blurRad="101600" dist="25400" dir="8100000">
              <a:srgbClr val="000000">
                <a:alpha val="12000"/>
              </a:srgbClr>
            </a:outerShdw>
          </a:effectLst>
        </p:spPr>
      </p:sp>
      <p:sp>
        <p:nvSpPr>
          <p:cNvPr id="31" name="Text 29"/>
          <p:cNvSpPr/>
          <p:nvPr/>
        </p:nvSpPr>
        <p:spPr>
          <a:xfrm>
            <a:off x="3895344" y="3017520"/>
            <a:ext cx="1371600" cy="7132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Educación</a:t>
            </a:r>
            <a:endParaRPr lang="en-US" sz="1050" dirty="0"/>
          </a:p>
        </p:txBody>
      </p:sp>
      <p:sp>
        <p:nvSpPr>
          <p:cNvPr id="32" name="Shape 30"/>
          <p:cNvSpPr/>
          <p:nvPr/>
        </p:nvSpPr>
        <p:spPr>
          <a:xfrm>
            <a:off x="5413248" y="3017520"/>
            <a:ext cx="1481328" cy="713232"/>
          </a:xfrm>
          <a:prstGeom prst="rect">
            <a:avLst/>
          </a:prstGeom>
          <a:solidFill>
            <a:srgbClr val="6600FF"/>
          </a:solidFill>
          <a:ln w="12700">
            <a:solidFill>
              <a:srgbClr val="6600FF"/>
            </a:solidFill>
            <a:prstDash val="solid"/>
          </a:ln>
          <a:effectLst>
            <a:outerShdw sx="100000" sy="100000" kx="0" ky="0" algn="bl" rotWithShape="0" blurRad="101600" dist="25400" dir="8100000">
              <a:srgbClr val="000000">
                <a:alpha val="12000"/>
              </a:srgbClr>
            </a:outerShdw>
          </a:effectLst>
        </p:spPr>
      </p:sp>
      <p:sp>
        <p:nvSpPr>
          <p:cNvPr id="33" name="Text 31"/>
          <p:cNvSpPr/>
          <p:nvPr/>
        </p:nvSpPr>
        <p:spPr>
          <a:xfrm>
            <a:off x="5468112" y="3017520"/>
            <a:ext cx="1371600" cy="7132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Hogar &amp; Lifestyle</a:t>
            </a:r>
            <a:endParaRPr lang="en-US" sz="1050" dirty="0"/>
          </a:p>
        </p:txBody>
      </p:sp>
      <p:sp>
        <p:nvSpPr>
          <p:cNvPr id="34" name="Shape 32"/>
          <p:cNvSpPr/>
          <p:nvPr/>
        </p:nvSpPr>
        <p:spPr>
          <a:xfrm>
            <a:off x="6986016" y="3017520"/>
            <a:ext cx="1481328" cy="713232"/>
          </a:xfrm>
          <a:prstGeom prst="rect">
            <a:avLst/>
          </a:prstGeom>
          <a:solidFill>
            <a:srgbClr val="E6192E"/>
          </a:solidFill>
          <a:ln w="12700">
            <a:solidFill>
              <a:srgbClr val="E6192E"/>
            </a:solidFill>
            <a:prstDash val="solid"/>
          </a:ln>
          <a:effectLst>
            <a:outerShdw sx="100000" sy="100000" kx="0" ky="0" algn="bl" rotWithShape="0" blurRad="101600" dist="25400" dir="8100000">
              <a:srgbClr val="000000">
                <a:alpha val="12000"/>
              </a:srgbClr>
            </a:outerShdw>
          </a:effectLst>
        </p:spPr>
      </p:sp>
      <p:sp>
        <p:nvSpPr>
          <p:cNvPr id="35" name="Text 33"/>
          <p:cNvSpPr/>
          <p:nvPr/>
        </p:nvSpPr>
        <p:spPr>
          <a:xfrm>
            <a:off x="7040880" y="3017520"/>
            <a:ext cx="1371600" cy="7132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Premium Financiero</a:t>
            </a:r>
            <a:endParaRPr lang="en-US" sz="1050" dirty="0"/>
          </a:p>
        </p:txBody>
      </p:sp>
      <p:sp>
        <p:nvSpPr>
          <p:cNvPr id="36" name="Shape 34"/>
          <p:cNvSpPr/>
          <p:nvPr/>
        </p:nvSpPr>
        <p:spPr>
          <a:xfrm>
            <a:off x="3840480" y="4480560"/>
            <a:ext cx="4956048" cy="310896"/>
          </a:xfrm>
          <a:prstGeom prst="rect">
            <a:avLst/>
          </a:prstGeom>
          <a:solidFill>
            <a:srgbClr val="F0FFB8"/>
          </a:solidFill>
          <a:ln w="15240">
            <a:solidFill>
              <a:srgbClr val="D1FF00"/>
            </a:solidFill>
            <a:prstDash val="solid"/>
          </a:ln>
        </p:spPr>
      </p:sp>
      <p:sp>
        <p:nvSpPr>
          <p:cNvPr id="37" name="Text 35"/>
          <p:cNvSpPr/>
          <p:nvPr/>
        </p:nvSpPr>
        <p:spPr>
          <a:xfrm>
            <a:off x="3840480" y="4480560"/>
            <a:ext cx="4956048" cy="310896"/>
          </a:xfrm>
          <a:prstGeom prst="rect">
            <a:avLst/>
          </a:prstGeom>
          <a:noFill/>
          <a:ln/>
        </p:spPr>
        <p:txBody>
          <a:bodyPr wrap="square" lIns="0" tIns="0" rIns="0" bIns="0" rtlCol="0" anchor="ctr"/>
          <a:lstStyle/>
          <a:p>
            <a:pPr algn="ctr" indent="0" marL="0">
              <a:buNone/>
            </a:pPr>
            <a:r>
              <a:rPr lang="en-US" sz="950" dirty="0">
                <a:solidFill>
                  <a:srgbClr val="1A1A1A"/>
                </a:solidFill>
                <a:latin typeface="Calibri" pitchFamily="34" charset="0"/>
                <a:ea typeface="Calibri" pitchFamily="34" charset="-122"/>
                <a:cs typeface="Calibri" pitchFamily="34" charset="-120"/>
              </a:rPr>
              <a:t>Motor de reglas: 40 premios puntuados 0–100 con justificación explicable al usuario</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mAiles, Álbum de Cromos y Grupos</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Shape 3"/>
          <p:cNvSpPr/>
          <p:nvPr/>
        </p:nvSpPr>
        <p:spPr>
          <a:xfrm>
            <a:off x="384048" y="1005840"/>
            <a:ext cx="2633472" cy="3520440"/>
          </a:xfrm>
          <a:prstGeom prst="rect">
            <a:avLst/>
          </a:prstGeom>
          <a:solidFill>
            <a:srgbClr val="FFFFFF"/>
          </a:solidFill>
          <a:ln w="22860">
            <a:solidFill>
              <a:srgbClr val="E6192E"/>
            </a:solidFill>
            <a:prstDash val="solid"/>
          </a:ln>
          <a:effectLst>
            <a:outerShdw sx="100000" sy="100000" kx="0" ky="0" algn="bl" rotWithShape="0" blurRad="101600" dist="25400" dir="8100000">
              <a:srgbClr val="000000">
                <a:alpha val="12000"/>
              </a:srgbClr>
            </a:outerShdw>
          </a:effectLst>
        </p:spPr>
      </p:sp>
      <p:sp>
        <p:nvSpPr>
          <p:cNvPr id="6" name="Shape 4"/>
          <p:cNvSpPr/>
          <p:nvPr/>
        </p:nvSpPr>
        <p:spPr>
          <a:xfrm>
            <a:off x="384048" y="1005840"/>
            <a:ext cx="2633472" cy="73152"/>
          </a:xfrm>
          <a:prstGeom prst="rect">
            <a:avLst/>
          </a:prstGeom>
          <a:solidFill>
            <a:srgbClr val="E6192E"/>
          </a:solidFill>
          <a:ln w="12700">
            <a:solidFill>
              <a:srgbClr val="E6192E"/>
            </a:solidFill>
            <a:prstDash val="solid"/>
          </a:ln>
        </p:spPr>
      </p:sp>
      <p:sp>
        <p:nvSpPr>
          <p:cNvPr id="7" name="Shape 5"/>
          <p:cNvSpPr/>
          <p:nvPr/>
        </p:nvSpPr>
        <p:spPr>
          <a:xfrm>
            <a:off x="548640" y="1188720"/>
            <a:ext cx="621792" cy="621792"/>
          </a:xfrm>
          <a:prstGeom prst="ellipse">
            <a:avLst/>
          </a:prstGeom>
          <a:solidFill>
            <a:srgbClr val="E6192E">
              <a:alpha val="20000"/>
            </a:srgbClr>
          </a:solidFill>
          <a:ln w="12700">
            <a:solidFill>
              <a:srgbClr val="E6192E">
                <a:alpha val="20000"/>
              </a:srgbClr>
            </a:solidFill>
            <a:prstDash val="solid"/>
          </a:ln>
        </p:spPr>
      </p:sp>
      <p:sp>
        <p:nvSpPr>
          <p:cNvPr id="8" name="Text 6"/>
          <p:cNvSpPr/>
          <p:nvPr/>
        </p:nvSpPr>
        <p:spPr>
          <a:xfrm>
            <a:off x="548640" y="1188720"/>
            <a:ext cx="621792"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521208" y="1965960"/>
            <a:ext cx="2359152" cy="438912"/>
          </a:xfrm>
          <a:prstGeom prst="rect">
            <a:avLst/>
          </a:prstGeom>
          <a:noFill/>
          <a:ln/>
        </p:spPr>
        <p:txBody>
          <a:bodyPr wrap="square" lIns="0" tIns="0" rIns="0" bIns="0" rtlCol="0" anchor="ctr"/>
          <a:lstStyle/>
          <a:p>
            <a:pPr algn="l" indent="0" marL="0">
              <a:buNone/>
            </a:pPr>
            <a:r>
              <a:rPr lang="en-US" sz="1400" b="1" dirty="0">
                <a:solidFill>
                  <a:srgbClr val="E6192E"/>
                </a:solidFill>
                <a:latin typeface="Calibri" pitchFamily="34" charset="0"/>
                <a:ea typeface="Calibri" pitchFamily="34" charset="-122"/>
                <a:cs typeface="Calibri" pitchFamily="34" charset="-120"/>
              </a:rPr>
              <a:t>Sistema de mAiles</a:t>
            </a:r>
            <a:endParaRPr lang="en-US" sz="1400" dirty="0"/>
          </a:p>
        </p:txBody>
      </p:sp>
      <p:sp>
        <p:nvSpPr>
          <p:cNvPr id="10" name="Text 8"/>
          <p:cNvSpPr/>
          <p:nvPr/>
        </p:nvSpPr>
        <p:spPr>
          <a:xfrm>
            <a:off x="521208" y="2423160"/>
            <a:ext cx="2359152" cy="292608"/>
          </a:xfrm>
          <a:prstGeom prst="rect">
            <a:avLst/>
          </a:prstGeom>
          <a:noFill/>
          <a:ln/>
        </p:spPr>
        <p:txBody>
          <a:bodyPr wrap="square" lIns="0" tIns="0" rIns="0" bIns="0" rtlCol="0" anchor="ctr"/>
          <a:lstStyle/>
          <a:p>
            <a:pPr algn="l" indent="0" marL="0">
              <a:buNone/>
            </a:pPr>
            <a:r>
              <a:rPr lang="en-US" sz="950" b="1" dirty="0">
                <a:solidFill>
                  <a:srgbClr val="888888"/>
                </a:solidFill>
                <a:latin typeface="Calibri" pitchFamily="34" charset="0"/>
                <a:ea typeface="Calibri" pitchFamily="34" charset="-122"/>
                <a:cs typeface="Calibri" pitchFamily="34" charset="-120"/>
              </a:rPr>
              <a:t>Moneda interna de la plataforma</a:t>
            </a:r>
            <a:endParaRPr lang="en-US" sz="950" dirty="0"/>
          </a:p>
        </p:txBody>
      </p:sp>
      <p:sp>
        <p:nvSpPr>
          <p:cNvPr id="11" name="Shape 9"/>
          <p:cNvSpPr/>
          <p:nvPr/>
        </p:nvSpPr>
        <p:spPr>
          <a:xfrm>
            <a:off x="521208" y="2743200"/>
            <a:ext cx="2359152" cy="0"/>
          </a:xfrm>
          <a:prstGeom prst="line">
            <a:avLst/>
          </a:prstGeom>
          <a:noFill/>
          <a:ln w="9525">
            <a:solidFill>
              <a:srgbClr val="E6192E">
                <a:alpha val="45000"/>
              </a:srgbClr>
            </a:solidFill>
            <a:prstDash val="solid"/>
          </a:ln>
        </p:spPr>
      </p:sp>
      <p:sp>
        <p:nvSpPr>
          <p:cNvPr id="12" name="Text 10"/>
          <p:cNvSpPr/>
          <p:nvPr/>
        </p:nvSpPr>
        <p:spPr>
          <a:xfrm>
            <a:off x="521208" y="2834640"/>
            <a:ext cx="2359152" cy="155448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El usuario apuesta mAiles en pronósticos. Aciertos correctos generan más mAiles, avanzan de liga y contribuyen a las métricas que alimentan el modelo de segmentación de premios.</a:t>
            </a:r>
            <a:endParaRPr lang="en-US" sz="1050" dirty="0"/>
          </a:p>
        </p:txBody>
      </p:sp>
      <p:sp>
        <p:nvSpPr>
          <p:cNvPr id="13" name="Shape 11"/>
          <p:cNvSpPr/>
          <p:nvPr/>
        </p:nvSpPr>
        <p:spPr>
          <a:xfrm>
            <a:off x="3191256" y="1005840"/>
            <a:ext cx="2633472" cy="3520440"/>
          </a:xfrm>
          <a:prstGeom prst="rect">
            <a:avLst/>
          </a:prstGeom>
          <a:solidFill>
            <a:srgbClr val="FFFFFF"/>
          </a:solidFill>
          <a:ln w="22860">
            <a:solidFill>
              <a:srgbClr val="6600FF"/>
            </a:solidFill>
            <a:prstDash val="solid"/>
          </a:ln>
          <a:effectLst>
            <a:outerShdw sx="100000" sy="100000" kx="0" ky="0" algn="bl" rotWithShape="0" blurRad="101600" dist="25400" dir="8100000">
              <a:srgbClr val="000000">
                <a:alpha val="12000"/>
              </a:srgbClr>
            </a:outerShdw>
          </a:effectLst>
        </p:spPr>
      </p:sp>
      <p:sp>
        <p:nvSpPr>
          <p:cNvPr id="14" name="Shape 12"/>
          <p:cNvSpPr/>
          <p:nvPr/>
        </p:nvSpPr>
        <p:spPr>
          <a:xfrm>
            <a:off x="3191256" y="1005840"/>
            <a:ext cx="2633472" cy="73152"/>
          </a:xfrm>
          <a:prstGeom prst="rect">
            <a:avLst/>
          </a:prstGeom>
          <a:solidFill>
            <a:srgbClr val="6600FF"/>
          </a:solidFill>
          <a:ln w="12700">
            <a:solidFill>
              <a:srgbClr val="6600FF"/>
            </a:solidFill>
            <a:prstDash val="solid"/>
          </a:ln>
        </p:spPr>
      </p:sp>
      <p:sp>
        <p:nvSpPr>
          <p:cNvPr id="15" name="Shape 13"/>
          <p:cNvSpPr/>
          <p:nvPr/>
        </p:nvSpPr>
        <p:spPr>
          <a:xfrm>
            <a:off x="3355848" y="1188720"/>
            <a:ext cx="621792" cy="621792"/>
          </a:xfrm>
          <a:prstGeom prst="ellipse">
            <a:avLst/>
          </a:prstGeom>
          <a:solidFill>
            <a:srgbClr val="6600FF">
              <a:alpha val="20000"/>
            </a:srgbClr>
          </a:solidFill>
          <a:ln w="12700">
            <a:solidFill>
              <a:srgbClr val="6600FF">
                <a:alpha val="20000"/>
              </a:srgbClr>
            </a:solidFill>
            <a:prstDash val="solid"/>
          </a:ln>
        </p:spPr>
      </p:sp>
      <p:sp>
        <p:nvSpPr>
          <p:cNvPr id="16" name="Text 14"/>
          <p:cNvSpPr/>
          <p:nvPr/>
        </p:nvSpPr>
        <p:spPr>
          <a:xfrm>
            <a:off x="3355848" y="1188720"/>
            <a:ext cx="621792"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3328416" y="1965960"/>
            <a:ext cx="2359152" cy="438912"/>
          </a:xfrm>
          <a:prstGeom prst="rect">
            <a:avLst/>
          </a:prstGeom>
          <a:noFill/>
          <a:ln/>
        </p:spPr>
        <p:txBody>
          <a:bodyPr wrap="square" lIns="0" tIns="0" rIns="0" bIns="0" rtlCol="0" anchor="ctr"/>
          <a:lstStyle/>
          <a:p>
            <a:pPr algn="l" indent="0" marL="0">
              <a:buNone/>
            </a:pPr>
            <a:r>
              <a:rPr lang="en-US" sz="1400" b="1" dirty="0">
                <a:solidFill>
                  <a:srgbClr val="6600FF"/>
                </a:solidFill>
                <a:latin typeface="Calibri" pitchFamily="34" charset="0"/>
                <a:ea typeface="Calibri" pitchFamily="34" charset="-122"/>
                <a:cs typeface="Calibri" pitchFamily="34" charset="-120"/>
              </a:rPr>
              <a:t>Álbum de Cromos</a:t>
            </a:r>
            <a:endParaRPr lang="en-US" sz="1400" dirty="0"/>
          </a:p>
        </p:txBody>
      </p:sp>
      <p:sp>
        <p:nvSpPr>
          <p:cNvPr id="18" name="Text 16"/>
          <p:cNvSpPr/>
          <p:nvPr/>
        </p:nvSpPr>
        <p:spPr>
          <a:xfrm>
            <a:off x="3328416" y="2423160"/>
            <a:ext cx="2359152" cy="292608"/>
          </a:xfrm>
          <a:prstGeom prst="rect">
            <a:avLst/>
          </a:prstGeom>
          <a:noFill/>
          <a:ln/>
        </p:spPr>
        <p:txBody>
          <a:bodyPr wrap="square" lIns="0" tIns="0" rIns="0" bIns="0" rtlCol="0" anchor="ctr"/>
          <a:lstStyle/>
          <a:p>
            <a:pPr algn="l" indent="0" marL="0">
              <a:buNone/>
            </a:pPr>
            <a:r>
              <a:rPr lang="en-US" sz="950" b="1" dirty="0">
                <a:solidFill>
                  <a:srgbClr val="888888"/>
                </a:solidFill>
                <a:latin typeface="Calibri" pitchFamily="34" charset="0"/>
                <a:ea typeface="Calibri" pitchFamily="34" charset="-122"/>
                <a:cs typeface="Calibri" pitchFamily="34" charset="-120"/>
              </a:rPr>
              <a:t>Coleccionismo vinculado al engagement</a:t>
            </a:r>
            <a:endParaRPr lang="en-US" sz="950" dirty="0"/>
          </a:p>
        </p:txBody>
      </p:sp>
      <p:sp>
        <p:nvSpPr>
          <p:cNvPr id="19" name="Shape 17"/>
          <p:cNvSpPr/>
          <p:nvPr/>
        </p:nvSpPr>
        <p:spPr>
          <a:xfrm>
            <a:off x="3328416" y="2743200"/>
            <a:ext cx="2359152" cy="0"/>
          </a:xfrm>
          <a:prstGeom prst="line">
            <a:avLst/>
          </a:prstGeom>
          <a:noFill/>
          <a:ln w="9525">
            <a:solidFill>
              <a:srgbClr val="6600FF">
                <a:alpha val="45000"/>
              </a:srgbClr>
            </a:solidFill>
            <a:prstDash val="solid"/>
          </a:ln>
        </p:spPr>
      </p:sp>
      <p:sp>
        <p:nvSpPr>
          <p:cNvPr id="20" name="Text 18"/>
          <p:cNvSpPr/>
          <p:nvPr/>
        </p:nvSpPr>
        <p:spPr>
          <a:xfrm>
            <a:off x="3328416" y="2834640"/>
            <a:ext cx="2359152" cy="155448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Los cromos (común, raro, épico) se distribuyen según actividad, pronósticos acertados y objetivos completados. La rareza refleja la intensidad del engagement del usuario con la plataforma.</a:t>
            </a:r>
            <a:endParaRPr lang="en-US" sz="1050" dirty="0"/>
          </a:p>
        </p:txBody>
      </p:sp>
      <p:sp>
        <p:nvSpPr>
          <p:cNvPr id="21" name="Shape 19"/>
          <p:cNvSpPr/>
          <p:nvPr/>
        </p:nvSpPr>
        <p:spPr>
          <a:xfrm>
            <a:off x="5998464" y="1005840"/>
            <a:ext cx="2633472" cy="3520440"/>
          </a:xfrm>
          <a:prstGeom prst="rect">
            <a:avLst/>
          </a:prstGeom>
          <a:solidFill>
            <a:srgbClr val="FFFFFF"/>
          </a:solidFill>
          <a:ln w="22860">
            <a:solidFill>
              <a:srgbClr val="003399"/>
            </a:solidFill>
            <a:prstDash val="solid"/>
          </a:ln>
          <a:effectLst>
            <a:outerShdw sx="100000" sy="100000" kx="0" ky="0" algn="bl" rotWithShape="0" blurRad="101600" dist="25400" dir="8100000">
              <a:srgbClr val="000000">
                <a:alpha val="12000"/>
              </a:srgbClr>
            </a:outerShdw>
          </a:effectLst>
        </p:spPr>
      </p:sp>
      <p:sp>
        <p:nvSpPr>
          <p:cNvPr id="22" name="Shape 20"/>
          <p:cNvSpPr/>
          <p:nvPr/>
        </p:nvSpPr>
        <p:spPr>
          <a:xfrm>
            <a:off x="5998464" y="1005840"/>
            <a:ext cx="2633472" cy="73152"/>
          </a:xfrm>
          <a:prstGeom prst="rect">
            <a:avLst/>
          </a:prstGeom>
          <a:solidFill>
            <a:srgbClr val="003399"/>
          </a:solidFill>
          <a:ln w="12700">
            <a:solidFill>
              <a:srgbClr val="003399"/>
            </a:solidFill>
            <a:prstDash val="solid"/>
          </a:ln>
        </p:spPr>
      </p:sp>
      <p:sp>
        <p:nvSpPr>
          <p:cNvPr id="23" name="Shape 21"/>
          <p:cNvSpPr/>
          <p:nvPr/>
        </p:nvSpPr>
        <p:spPr>
          <a:xfrm>
            <a:off x="6163056" y="1188720"/>
            <a:ext cx="621792" cy="621792"/>
          </a:xfrm>
          <a:prstGeom prst="ellipse">
            <a:avLst/>
          </a:prstGeom>
          <a:solidFill>
            <a:srgbClr val="003399">
              <a:alpha val="20000"/>
            </a:srgbClr>
          </a:solidFill>
          <a:ln w="12700">
            <a:solidFill>
              <a:srgbClr val="003399">
                <a:alpha val="20000"/>
              </a:srgbClr>
            </a:solidFill>
            <a:prstDash val="solid"/>
          </a:ln>
        </p:spPr>
      </p:sp>
      <p:sp>
        <p:nvSpPr>
          <p:cNvPr id="24" name="Text 22"/>
          <p:cNvSpPr/>
          <p:nvPr/>
        </p:nvSpPr>
        <p:spPr>
          <a:xfrm>
            <a:off x="6163056" y="1188720"/>
            <a:ext cx="621792" cy="621792"/>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5" name="Text 23"/>
          <p:cNvSpPr/>
          <p:nvPr/>
        </p:nvSpPr>
        <p:spPr>
          <a:xfrm>
            <a:off x="6135624" y="1965960"/>
            <a:ext cx="2359152" cy="438912"/>
          </a:xfrm>
          <a:prstGeom prst="rect">
            <a:avLst/>
          </a:prstGeom>
          <a:noFill/>
          <a:ln/>
        </p:spPr>
        <p:txBody>
          <a:bodyPr wrap="square" lIns="0" tIns="0" rIns="0" bIns="0" rtlCol="0" anchor="ctr"/>
          <a:lstStyle/>
          <a:p>
            <a:pPr algn="l" indent="0" marL="0">
              <a:buNone/>
            </a:pPr>
            <a:r>
              <a:rPr lang="en-US" sz="1400" b="1" dirty="0">
                <a:solidFill>
                  <a:srgbClr val="003399"/>
                </a:solidFill>
                <a:latin typeface="Calibri" pitchFamily="34" charset="0"/>
                <a:ea typeface="Calibri" pitchFamily="34" charset="-122"/>
                <a:cs typeface="Calibri" pitchFamily="34" charset="-120"/>
              </a:rPr>
              <a:t>Grupos de Predicción</a:t>
            </a:r>
            <a:endParaRPr lang="en-US" sz="1400" dirty="0"/>
          </a:p>
        </p:txBody>
      </p:sp>
      <p:sp>
        <p:nvSpPr>
          <p:cNvPr id="26" name="Text 24"/>
          <p:cNvSpPr/>
          <p:nvPr/>
        </p:nvSpPr>
        <p:spPr>
          <a:xfrm>
            <a:off x="6135624" y="2423160"/>
            <a:ext cx="2359152" cy="292608"/>
          </a:xfrm>
          <a:prstGeom prst="rect">
            <a:avLst/>
          </a:prstGeom>
          <a:noFill/>
          <a:ln/>
        </p:spPr>
        <p:txBody>
          <a:bodyPr wrap="square" lIns="0" tIns="0" rIns="0" bIns="0" rtlCol="0" anchor="ctr"/>
          <a:lstStyle/>
          <a:p>
            <a:pPr algn="l" indent="0" marL="0">
              <a:buNone/>
            </a:pPr>
            <a:r>
              <a:rPr lang="en-US" sz="950" b="1" dirty="0">
                <a:solidFill>
                  <a:srgbClr val="888888"/>
                </a:solidFill>
                <a:latin typeface="Calibri" pitchFamily="34" charset="0"/>
                <a:ea typeface="Calibri" pitchFamily="34" charset="-122"/>
                <a:cs typeface="Calibri" pitchFamily="34" charset="-120"/>
              </a:rPr>
              <a:t>Competencia y socialización</a:t>
            </a:r>
            <a:endParaRPr lang="en-US" sz="950" dirty="0"/>
          </a:p>
        </p:txBody>
      </p:sp>
      <p:sp>
        <p:nvSpPr>
          <p:cNvPr id="27" name="Shape 25"/>
          <p:cNvSpPr/>
          <p:nvPr/>
        </p:nvSpPr>
        <p:spPr>
          <a:xfrm>
            <a:off x="6135624" y="2743200"/>
            <a:ext cx="2359152" cy="0"/>
          </a:xfrm>
          <a:prstGeom prst="line">
            <a:avLst/>
          </a:prstGeom>
          <a:noFill/>
          <a:ln w="9525">
            <a:solidFill>
              <a:srgbClr val="003399">
                <a:alpha val="45000"/>
              </a:srgbClr>
            </a:solidFill>
            <a:prstDash val="solid"/>
          </a:ln>
        </p:spPr>
      </p:sp>
      <p:sp>
        <p:nvSpPr>
          <p:cNvPr id="28" name="Text 26"/>
          <p:cNvSpPr/>
          <p:nvPr/>
        </p:nvSpPr>
        <p:spPr>
          <a:xfrm>
            <a:off x="6135624" y="2834640"/>
            <a:ext cx="2359152" cy="155448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Los usuarios forman grupos para competir colectivamente. El rol (creador/miembro), votos y actividad grupal enriquecen el perfil del usuario y mejoran su segmentación de premios futura.</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6600FF"/>
        </a:solidFill>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003399">
              <a:alpha val="40000"/>
            </a:srgbClr>
          </a:solidFill>
          <a:ln w="12700">
            <a:solidFill>
              <a:srgbClr val="003399">
                <a:alpha val="40000"/>
              </a:srgbClr>
            </a:solidFill>
            <a:prstDash val="solid"/>
          </a:ln>
        </p:spPr>
      </p:sp>
      <p:sp>
        <p:nvSpPr>
          <p:cNvPr id="3" name="Shape 1"/>
          <p:cNvSpPr/>
          <p:nvPr/>
        </p:nvSpPr>
        <p:spPr>
          <a:xfrm>
            <a:off x="-1828800" y="2743200"/>
            <a:ext cx="5029200" cy="5029200"/>
          </a:xfrm>
          <a:prstGeom prst="ellipse">
            <a:avLst/>
          </a:prstGeom>
          <a:solidFill>
            <a:srgbClr val="E6192E">
              <a:alpha val="28000"/>
            </a:srgbClr>
          </a:solidFill>
          <a:ln w="12700">
            <a:solidFill>
              <a:srgbClr val="E6192E">
                <a:alpha val="28000"/>
              </a:srgbClr>
            </a:solidFill>
            <a:prstDash val="solid"/>
          </a:ln>
        </p:spPr>
      </p:sp>
      <p:sp>
        <p:nvSpPr>
          <p:cNvPr id="4" name="Shape 2"/>
          <p:cNvSpPr/>
          <p:nvPr/>
        </p:nvSpPr>
        <p:spPr>
          <a:xfrm>
            <a:off x="0" y="4754880"/>
            <a:ext cx="9144000" cy="388620"/>
          </a:xfrm>
          <a:prstGeom prst="rect">
            <a:avLst/>
          </a:prstGeom>
          <a:solidFill>
            <a:srgbClr val="003399"/>
          </a:solidFill>
          <a:ln w="12700">
            <a:solidFill>
              <a:srgbClr val="003399"/>
            </a:solidFill>
            <a:prstDash val="solid"/>
          </a:ln>
        </p:spPr>
      </p:sp>
      <p:sp>
        <p:nvSpPr>
          <p:cNvPr id="5" name="Shape 3"/>
          <p:cNvSpPr/>
          <p:nvPr/>
        </p:nvSpPr>
        <p:spPr>
          <a:xfrm>
            <a:off x="457200" y="1417320"/>
            <a:ext cx="118872" cy="2423160"/>
          </a:xfrm>
          <a:prstGeom prst="rect">
            <a:avLst/>
          </a:prstGeom>
          <a:solidFill>
            <a:srgbClr val="D1FF00"/>
          </a:solidFill>
          <a:ln w="12700">
            <a:solidFill>
              <a:srgbClr val="D1FF00"/>
            </a:solidFill>
            <a:prstDash val="solid"/>
          </a:ln>
        </p:spPr>
      </p:sp>
      <p:sp>
        <p:nvSpPr>
          <p:cNvPr id="6" name="Text 4"/>
          <p:cNvSpPr/>
          <p:nvPr/>
        </p:nvSpPr>
        <p:spPr>
          <a:xfrm>
            <a:off x="731520" y="1325880"/>
            <a:ext cx="3657600" cy="347472"/>
          </a:xfrm>
          <a:prstGeom prst="rect">
            <a:avLst/>
          </a:prstGeom>
          <a:noFill/>
          <a:ln/>
        </p:spPr>
        <p:txBody>
          <a:bodyPr wrap="square" lIns="0" tIns="0" rIns="0" bIns="0" rtlCol="0" anchor="ctr"/>
          <a:lstStyle/>
          <a:p>
            <a:pPr algn="l" indent="0" marL="0">
              <a:buNone/>
            </a:pPr>
            <a:r>
              <a:rPr lang="en-US" sz="1100" b="1" dirty="0">
                <a:solidFill>
                  <a:srgbClr val="D1FF00"/>
                </a:solidFill>
                <a:latin typeface="Calibri" pitchFamily="34" charset="0"/>
                <a:ea typeface="Calibri" pitchFamily="34" charset="-122"/>
                <a:cs typeface="Calibri" pitchFamily="34" charset="-120"/>
              </a:rPr>
              <a:t>05 —</a:t>
            </a:r>
            <a:endParaRPr lang="en-US" sz="1100" dirty="0"/>
          </a:p>
        </p:txBody>
      </p:sp>
      <p:sp>
        <p:nvSpPr>
          <p:cNvPr id="7" name="Text 5"/>
          <p:cNvSpPr/>
          <p:nvPr/>
        </p:nvSpPr>
        <p:spPr>
          <a:xfrm>
            <a:off x="731520" y="1691640"/>
            <a:ext cx="7772400" cy="150876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Conexión con la</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Problemática</a:t>
            </a:r>
            <a:endParaRPr lang="en-US" sz="4000" dirty="0"/>
          </a:p>
        </p:txBody>
      </p:sp>
      <p:sp>
        <p:nvSpPr>
          <p:cNvPr id="8" name="Text 6"/>
          <p:cNvSpPr/>
          <p:nvPr/>
        </p:nvSpPr>
        <p:spPr>
          <a:xfrm>
            <a:off x="731520" y="3291840"/>
            <a:ext cx="7315200" cy="475488"/>
          </a:xfrm>
          <a:prstGeom prst="rect">
            <a:avLst/>
          </a:prstGeom>
          <a:noFill/>
          <a:ln/>
        </p:spPr>
        <p:txBody>
          <a:bodyPr wrap="square" lIns="0" tIns="0" rIns="0" bIns="0" rtlCol="0" anchor="ctr"/>
          <a:lstStyle/>
          <a:p>
            <a:pPr algn="l" indent="0" marL="0">
              <a:buNone/>
            </a:pPr>
            <a:r>
              <a:rPr lang="en-US" sz="1500" dirty="0">
                <a:solidFill>
                  <a:srgbClr val="D1FF00"/>
                </a:solidFill>
                <a:latin typeface="Calibri" pitchFamily="34" charset="0"/>
                <a:ea typeface="Calibri" pitchFamily="34" charset="-122"/>
                <a:cs typeface="Calibri" pitchFamily="34" charset="-120"/>
              </a:rPr>
              <a:t>De cada funcionalidad a un problema concreto resuelto</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Funcionalidad → Problema Resuelto → Indicador</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Shape 3"/>
          <p:cNvSpPr/>
          <p:nvPr/>
        </p:nvSpPr>
        <p:spPr>
          <a:xfrm>
            <a:off x="347472" y="960120"/>
            <a:ext cx="2468880" cy="384048"/>
          </a:xfrm>
          <a:prstGeom prst="rect">
            <a:avLst/>
          </a:prstGeom>
          <a:solidFill>
            <a:srgbClr val="003399"/>
          </a:solidFill>
          <a:ln w="12700">
            <a:solidFill>
              <a:srgbClr val="003399"/>
            </a:solidFill>
            <a:prstDash val="solid"/>
          </a:ln>
        </p:spPr>
      </p:sp>
      <p:sp>
        <p:nvSpPr>
          <p:cNvPr id="6" name="Text 4"/>
          <p:cNvSpPr/>
          <p:nvPr/>
        </p:nvSpPr>
        <p:spPr>
          <a:xfrm>
            <a:off x="438912" y="960120"/>
            <a:ext cx="2286000" cy="38404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Funcionalidad</a:t>
            </a:r>
            <a:endParaRPr lang="en-US" sz="1100" dirty="0"/>
          </a:p>
        </p:txBody>
      </p:sp>
      <p:sp>
        <p:nvSpPr>
          <p:cNvPr id="7" name="Shape 5"/>
          <p:cNvSpPr/>
          <p:nvPr/>
        </p:nvSpPr>
        <p:spPr>
          <a:xfrm>
            <a:off x="3017520" y="960120"/>
            <a:ext cx="3154680" cy="384048"/>
          </a:xfrm>
          <a:prstGeom prst="rect">
            <a:avLst/>
          </a:prstGeom>
          <a:solidFill>
            <a:srgbClr val="003399"/>
          </a:solidFill>
          <a:ln w="12700">
            <a:solidFill>
              <a:srgbClr val="003399"/>
            </a:solidFill>
            <a:prstDash val="solid"/>
          </a:ln>
        </p:spPr>
      </p:sp>
      <p:sp>
        <p:nvSpPr>
          <p:cNvPr id="8" name="Text 6"/>
          <p:cNvSpPr/>
          <p:nvPr/>
        </p:nvSpPr>
        <p:spPr>
          <a:xfrm>
            <a:off x="3108960" y="960120"/>
            <a:ext cx="2971800" cy="38404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Problema que Resuelve</a:t>
            </a:r>
            <a:endParaRPr lang="en-US" sz="1100" dirty="0"/>
          </a:p>
        </p:txBody>
      </p:sp>
      <p:sp>
        <p:nvSpPr>
          <p:cNvPr id="9" name="Shape 7"/>
          <p:cNvSpPr/>
          <p:nvPr/>
        </p:nvSpPr>
        <p:spPr>
          <a:xfrm>
            <a:off x="6400800" y="960120"/>
            <a:ext cx="2468880" cy="384048"/>
          </a:xfrm>
          <a:prstGeom prst="rect">
            <a:avLst/>
          </a:prstGeom>
          <a:solidFill>
            <a:srgbClr val="003399"/>
          </a:solidFill>
          <a:ln w="12700">
            <a:solidFill>
              <a:srgbClr val="003399"/>
            </a:solidFill>
            <a:prstDash val="solid"/>
          </a:ln>
        </p:spPr>
      </p:sp>
      <p:sp>
        <p:nvSpPr>
          <p:cNvPr id="10" name="Text 8"/>
          <p:cNvSpPr/>
          <p:nvPr/>
        </p:nvSpPr>
        <p:spPr>
          <a:xfrm>
            <a:off x="6492240" y="960120"/>
            <a:ext cx="2286000" cy="38404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Indicador de Impacto</a:t>
            </a:r>
            <a:endParaRPr lang="en-US" sz="1100" dirty="0"/>
          </a:p>
        </p:txBody>
      </p:sp>
      <p:sp>
        <p:nvSpPr>
          <p:cNvPr id="11" name="Shape 9"/>
          <p:cNvSpPr/>
          <p:nvPr/>
        </p:nvSpPr>
        <p:spPr>
          <a:xfrm>
            <a:off x="347472" y="1389888"/>
            <a:ext cx="2468880" cy="530352"/>
          </a:xfrm>
          <a:prstGeom prst="rect">
            <a:avLst/>
          </a:prstGeom>
          <a:solidFill>
            <a:srgbClr val="EEF2FF"/>
          </a:solidFill>
          <a:ln w="6350">
            <a:solidFill>
              <a:srgbClr val="CCCCCC"/>
            </a:solidFill>
            <a:prstDash val="solid"/>
          </a:ln>
        </p:spPr>
      </p:sp>
      <p:sp>
        <p:nvSpPr>
          <p:cNvPr id="12" name="Shape 10"/>
          <p:cNvSpPr/>
          <p:nvPr/>
        </p:nvSpPr>
        <p:spPr>
          <a:xfrm>
            <a:off x="3017520" y="1389888"/>
            <a:ext cx="3154680" cy="530352"/>
          </a:xfrm>
          <a:prstGeom prst="rect">
            <a:avLst/>
          </a:prstGeom>
          <a:solidFill>
            <a:srgbClr val="EEF2FF"/>
          </a:solidFill>
          <a:ln w="6350">
            <a:solidFill>
              <a:srgbClr val="CCCCCC"/>
            </a:solidFill>
            <a:prstDash val="solid"/>
          </a:ln>
        </p:spPr>
      </p:sp>
      <p:sp>
        <p:nvSpPr>
          <p:cNvPr id="13" name="Shape 11"/>
          <p:cNvSpPr/>
          <p:nvPr/>
        </p:nvSpPr>
        <p:spPr>
          <a:xfrm>
            <a:off x="6400800" y="1389888"/>
            <a:ext cx="2468880" cy="530352"/>
          </a:xfrm>
          <a:prstGeom prst="rect">
            <a:avLst/>
          </a:prstGeom>
          <a:solidFill>
            <a:srgbClr val="EEF2FF"/>
          </a:solidFill>
          <a:ln w="6350">
            <a:solidFill>
              <a:srgbClr val="CCCCCC"/>
            </a:solidFill>
            <a:prstDash val="solid"/>
          </a:ln>
        </p:spPr>
      </p:sp>
      <p:sp>
        <p:nvSpPr>
          <p:cNvPr id="14" name="Text 12"/>
          <p:cNvSpPr/>
          <p:nvPr/>
        </p:nvSpPr>
        <p:spPr>
          <a:xfrm>
            <a:off x="438912" y="1426464"/>
            <a:ext cx="2286000" cy="457200"/>
          </a:xfrm>
          <a:prstGeom prst="rect">
            <a:avLst/>
          </a:prstGeom>
          <a:noFill/>
          <a:ln/>
        </p:spPr>
        <p:txBody>
          <a:bodyPr wrap="square" lIns="0" tIns="0" rIns="0" bIns="0" rtlCol="0" anchor="ctr"/>
          <a:lstStyle/>
          <a:p>
            <a:pPr algn="l" indent="0" marL="0">
              <a:buNone/>
            </a:pPr>
            <a:r>
              <a:rPr lang="en-US" sz="1000" b="1" dirty="0">
                <a:solidFill>
                  <a:srgbClr val="003399"/>
                </a:solidFill>
                <a:latin typeface="Calibri" pitchFamily="34" charset="0"/>
                <a:ea typeface="Calibri" pitchFamily="34" charset="-122"/>
                <a:cs typeface="Calibri" pitchFamily="34" charset="-120"/>
              </a:rPr>
              <a:t>Chatbot deportivo</a:t>
            </a:r>
            <a:endParaRPr lang="en-US" sz="1000" dirty="0"/>
          </a:p>
        </p:txBody>
      </p:sp>
      <p:sp>
        <p:nvSpPr>
          <p:cNvPr id="15" name="Text 13"/>
          <p:cNvSpPr/>
          <p:nvPr/>
        </p:nvSpPr>
        <p:spPr>
          <a:xfrm>
            <a:off x="3108960" y="1426464"/>
            <a:ext cx="2971800" cy="45720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Falta de motivos para abrir la app a diario</a:t>
            </a:r>
            <a:endParaRPr lang="en-US" sz="1000" dirty="0"/>
          </a:p>
        </p:txBody>
      </p:sp>
      <p:sp>
        <p:nvSpPr>
          <p:cNvPr id="16" name="Text 14"/>
          <p:cNvSpPr/>
          <p:nvPr/>
        </p:nvSpPr>
        <p:spPr>
          <a:xfrm>
            <a:off x="6492240" y="1426464"/>
            <a:ext cx="2286000" cy="457200"/>
          </a:xfrm>
          <a:prstGeom prst="rect">
            <a:avLst/>
          </a:prstGeom>
          <a:noFill/>
          <a:ln/>
        </p:spPr>
        <p:txBody>
          <a:bodyPr wrap="square" lIns="0" tIns="0" rIns="0" bIns="0" rtlCol="0" anchor="ctr"/>
          <a:lstStyle/>
          <a:p>
            <a:pPr algn="l" indent="0" marL="0">
              <a:buNone/>
            </a:pPr>
            <a:r>
              <a:rPr lang="en-US" sz="1000" dirty="0">
                <a:solidFill>
                  <a:srgbClr val="6600FF"/>
                </a:solidFill>
                <a:latin typeface="Calibri" pitchFamily="34" charset="0"/>
                <a:ea typeface="Calibri" pitchFamily="34" charset="-122"/>
                <a:cs typeface="Calibri" pitchFamily="34" charset="-120"/>
              </a:rPr>
              <a:t>Frecuencia de apertura diaria</a:t>
            </a:r>
            <a:endParaRPr lang="en-US" sz="1000" dirty="0"/>
          </a:p>
        </p:txBody>
      </p:sp>
      <p:sp>
        <p:nvSpPr>
          <p:cNvPr id="17" name="Shape 15"/>
          <p:cNvSpPr/>
          <p:nvPr/>
        </p:nvSpPr>
        <p:spPr>
          <a:xfrm>
            <a:off x="347472" y="1956816"/>
            <a:ext cx="2468880" cy="530352"/>
          </a:xfrm>
          <a:prstGeom prst="rect">
            <a:avLst/>
          </a:prstGeom>
          <a:solidFill>
            <a:srgbClr val="FFFFFF"/>
          </a:solidFill>
          <a:ln w="6350">
            <a:solidFill>
              <a:srgbClr val="CCCCCC"/>
            </a:solidFill>
            <a:prstDash val="solid"/>
          </a:ln>
        </p:spPr>
      </p:sp>
      <p:sp>
        <p:nvSpPr>
          <p:cNvPr id="18" name="Shape 16"/>
          <p:cNvSpPr/>
          <p:nvPr/>
        </p:nvSpPr>
        <p:spPr>
          <a:xfrm>
            <a:off x="3017520" y="1956816"/>
            <a:ext cx="3154680" cy="530352"/>
          </a:xfrm>
          <a:prstGeom prst="rect">
            <a:avLst/>
          </a:prstGeom>
          <a:solidFill>
            <a:srgbClr val="FFFFFF"/>
          </a:solidFill>
          <a:ln w="6350">
            <a:solidFill>
              <a:srgbClr val="CCCCCC"/>
            </a:solidFill>
            <a:prstDash val="solid"/>
          </a:ln>
        </p:spPr>
      </p:sp>
      <p:sp>
        <p:nvSpPr>
          <p:cNvPr id="19" name="Shape 17"/>
          <p:cNvSpPr/>
          <p:nvPr/>
        </p:nvSpPr>
        <p:spPr>
          <a:xfrm>
            <a:off x="6400800" y="1956816"/>
            <a:ext cx="2468880" cy="530352"/>
          </a:xfrm>
          <a:prstGeom prst="rect">
            <a:avLst/>
          </a:prstGeom>
          <a:solidFill>
            <a:srgbClr val="FFFFFF"/>
          </a:solidFill>
          <a:ln w="6350">
            <a:solidFill>
              <a:srgbClr val="CCCCCC"/>
            </a:solidFill>
            <a:prstDash val="solid"/>
          </a:ln>
        </p:spPr>
      </p:sp>
      <p:sp>
        <p:nvSpPr>
          <p:cNvPr id="20" name="Text 18"/>
          <p:cNvSpPr/>
          <p:nvPr/>
        </p:nvSpPr>
        <p:spPr>
          <a:xfrm>
            <a:off x="438912" y="1993392"/>
            <a:ext cx="2286000" cy="457200"/>
          </a:xfrm>
          <a:prstGeom prst="rect">
            <a:avLst/>
          </a:prstGeom>
          <a:noFill/>
          <a:ln/>
        </p:spPr>
        <p:txBody>
          <a:bodyPr wrap="square" lIns="0" tIns="0" rIns="0" bIns="0" rtlCol="0" anchor="ctr"/>
          <a:lstStyle/>
          <a:p>
            <a:pPr algn="l" indent="0" marL="0">
              <a:buNone/>
            </a:pPr>
            <a:r>
              <a:rPr lang="en-US" sz="1000" b="1" dirty="0">
                <a:solidFill>
                  <a:srgbClr val="003399"/>
                </a:solidFill>
                <a:latin typeface="Calibri" pitchFamily="34" charset="0"/>
                <a:ea typeface="Calibri" pitchFamily="34" charset="-122"/>
                <a:cs typeface="Calibri" pitchFamily="34" charset="-120"/>
              </a:rPr>
              <a:t>Segmentación con IA</a:t>
            </a:r>
            <a:endParaRPr lang="en-US" sz="1000" dirty="0"/>
          </a:p>
        </p:txBody>
      </p:sp>
      <p:sp>
        <p:nvSpPr>
          <p:cNvPr id="21" name="Text 19"/>
          <p:cNvSpPr/>
          <p:nvPr/>
        </p:nvSpPr>
        <p:spPr>
          <a:xfrm>
            <a:off x="3108960" y="1993392"/>
            <a:ext cx="2971800" cy="45720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Programas de lealtad genéricos e irrelevantes</a:t>
            </a:r>
            <a:endParaRPr lang="en-US" sz="1000" dirty="0"/>
          </a:p>
        </p:txBody>
      </p:sp>
      <p:sp>
        <p:nvSpPr>
          <p:cNvPr id="22" name="Text 20"/>
          <p:cNvSpPr/>
          <p:nvPr/>
        </p:nvSpPr>
        <p:spPr>
          <a:xfrm>
            <a:off x="6492240" y="1993392"/>
            <a:ext cx="2286000" cy="457200"/>
          </a:xfrm>
          <a:prstGeom prst="rect">
            <a:avLst/>
          </a:prstGeom>
          <a:noFill/>
          <a:ln/>
        </p:spPr>
        <p:txBody>
          <a:bodyPr wrap="square" lIns="0" tIns="0" rIns="0" bIns="0" rtlCol="0" anchor="ctr"/>
          <a:lstStyle/>
          <a:p>
            <a:pPr algn="l" indent="0" marL="0">
              <a:buNone/>
            </a:pPr>
            <a:r>
              <a:rPr lang="en-US" sz="1000" dirty="0">
                <a:solidFill>
                  <a:srgbClr val="6600FF"/>
                </a:solidFill>
                <a:latin typeface="Calibri" pitchFamily="34" charset="0"/>
                <a:ea typeface="Calibri" pitchFamily="34" charset="-122"/>
                <a:cs typeface="Calibri" pitchFamily="34" charset="-120"/>
              </a:rPr>
              <a:t>Tasa de canje del premio; satisfacción</a:t>
            </a:r>
            <a:endParaRPr lang="en-US" sz="1000" dirty="0"/>
          </a:p>
        </p:txBody>
      </p:sp>
      <p:sp>
        <p:nvSpPr>
          <p:cNvPr id="23" name="Shape 21"/>
          <p:cNvSpPr/>
          <p:nvPr/>
        </p:nvSpPr>
        <p:spPr>
          <a:xfrm>
            <a:off x="347472" y="2523744"/>
            <a:ext cx="2468880" cy="530352"/>
          </a:xfrm>
          <a:prstGeom prst="rect">
            <a:avLst/>
          </a:prstGeom>
          <a:solidFill>
            <a:srgbClr val="EEF2FF"/>
          </a:solidFill>
          <a:ln w="6350">
            <a:solidFill>
              <a:srgbClr val="CCCCCC"/>
            </a:solidFill>
            <a:prstDash val="solid"/>
          </a:ln>
        </p:spPr>
      </p:sp>
      <p:sp>
        <p:nvSpPr>
          <p:cNvPr id="24" name="Shape 22"/>
          <p:cNvSpPr/>
          <p:nvPr/>
        </p:nvSpPr>
        <p:spPr>
          <a:xfrm>
            <a:off x="3017520" y="2523744"/>
            <a:ext cx="3154680" cy="530352"/>
          </a:xfrm>
          <a:prstGeom prst="rect">
            <a:avLst/>
          </a:prstGeom>
          <a:solidFill>
            <a:srgbClr val="EEF2FF"/>
          </a:solidFill>
          <a:ln w="6350">
            <a:solidFill>
              <a:srgbClr val="CCCCCC"/>
            </a:solidFill>
            <a:prstDash val="solid"/>
          </a:ln>
        </p:spPr>
      </p:sp>
      <p:sp>
        <p:nvSpPr>
          <p:cNvPr id="25" name="Shape 23"/>
          <p:cNvSpPr/>
          <p:nvPr/>
        </p:nvSpPr>
        <p:spPr>
          <a:xfrm>
            <a:off x="6400800" y="2523744"/>
            <a:ext cx="2468880" cy="530352"/>
          </a:xfrm>
          <a:prstGeom prst="rect">
            <a:avLst/>
          </a:prstGeom>
          <a:solidFill>
            <a:srgbClr val="EEF2FF"/>
          </a:solidFill>
          <a:ln w="6350">
            <a:solidFill>
              <a:srgbClr val="CCCCCC"/>
            </a:solidFill>
            <a:prstDash val="solid"/>
          </a:ln>
        </p:spPr>
      </p:sp>
      <p:sp>
        <p:nvSpPr>
          <p:cNvPr id="26" name="Text 24"/>
          <p:cNvSpPr/>
          <p:nvPr/>
        </p:nvSpPr>
        <p:spPr>
          <a:xfrm>
            <a:off x="438912" y="2560320"/>
            <a:ext cx="2286000" cy="457200"/>
          </a:xfrm>
          <a:prstGeom prst="rect">
            <a:avLst/>
          </a:prstGeom>
          <a:noFill/>
          <a:ln/>
        </p:spPr>
        <p:txBody>
          <a:bodyPr wrap="square" lIns="0" tIns="0" rIns="0" bIns="0" rtlCol="0" anchor="ctr"/>
          <a:lstStyle/>
          <a:p>
            <a:pPr algn="l" indent="0" marL="0">
              <a:buNone/>
            </a:pPr>
            <a:r>
              <a:rPr lang="en-US" sz="1000" b="1" dirty="0">
                <a:solidFill>
                  <a:srgbClr val="003399"/>
                </a:solidFill>
                <a:latin typeface="Calibri" pitchFamily="34" charset="0"/>
                <a:ea typeface="Calibri" pitchFamily="34" charset="-122"/>
                <a:cs typeface="Calibri" pitchFamily="34" charset="-120"/>
              </a:rPr>
              <a:t>mAiles y pronósticos</a:t>
            </a:r>
            <a:endParaRPr lang="en-US" sz="1000" dirty="0"/>
          </a:p>
        </p:txBody>
      </p:sp>
      <p:sp>
        <p:nvSpPr>
          <p:cNvPr id="27" name="Text 25"/>
          <p:cNvSpPr/>
          <p:nvPr/>
        </p:nvSpPr>
        <p:spPr>
          <a:xfrm>
            <a:off x="3108960" y="2560320"/>
            <a:ext cx="2971800" cy="45720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Baja participación activa en productos bancarios</a:t>
            </a:r>
            <a:endParaRPr lang="en-US" sz="1000" dirty="0"/>
          </a:p>
        </p:txBody>
      </p:sp>
      <p:sp>
        <p:nvSpPr>
          <p:cNvPr id="28" name="Text 26"/>
          <p:cNvSpPr/>
          <p:nvPr/>
        </p:nvSpPr>
        <p:spPr>
          <a:xfrm>
            <a:off x="6492240" y="2560320"/>
            <a:ext cx="2286000" cy="457200"/>
          </a:xfrm>
          <a:prstGeom prst="rect">
            <a:avLst/>
          </a:prstGeom>
          <a:noFill/>
          <a:ln/>
        </p:spPr>
        <p:txBody>
          <a:bodyPr wrap="square" lIns="0" tIns="0" rIns="0" bIns="0" rtlCol="0" anchor="ctr"/>
          <a:lstStyle/>
          <a:p>
            <a:pPr algn="l" indent="0" marL="0">
              <a:buNone/>
            </a:pPr>
            <a:r>
              <a:rPr lang="en-US" sz="1000" dirty="0">
                <a:solidFill>
                  <a:srgbClr val="6600FF"/>
                </a:solidFill>
                <a:latin typeface="Calibri" pitchFamily="34" charset="0"/>
                <a:ea typeface="Calibri" pitchFamily="34" charset="-122"/>
                <a:cs typeface="Calibri" pitchFamily="34" charset="-120"/>
              </a:rPr>
              <a:t>Volumen de transacciones vinculadas</a:t>
            </a:r>
            <a:endParaRPr lang="en-US" sz="1000" dirty="0"/>
          </a:p>
        </p:txBody>
      </p:sp>
      <p:sp>
        <p:nvSpPr>
          <p:cNvPr id="29" name="Shape 27"/>
          <p:cNvSpPr/>
          <p:nvPr/>
        </p:nvSpPr>
        <p:spPr>
          <a:xfrm>
            <a:off x="347472" y="3090672"/>
            <a:ext cx="2468880" cy="530352"/>
          </a:xfrm>
          <a:prstGeom prst="rect">
            <a:avLst/>
          </a:prstGeom>
          <a:solidFill>
            <a:srgbClr val="FFFFFF"/>
          </a:solidFill>
          <a:ln w="6350">
            <a:solidFill>
              <a:srgbClr val="CCCCCC"/>
            </a:solidFill>
            <a:prstDash val="solid"/>
          </a:ln>
        </p:spPr>
      </p:sp>
      <p:sp>
        <p:nvSpPr>
          <p:cNvPr id="30" name="Shape 28"/>
          <p:cNvSpPr/>
          <p:nvPr/>
        </p:nvSpPr>
        <p:spPr>
          <a:xfrm>
            <a:off x="3017520" y="3090672"/>
            <a:ext cx="3154680" cy="530352"/>
          </a:xfrm>
          <a:prstGeom prst="rect">
            <a:avLst/>
          </a:prstGeom>
          <a:solidFill>
            <a:srgbClr val="FFFFFF"/>
          </a:solidFill>
          <a:ln w="6350">
            <a:solidFill>
              <a:srgbClr val="CCCCCC"/>
            </a:solidFill>
            <a:prstDash val="solid"/>
          </a:ln>
        </p:spPr>
      </p:sp>
      <p:sp>
        <p:nvSpPr>
          <p:cNvPr id="31" name="Shape 29"/>
          <p:cNvSpPr/>
          <p:nvPr/>
        </p:nvSpPr>
        <p:spPr>
          <a:xfrm>
            <a:off x="6400800" y="3090672"/>
            <a:ext cx="2468880" cy="530352"/>
          </a:xfrm>
          <a:prstGeom prst="rect">
            <a:avLst/>
          </a:prstGeom>
          <a:solidFill>
            <a:srgbClr val="FFFFFF"/>
          </a:solidFill>
          <a:ln w="6350">
            <a:solidFill>
              <a:srgbClr val="CCCCCC"/>
            </a:solidFill>
            <a:prstDash val="solid"/>
          </a:ln>
        </p:spPr>
      </p:sp>
      <p:sp>
        <p:nvSpPr>
          <p:cNvPr id="32" name="Text 30"/>
          <p:cNvSpPr/>
          <p:nvPr/>
        </p:nvSpPr>
        <p:spPr>
          <a:xfrm>
            <a:off x="438912" y="3127248"/>
            <a:ext cx="2286000" cy="457200"/>
          </a:xfrm>
          <a:prstGeom prst="rect">
            <a:avLst/>
          </a:prstGeom>
          <a:noFill/>
          <a:ln/>
        </p:spPr>
        <p:txBody>
          <a:bodyPr wrap="square" lIns="0" tIns="0" rIns="0" bIns="0" rtlCol="0" anchor="ctr"/>
          <a:lstStyle/>
          <a:p>
            <a:pPr algn="l" indent="0" marL="0">
              <a:buNone/>
            </a:pPr>
            <a:r>
              <a:rPr lang="en-US" sz="1000" b="1" dirty="0">
                <a:solidFill>
                  <a:srgbClr val="003399"/>
                </a:solidFill>
                <a:latin typeface="Calibri" pitchFamily="34" charset="0"/>
                <a:ea typeface="Calibri" pitchFamily="34" charset="-122"/>
                <a:cs typeface="Calibri" pitchFamily="34" charset="-120"/>
              </a:rPr>
              <a:t>Ligas de fidelidad</a:t>
            </a:r>
            <a:endParaRPr lang="en-US" sz="1000" dirty="0"/>
          </a:p>
        </p:txBody>
      </p:sp>
      <p:sp>
        <p:nvSpPr>
          <p:cNvPr id="33" name="Text 31"/>
          <p:cNvSpPr/>
          <p:nvPr/>
        </p:nvSpPr>
        <p:spPr>
          <a:xfrm>
            <a:off x="3108960" y="3127248"/>
            <a:ext cx="2971800" cy="45720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Sin sentido de progresión en la relación con el banco</a:t>
            </a:r>
            <a:endParaRPr lang="en-US" sz="1000" dirty="0"/>
          </a:p>
        </p:txBody>
      </p:sp>
      <p:sp>
        <p:nvSpPr>
          <p:cNvPr id="34" name="Text 32"/>
          <p:cNvSpPr/>
          <p:nvPr/>
        </p:nvSpPr>
        <p:spPr>
          <a:xfrm>
            <a:off x="6492240" y="3127248"/>
            <a:ext cx="2286000" cy="457200"/>
          </a:xfrm>
          <a:prstGeom prst="rect">
            <a:avLst/>
          </a:prstGeom>
          <a:noFill/>
          <a:ln/>
        </p:spPr>
        <p:txBody>
          <a:bodyPr wrap="square" lIns="0" tIns="0" rIns="0" bIns="0" rtlCol="0" anchor="ctr"/>
          <a:lstStyle/>
          <a:p>
            <a:pPr algn="l" indent="0" marL="0">
              <a:buNone/>
            </a:pPr>
            <a:r>
              <a:rPr lang="en-US" sz="1000" dirty="0">
                <a:solidFill>
                  <a:srgbClr val="6600FF"/>
                </a:solidFill>
                <a:latin typeface="Calibri" pitchFamily="34" charset="0"/>
                <a:ea typeface="Calibri" pitchFamily="34" charset="-122"/>
                <a:cs typeface="Calibri" pitchFamily="34" charset="-120"/>
              </a:rPr>
              <a:t>Tasa de subida de liga; permanencia</a:t>
            </a:r>
            <a:endParaRPr lang="en-US" sz="1000" dirty="0"/>
          </a:p>
        </p:txBody>
      </p:sp>
      <p:sp>
        <p:nvSpPr>
          <p:cNvPr id="35" name="Shape 33"/>
          <p:cNvSpPr/>
          <p:nvPr/>
        </p:nvSpPr>
        <p:spPr>
          <a:xfrm>
            <a:off x="347472" y="3657600"/>
            <a:ext cx="2468880" cy="530352"/>
          </a:xfrm>
          <a:prstGeom prst="rect">
            <a:avLst/>
          </a:prstGeom>
          <a:solidFill>
            <a:srgbClr val="EEF2FF"/>
          </a:solidFill>
          <a:ln w="6350">
            <a:solidFill>
              <a:srgbClr val="CCCCCC"/>
            </a:solidFill>
            <a:prstDash val="solid"/>
          </a:ln>
        </p:spPr>
      </p:sp>
      <p:sp>
        <p:nvSpPr>
          <p:cNvPr id="36" name="Shape 34"/>
          <p:cNvSpPr/>
          <p:nvPr/>
        </p:nvSpPr>
        <p:spPr>
          <a:xfrm>
            <a:off x="3017520" y="3657600"/>
            <a:ext cx="3154680" cy="530352"/>
          </a:xfrm>
          <a:prstGeom prst="rect">
            <a:avLst/>
          </a:prstGeom>
          <a:solidFill>
            <a:srgbClr val="EEF2FF"/>
          </a:solidFill>
          <a:ln w="6350">
            <a:solidFill>
              <a:srgbClr val="CCCCCC"/>
            </a:solidFill>
            <a:prstDash val="solid"/>
          </a:ln>
        </p:spPr>
      </p:sp>
      <p:sp>
        <p:nvSpPr>
          <p:cNvPr id="37" name="Shape 35"/>
          <p:cNvSpPr/>
          <p:nvPr/>
        </p:nvSpPr>
        <p:spPr>
          <a:xfrm>
            <a:off x="6400800" y="3657600"/>
            <a:ext cx="2468880" cy="530352"/>
          </a:xfrm>
          <a:prstGeom prst="rect">
            <a:avLst/>
          </a:prstGeom>
          <a:solidFill>
            <a:srgbClr val="EEF2FF"/>
          </a:solidFill>
          <a:ln w="6350">
            <a:solidFill>
              <a:srgbClr val="CCCCCC"/>
            </a:solidFill>
            <a:prstDash val="solid"/>
          </a:ln>
        </p:spPr>
      </p:sp>
      <p:sp>
        <p:nvSpPr>
          <p:cNvPr id="38" name="Text 36"/>
          <p:cNvSpPr/>
          <p:nvPr/>
        </p:nvSpPr>
        <p:spPr>
          <a:xfrm>
            <a:off x="438912" y="3694176"/>
            <a:ext cx="2286000" cy="457200"/>
          </a:xfrm>
          <a:prstGeom prst="rect">
            <a:avLst/>
          </a:prstGeom>
          <a:noFill/>
          <a:ln/>
        </p:spPr>
        <p:txBody>
          <a:bodyPr wrap="square" lIns="0" tIns="0" rIns="0" bIns="0" rtlCol="0" anchor="ctr"/>
          <a:lstStyle/>
          <a:p>
            <a:pPr algn="l" indent="0" marL="0">
              <a:buNone/>
            </a:pPr>
            <a:r>
              <a:rPr lang="en-US" sz="1000" b="1" dirty="0">
                <a:solidFill>
                  <a:srgbClr val="003399"/>
                </a:solidFill>
                <a:latin typeface="Calibri" pitchFamily="34" charset="0"/>
                <a:ea typeface="Calibri" pitchFamily="34" charset="-122"/>
                <a:cs typeface="Calibri" pitchFamily="34" charset="-120"/>
              </a:rPr>
              <a:t>Álbum de cromos</a:t>
            </a:r>
            <a:endParaRPr lang="en-US" sz="1000" dirty="0"/>
          </a:p>
        </p:txBody>
      </p:sp>
      <p:sp>
        <p:nvSpPr>
          <p:cNvPr id="39" name="Text 37"/>
          <p:cNvSpPr/>
          <p:nvPr/>
        </p:nvSpPr>
        <p:spPr>
          <a:xfrm>
            <a:off x="3108960" y="3694176"/>
            <a:ext cx="2971800" cy="45720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Alto abandono de la app tras el onboarding</a:t>
            </a:r>
            <a:endParaRPr lang="en-US" sz="1000" dirty="0"/>
          </a:p>
        </p:txBody>
      </p:sp>
      <p:sp>
        <p:nvSpPr>
          <p:cNvPr id="40" name="Text 38"/>
          <p:cNvSpPr/>
          <p:nvPr/>
        </p:nvSpPr>
        <p:spPr>
          <a:xfrm>
            <a:off x="6492240" y="3694176"/>
            <a:ext cx="2286000" cy="457200"/>
          </a:xfrm>
          <a:prstGeom prst="rect">
            <a:avLst/>
          </a:prstGeom>
          <a:noFill/>
          <a:ln/>
        </p:spPr>
        <p:txBody>
          <a:bodyPr wrap="square" lIns="0" tIns="0" rIns="0" bIns="0" rtlCol="0" anchor="ctr"/>
          <a:lstStyle/>
          <a:p>
            <a:pPr algn="l" indent="0" marL="0">
              <a:buNone/>
            </a:pPr>
            <a:r>
              <a:rPr lang="en-US" sz="1000" dirty="0">
                <a:solidFill>
                  <a:srgbClr val="6600FF"/>
                </a:solidFill>
                <a:latin typeface="Calibri" pitchFamily="34" charset="0"/>
                <a:ea typeface="Calibri" pitchFamily="34" charset="-122"/>
                <a:cs typeface="Calibri" pitchFamily="34" charset="-120"/>
              </a:rPr>
              <a:t>Retención semanal durante la temporada</a:t>
            </a:r>
            <a:endParaRPr lang="en-US" sz="1000" dirty="0"/>
          </a:p>
        </p:txBody>
      </p:sp>
      <p:sp>
        <p:nvSpPr>
          <p:cNvPr id="41" name="Shape 39"/>
          <p:cNvSpPr/>
          <p:nvPr/>
        </p:nvSpPr>
        <p:spPr>
          <a:xfrm>
            <a:off x="347472" y="4224528"/>
            <a:ext cx="2468880" cy="530352"/>
          </a:xfrm>
          <a:prstGeom prst="rect">
            <a:avLst/>
          </a:prstGeom>
          <a:solidFill>
            <a:srgbClr val="FFFFFF"/>
          </a:solidFill>
          <a:ln w="6350">
            <a:solidFill>
              <a:srgbClr val="CCCCCC"/>
            </a:solidFill>
            <a:prstDash val="solid"/>
          </a:ln>
        </p:spPr>
      </p:sp>
      <p:sp>
        <p:nvSpPr>
          <p:cNvPr id="42" name="Shape 40"/>
          <p:cNvSpPr/>
          <p:nvPr/>
        </p:nvSpPr>
        <p:spPr>
          <a:xfrm>
            <a:off x="3017520" y="4224528"/>
            <a:ext cx="3154680" cy="530352"/>
          </a:xfrm>
          <a:prstGeom prst="rect">
            <a:avLst/>
          </a:prstGeom>
          <a:solidFill>
            <a:srgbClr val="FFFFFF"/>
          </a:solidFill>
          <a:ln w="6350">
            <a:solidFill>
              <a:srgbClr val="CCCCCC"/>
            </a:solidFill>
            <a:prstDash val="solid"/>
          </a:ln>
        </p:spPr>
      </p:sp>
      <p:sp>
        <p:nvSpPr>
          <p:cNvPr id="43" name="Shape 41"/>
          <p:cNvSpPr/>
          <p:nvPr/>
        </p:nvSpPr>
        <p:spPr>
          <a:xfrm>
            <a:off x="6400800" y="4224528"/>
            <a:ext cx="2468880" cy="530352"/>
          </a:xfrm>
          <a:prstGeom prst="rect">
            <a:avLst/>
          </a:prstGeom>
          <a:solidFill>
            <a:srgbClr val="FFFFFF"/>
          </a:solidFill>
          <a:ln w="6350">
            <a:solidFill>
              <a:srgbClr val="CCCCCC"/>
            </a:solidFill>
            <a:prstDash val="solid"/>
          </a:ln>
        </p:spPr>
      </p:sp>
      <p:sp>
        <p:nvSpPr>
          <p:cNvPr id="44" name="Text 42"/>
          <p:cNvSpPr/>
          <p:nvPr/>
        </p:nvSpPr>
        <p:spPr>
          <a:xfrm>
            <a:off x="438912" y="4261104"/>
            <a:ext cx="2286000" cy="457200"/>
          </a:xfrm>
          <a:prstGeom prst="rect">
            <a:avLst/>
          </a:prstGeom>
          <a:noFill/>
          <a:ln/>
        </p:spPr>
        <p:txBody>
          <a:bodyPr wrap="square" lIns="0" tIns="0" rIns="0" bIns="0" rtlCol="0" anchor="ctr"/>
          <a:lstStyle/>
          <a:p>
            <a:pPr algn="l" indent="0" marL="0">
              <a:buNone/>
            </a:pPr>
            <a:r>
              <a:rPr lang="en-US" sz="1000" b="1" dirty="0">
                <a:solidFill>
                  <a:srgbClr val="003399"/>
                </a:solidFill>
                <a:latin typeface="Calibri" pitchFamily="34" charset="0"/>
                <a:ea typeface="Calibri" pitchFamily="34" charset="-122"/>
                <a:cs typeface="Calibri" pitchFamily="34" charset="-120"/>
              </a:rPr>
              <a:t>Grupos de predicción</a:t>
            </a:r>
            <a:endParaRPr lang="en-US" sz="1000" dirty="0"/>
          </a:p>
        </p:txBody>
      </p:sp>
      <p:sp>
        <p:nvSpPr>
          <p:cNvPr id="45" name="Text 43"/>
          <p:cNvSpPr/>
          <p:nvPr/>
        </p:nvSpPr>
        <p:spPr>
          <a:xfrm>
            <a:off x="3108960" y="4261104"/>
            <a:ext cx="2971800" cy="45720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Experiencia bancaria percibida como individual</a:t>
            </a:r>
            <a:endParaRPr lang="en-US" sz="1000" dirty="0"/>
          </a:p>
        </p:txBody>
      </p:sp>
      <p:sp>
        <p:nvSpPr>
          <p:cNvPr id="46" name="Text 44"/>
          <p:cNvSpPr/>
          <p:nvPr/>
        </p:nvSpPr>
        <p:spPr>
          <a:xfrm>
            <a:off x="6492240" y="4261104"/>
            <a:ext cx="2286000" cy="457200"/>
          </a:xfrm>
          <a:prstGeom prst="rect">
            <a:avLst/>
          </a:prstGeom>
          <a:noFill/>
          <a:ln/>
        </p:spPr>
        <p:txBody>
          <a:bodyPr wrap="square" lIns="0" tIns="0" rIns="0" bIns="0" rtlCol="0" anchor="ctr"/>
          <a:lstStyle/>
          <a:p>
            <a:pPr algn="l" indent="0" marL="0">
              <a:buNone/>
            </a:pPr>
            <a:r>
              <a:rPr lang="en-US" sz="1000" dirty="0">
                <a:solidFill>
                  <a:srgbClr val="6600FF"/>
                </a:solidFill>
                <a:latin typeface="Calibri" pitchFamily="34" charset="0"/>
                <a:ea typeface="Calibri" pitchFamily="34" charset="-122"/>
                <a:cs typeface="Calibri" pitchFamily="34" charset="-120"/>
              </a:rPr>
              <a:t>Usuarios activos en grupos; referidos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6600FF"/>
        </a:solidFill>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003399">
              <a:alpha val="40000"/>
            </a:srgbClr>
          </a:solidFill>
          <a:ln w="12700">
            <a:solidFill>
              <a:srgbClr val="003399">
                <a:alpha val="40000"/>
              </a:srgbClr>
            </a:solidFill>
            <a:prstDash val="solid"/>
          </a:ln>
        </p:spPr>
      </p:sp>
      <p:sp>
        <p:nvSpPr>
          <p:cNvPr id="3" name="Shape 1"/>
          <p:cNvSpPr/>
          <p:nvPr/>
        </p:nvSpPr>
        <p:spPr>
          <a:xfrm>
            <a:off x="-1828800" y="2743200"/>
            <a:ext cx="5029200" cy="5029200"/>
          </a:xfrm>
          <a:prstGeom prst="ellipse">
            <a:avLst/>
          </a:prstGeom>
          <a:solidFill>
            <a:srgbClr val="E6192E">
              <a:alpha val="28000"/>
            </a:srgbClr>
          </a:solidFill>
          <a:ln w="12700">
            <a:solidFill>
              <a:srgbClr val="E6192E">
                <a:alpha val="28000"/>
              </a:srgbClr>
            </a:solidFill>
            <a:prstDash val="solid"/>
          </a:ln>
        </p:spPr>
      </p:sp>
      <p:sp>
        <p:nvSpPr>
          <p:cNvPr id="4" name="Shape 2"/>
          <p:cNvSpPr/>
          <p:nvPr/>
        </p:nvSpPr>
        <p:spPr>
          <a:xfrm>
            <a:off x="0" y="4754880"/>
            <a:ext cx="9144000" cy="388620"/>
          </a:xfrm>
          <a:prstGeom prst="rect">
            <a:avLst/>
          </a:prstGeom>
          <a:solidFill>
            <a:srgbClr val="003399"/>
          </a:solidFill>
          <a:ln w="12700">
            <a:solidFill>
              <a:srgbClr val="003399"/>
            </a:solidFill>
            <a:prstDash val="solid"/>
          </a:ln>
        </p:spPr>
      </p:sp>
      <p:sp>
        <p:nvSpPr>
          <p:cNvPr id="5" name="Shape 3"/>
          <p:cNvSpPr/>
          <p:nvPr/>
        </p:nvSpPr>
        <p:spPr>
          <a:xfrm>
            <a:off x="457200" y="1417320"/>
            <a:ext cx="118872" cy="2423160"/>
          </a:xfrm>
          <a:prstGeom prst="rect">
            <a:avLst/>
          </a:prstGeom>
          <a:solidFill>
            <a:srgbClr val="D1FF00"/>
          </a:solidFill>
          <a:ln w="12700">
            <a:solidFill>
              <a:srgbClr val="D1FF00"/>
            </a:solidFill>
            <a:prstDash val="solid"/>
          </a:ln>
        </p:spPr>
      </p:sp>
      <p:sp>
        <p:nvSpPr>
          <p:cNvPr id="6" name="Text 4"/>
          <p:cNvSpPr/>
          <p:nvPr/>
        </p:nvSpPr>
        <p:spPr>
          <a:xfrm>
            <a:off x="731520" y="1325880"/>
            <a:ext cx="3657600" cy="347472"/>
          </a:xfrm>
          <a:prstGeom prst="rect">
            <a:avLst/>
          </a:prstGeom>
          <a:noFill/>
          <a:ln/>
        </p:spPr>
        <p:txBody>
          <a:bodyPr wrap="square" lIns="0" tIns="0" rIns="0" bIns="0" rtlCol="0" anchor="ctr"/>
          <a:lstStyle/>
          <a:p>
            <a:pPr algn="l" indent="0" marL="0">
              <a:buNone/>
            </a:pPr>
            <a:r>
              <a:rPr lang="en-US" sz="1100" b="1" dirty="0">
                <a:solidFill>
                  <a:srgbClr val="D1FF00"/>
                </a:solidFill>
                <a:latin typeface="Calibri" pitchFamily="34" charset="0"/>
                <a:ea typeface="Calibri" pitchFamily="34" charset="-122"/>
                <a:cs typeface="Calibri" pitchFamily="34" charset="-120"/>
              </a:rPr>
              <a:t>06 —</a:t>
            </a:r>
            <a:endParaRPr lang="en-US" sz="1100" dirty="0"/>
          </a:p>
        </p:txBody>
      </p:sp>
      <p:sp>
        <p:nvSpPr>
          <p:cNvPr id="7" name="Text 5"/>
          <p:cNvSpPr/>
          <p:nvPr/>
        </p:nvSpPr>
        <p:spPr>
          <a:xfrm>
            <a:off x="731520" y="1691640"/>
            <a:ext cx="7772400" cy="150876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Diseño Técnico</a:t>
            </a:r>
            <a:endParaRPr lang="en-US" sz="4000" dirty="0"/>
          </a:p>
        </p:txBody>
      </p:sp>
      <p:sp>
        <p:nvSpPr>
          <p:cNvPr id="8" name="Text 6"/>
          <p:cNvSpPr/>
          <p:nvPr/>
        </p:nvSpPr>
        <p:spPr>
          <a:xfrm>
            <a:off x="731520" y="3291840"/>
            <a:ext cx="7315200" cy="475488"/>
          </a:xfrm>
          <a:prstGeom prst="rect">
            <a:avLst/>
          </a:prstGeom>
          <a:noFill/>
          <a:ln/>
        </p:spPr>
        <p:txBody>
          <a:bodyPr wrap="square" lIns="0" tIns="0" rIns="0" bIns="0" rtlCol="0" anchor="ctr"/>
          <a:lstStyle/>
          <a:p>
            <a:pPr algn="l" indent="0" marL="0">
              <a:buNone/>
            </a:pPr>
            <a:r>
              <a:rPr lang="en-US" sz="1500" dirty="0">
                <a:solidFill>
                  <a:srgbClr val="D1FF00"/>
                </a:solidFill>
                <a:latin typeface="Calibri" pitchFamily="34" charset="0"/>
                <a:ea typeface="Calibri" pitchFamily="34" charset="-122"/>
                <a:cs typeface="Calibri" pitchFamily="34" charset="-120"/>
              </a:rPr>
              <a:t>Arquitectura de 3 capas · Contexto · Contenedores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Diseño Técnico — Arquitectura de 3 Capas</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Shape 3"/>
          <p:cNvSpPr/>
          <p:nvPr/>
        </p:nvSpPr>
        <p:spPr>
          <a:xfrm>
            <a:off x="347472" y="987552"/>
            <a:ext cx="8430768" cy="1234440"/>
          </a:xfrm>
          <a:prstGeom prst="rect">
            <a:avLst/>
          </a:prstGeom>
          <a:solidFill>
            <a:srgbClr val="EEF2FF"/>
          </a:solidFill>
          <a:ln w="25400">
            <a:solidFill>
              <a:srgbClr val="003399"/>
            </a:solidFill>
            <a:prstDash val="solid"/>
          </a:ln>
          <a:effectLst>
            <a:outerShdw sx="100000" sy="100000" kx="0" ky="0" algn="bl" rotWithShape="0" blurRad="101600" dist="25400" dir="8100000">
              <a:srgbClr val="000000">
                <a:alpha val="12000"/>
              </a:srgbClr>
            </a:outerShdw>
          </a:effectLst>
        </p:spPr>
      </p:sp>
      <p:sp>
        <p:nvSpPr>
          <p:cNvPr id="6" name="Shape 4"/>
          <p:cNvSpPr/>
          <p:nvPr/>
        </p:nvSpPr>
        <p:spPr>
          <a:xfrm>
            <a:off x="347472" y="987552"/>
            <a:ext cx="91440" cy="1234440"/>
          </a:xfrm>
          <a:prstGeom prst="rect">
            <a:avLst/>
          </a:prstGeom>
          <a:solidFill>
            <a:srgbClr val="003399"/>
          </a:solidFill>
          <a:ln w="12700">
            <a:solidFill>
              <a:srgbClr val="003399"/>
            </a:solidFill>
            <a:prstDash val="solid"/>
          </a:ln>
        </p:spPr>
      </p:sp>
      <p:sp>
        <p:nvSpPr>
          <p:cNvPr id="7" name="Text 5"/>
          <p:cNvSpPr/>
          <p:nvPr/>
        </p:nvSpPr>
        <p:spPr>
          <a:xfrm>
            <a:off x="594360" y="1078992"/>
            <a:ext cx="2926080" cy="320040"/>
          </a:xfrm>
          <a:prstGeom prst="rect">
            <a:avLst/>
          </a:prstGeom>
          <a:noFill/>
          <a:ln/>
        </p:spPr>
        <p:txBody>
          <a:bodyPr wrap="square" lIns="0" tIns="0" rIns="0" bIns="0" rtlCol="0" anchor="ctr"/>
          <a:lstStyle/>
          <a:p>
            <a:pPr algn="l" indent="0" marL="0">
              <a:buNone/>
            </a:pPr>
            <a:r>
              <a:rPr lang="en-US" sz="1200" b="1" dirty="0">
                <a:solidFill>
                  <a:srgbClr val="003399"/>
                </a:solidFill>
                <a:latin typeface="Calibri" pitchFamily="34" charset="0"/>
                <a:ea typeface="Calibri" pitchFamily="34" charset="-122"/>
                <a:cs typeface="Calibri" pitchFamily="34" charset="-120"/>
              </a:rPr>
              <a:t>CAPA DE PRESENTACIÓN</a:t>
            </a:r>
            <a:endParaRPr lang="en-US" sz="1200" dirty="0"/>
          </a:p>
        </p:txBody>
      </p:sp>
      <p:sp>
        <p:nvSpPr>
          <p:cNvPr id="8" name="Text 6"/>
          <p:cNvSpPr/>
          <p:nvPr/>
        </p:nvSpPr>
        <p:spPr>
          <a:xfrm>
            <a:off x="594360" y="1417320"/>
            <a:ext cx="2926080" cy="237744"/>
          </a:xfrm>
          <a:prstGeom prst="rect">
            <a:avLst/>
          </a:prstGeom>
          <a:noFill/>
          <a:ln/>
        </p:spPr>
        <p:txBody>
          <a:bodyPr wrap="square" lIns="0" tIns="0" rIns="0" bIns="0" rtlCol="0" anchor="ctr"/>
          <a:lstStyle/>
          <a:p>
            <a:pPr algn="l" indent="0" marL="0">
              <a:buNone/>
            </a:pPr>
            <a:r>
              <a:rPr lang="en-US" sz="950" b="1" dirty="0">
                <a:solidFill>
                  <a:srgbClr val="888888"/>
                </a:solidFill>
                <a:latin typeface="Calibri" pitchFamily="34" charset="0"/>
                <a:ea typeface="Calibri" pitchFamily="34" charset="-122"/>
                <a:cs typeface="Calibri" pitchFamily="34" charset="-120"/>
              </a:rPr>
              <a:t>React Native · Expo · TypeScript</a:t>
            </a:r>
            <a:endParaRPr lang="en-US" sz="950" dirty="0"/>
          </a:p>
        </p:txBody>
      </p:sp>
      <p:sp>
        <p:nvSpPr>
          <p:cNvPr id="9" name="Shape 7"/>
          <p:cNvSpPr/>
          <p:nvPr/>
        </p:nvSpPr>
        <p:spPr>
          <a:xfrm>
            <a:off x="3566160" y="1152144"/>
            <a:ext cx="0" cy="914400"/>
          </a:xfrm>
          <a:prstGeom prst="line">
            <a:avLst/>
          </a:prstGeom>
          <a:noFill/>
          <a:ln w="6350">
            <a:solidFill>
              <a:srgbClr val="003399">
                <a:alpha val="50000"/>
              </a:srgbClr>
            </a:solidFill>
            <a:prstDash val="solid"/>
          </a:ln>
        </p:spPr>
      </p:sp>
      <p:sp>
        <p:nvSpPr>
          <p:cNvPr id="10" name="Text 8"/>
          <p:cNvSpPr/>
          <p:nvPr/>
        </p:nvSpPr>
        <p:spPr>
          <a:xfrm>
            <a:off x="3703320" y="1078992"/>
            <a:ext cx="3246120" cy="1078992"/>
          </a:xfrm>
          <a:prstGeom prst="rect">
            <a:avLst/>
          </a:prstGeom>
          <a:noFill/>
          <a:ln/>
        </p:spPr>
        <p:txBody>
          <a:bodyPr wrap="square" lIns="0" tIns="0" rIns="0" bIns="0" rtlCol="0" anchor="ctr"/>
          <a:lstStyle/>
          <a:p>
            <a:pPr algn="l" indent="0" marL="0">
              <a:buNone/>
            </a:pPr>
            <a:r>
              <a:rPr lang="en-US" sz="1000" dirty="0">
                <a:solidFill>
                  <a:srgbClr val="555555"/>
                </a:solidFill>
                <a:latin typeface="Calibri" pitchFamily="34" charset="0"/>
                <a:ea typeface="Calibri" pitchFamily="34" charset="-122"/>
                <a:cs typeface="Calibri" pitchFamily="34" charset="-120"/>
              </a:rPr>
              <a:t>App cross-platform (iOS, Android, Web). Gestiona autenticación, pronósticos, álbum, banca y premios. Consume los dos microservicios de IA y Supabase.</a:t>
            </a:r>
            <a:endParaRPr lang="en-US" sz="1000" dirty="0"/>
          </a:p>
        </p:txBody>
      </p:sp>
      <p:sp>
        <p:nvSpPr>
          <p:cNvPr id="11" name="Shape 9"/>
          <p:cNvSpPr/>
          <p:nvPr/>
        </p:nvSpPr>
        <p:spPr>
          <a:xfrm>
            <a:off x="6995160" y="1152144"/>
            <a:ext cx="0" cy="914400"/>
          </a:xfrm>
          <a:prstGeom prst="line">
            <a:avLst/>
          </a:prstGeom>
          <a:noFill/>
          <a:ln w="6350">
            <a:solidFill>
              <a:srgbClr val="003399">
                <a:alpha val="50000"/>
              </a:srgbClr>
            </a:solidFill>
            <a:prstDash val="solid"/>
          </a:ln>
        </p:spPr>
      </p:sp>
      <p:sp>
        <p:nvSpPr>
          <p:cNvPr id="12" name="Text 10"/>
          <p:cNvSpPr/>
          <p:nvPr/>
        </p:nvSpPr>
        <p:spPr>
          <a:xfrm>
            <a:off x="7114032" y="1097280"/>
            <a:ext cx="1572768" cy="292608"/>
          </a:xfrm>
          <a:prstGeom prst="rect">
            <a:avLst/>
          </a:prstGeom>
          <a:noFill/>
          <a:ln/>
        </p:spPr>
        <p:txBody>
          <a:bodyPr wrap="square" lIns="0" tIns="0" rIns="0" bIns="0" rtlCol="0" anchor="ctr"/>
          <a:lstStyle/>
          <a:p>
            <a:pPr algn="l" indent="0" marL="0">
              <a:buNone/>
            </a:pPr>
            <a:r>
              <a:rPr lang="en-US" sz="900" b="1" dirty="0">
                <a:solidFill>
                  <a:srgbClr val="003399"/>
                </a:solidFill>
                <a:latin typeface="Calibri" pitchFamily="34" charset="0"/>
                <a:ea typeface="Calibri" pitchFamily="34" charset="-122"/>
                <a:cs typeface="Calibri" pitchFamily="34" charset="-120"/>
              </a:rPr>
              <a:t>• Expo Router (file-based)</a:t>
            </a:r>
            <a:endParaRPr lang="en-US" sz="900" dirty="0"/>
          </a:p>
        </p:txBody>
      </p:sp>
      <p:sp>
        <p:nvSpPr>
          <p:cNvPr id="13" name="Text 11"/>
          <p:cNvSpPr/>
          <p:nvPr/>
        </p:nvSpPr>
        <p:spPr>
          <a:xfrm>
            <a:off x="7114032" y="1408176"/>
            <a:ext cx="1572768" cy="292608"/>
          </a:xfrm>
          <a:prstGeom prst="rect">
            <a:avLst/>
          </a:prstGeom>
          <a:noFill/>
          <a:ln/>
        </p:spPr>
        <p:txBody>
          <a:bodyPr wrap="square" lIns="0" tIns="0" rIns="0" bIns="0" rtlCol="0" anchor="ctr"/>
          <a:lstStyle/>
          <a:p>
            <a:pPr algn="l" indent="0" marL="0">
              <a:buNone/>
            </a:pPr>
            <a:r>
              <a:rPr lang="en-US" sz="900" b="1" dirty="0">
                <a:solidFill>
                  <a:srgbClr val="003399"/>
                </a:solidFill>
                <a:latin typeface="Calibri" pitchFamily="34" charset="0"/>
                <a:ea typeface="Calibri" pitchFamily="34" charset="-122"/>
                <a:cs typeface="Calibri" pitchFamily="34" charset="-120"/>
              </a:rPr>
              <a:t>• NativeWind (Tailwind RN)</a:t>
            </a:r>
            <a:endParaRPr lang="en-US" sz="900" dirty="0"/>
          </a:p>
        </p:txBody>
      </p:sp>
      <p:sp>
        <p:nvSpPr>
          <p:cNvPr id="14" name="Text 12"/>
          <p:cNvSpPr/>
          <p:nvPr/>
        </p:nvSpPr>
        <p:spPr>
          <a:xfrm>
            <a:off x="7114032" y="1719072"/>
            <a:ext cx="1572768" cy="292608"/>
          </a:xfrm>
          <a:prstGeom prst="rect">
            <a:avLst/>
          </a:prstGeom>
          <a:noFill/>
          <a:ln/>
        </p:spPr>
        <p:txBody>
          <a:bodyPr wrap="square" lIns="0" tIns="0" rIns="0" bIns="0" rtlCol="0" anchor="ctr"/>
          <a:lstStyle/>
          <a:p>
            <a:pPr algn="l" indent="0" marL="0">
              <a:buNone/>
            </a:pPr>
            <a:r>
              <a:rPr lang="en-US" sz="900" b="1" dirty="0">
                <a:solidFill>
                  <a:srgbClr val="003399"/>
                </a:solidFill>
                <a:latin typeface="Calibri" pitchFamily="34" charset="0"/>
                <a:ea typeface="Calibri" pitchFamily="34" charset="-122"/>
                <a:cs typeface="Calibri" pitchFamily="34" charset="-120"/>
              </a:rPr>
              <a:t>• Supabase Auth + SecureStore</a:t>
            </a:r>
            <a:endParaRPr lang="en-US" sz="900" dirty="0"/>
          </a:p>
        </p:txBody>
      </p:sp>
      <p:sp>
        <p:nvSpPr>
          <p:cNvPr id="15" name="Shape 13"/>
          <p:cNvSpPr/>
          <p:nvPr/>
        </p:nvSpPr>
        <p:spPr>
          <a:xfrm>
            <a:off x="347472" y="2386584"/>
            <a:ext cx="8430768" cy="1234440"/>
          </a:xfrm>
          <a:prstGeom prst="rect">
            <a:avLst/>
          </a:prstGeom>
          <a:solidFill>
            <a:srgbClr val="EEF2FF"/>
          </a:solidFill>
          <a:ln w="25400">
            <a:solidFill>
              <a:srgbClr val="6600FF"/>
            </a:solidFill>
            <a:prstDash val="solid"/>
          </a:ln>
          <a:effectLst>
            <a:outerShdw sx="100000" sy="100000" kx="0" ky="0" algn="bl" rotWithShape="0" blurRad="101600" dist="25400" dir="8100000">
              <a:srgbClr val="000000">
                <a:alpha val="12000"/>
              </a:srgbClr>
            </a:outerShdw>
          </a:effectLst>
        </p:spPr>
      </p:sp>
      <p:sp>
        <p:nvSpPr>
          <p:cNvPr id="16" name="Shape 14"/>
          <p:cNvSpPr/>
          <p:nvPr/>
        </p:nvSpPr>
        <p:spPr>
          <a:xfrm>
            <a:off x="347472" y="2386584"/>
            <a:ext cx="91440" cy="1234440"/>
          </a:xfrm>
          <a:prstGeom prst="rect">
            <a:avLst/>
          </a:prstGeom>
          <a:solidFill>
            <a:srgbClr val="6600FF"/>
          </a:solidFill>
          <a:ln w="12700">
            <a:solidFill>
              <a:srgbClr val="6600FF"/>
            </a:solidFill>
            <a:prstDash val="solid"/>
          </a:ln>
        </p:spPr>
      </p:sp>
      <p:sp>
        <p:nvSpPr>
          <p:cNvPr id="17" name="Text 15"/>
          <p:cNvSpPr/>
          <p:nvPr/>
        </p:nvSpPr>
        <p:spPr>
          <a:xfrm>
            <a:off x="594360" y="2478024"/>
            <a:ext cx="2926080" cy="320040"/>
          </a:xfrm>
          <a:prstGeom prst="rect">
            <a:avLst/>
          </a:prstGeom>
          <a:noFill/>
          <a:ln/>
        </p:spPr>
        <p:txBody>
          <a:bodyPr wrap="square" lIns="0" tIns="0" rIns="0" bIns="0" rtlCol="0" anchor="ctr"/>
          <a:lstStyle/>
          <a:p>
            <a:pPr algn="l" indent="0" marL="0">
              <a:buNone/>
            </a:pPr>
            <a:r>
              <a:rPr lang="en-US" sz="1200" b="1" dirty="0">
                <a:solidFill>
                  <a:srgbClr val="6600FF"/>
                </a:solidFill>
                <a:latin typeface="Calibri" pitchFamily="34" charset="0"/>
                <a:ea typeface="Calibri" pitchFamily="34" charset="-122"/>
                <a:cs typeface="Calibri" pitchFamily="34" charset="-120"/>
              </a:rPr>
              <a:t>CAPA DE SERVICIOS</a:t>
            </a:r>
            <a:endParaRPr lang="en-US" sz="1200" dirty="0"/>
          </a:p>
        </p:txBody>
      </p:sp>
      <p:sp>
        <p:nvSpPr>
          <p:cNvPr id="18" name="Text 16"/>
          <p:cNvSpPr/>
          <p:nvPr/>
        </p:nvSpPr>
        <p:spPr>
          <a:xfrm>
            <a:off x="594360" y="2816352"/>
            <a:ext cx="2926080" cy="237744"/>
          </a:xfrm>
          <a:prstGeom prst="rect">
            <a:avLst/>
          </a:prstGeom>
          <a:noFill/>
          <a:ln/>
        </p:spPr>
        <p:txBody>
          <a:bodyPr wrap="square" lIns="0" tIns="0" rIns="0" bIns="0" rtlCol="0" anchor="ctr"/>
          <a:lstStyle/>
          <a:p>
            <a:pPr algn="l" indent="0" marL="0">
              <a:buNone/>
            </a:pPr>
            <a:r>
              <a:rPr lang="en-US" sz="950" b="1" dirty="0">
                <a:solidFill>
                  <a:srgbClr val="888888"/>
                </a:solidFill>
                <a:latin typeface="Calibri" pitchFamily="34" charset="0"/>
                <a:ea typeface="Calibri" pitchFamily="34" charset="-122"/>
                <a:cs typeface="Calibri" pitchFamily="34" charset="-120"/>
              </a:rPr>
              <a:t>Dos microservicios FastAPI independientes</a:t>
            </a:r>
            <a:endParaRPr lang="en-US" sz="950" dirty="0"/>
          </a:p>
        </p:txBody>
      </p:sp>
      <p:sp>
        <p:nvSpPr>
          <p:cNvPr id="19" name="Shape 17"/>
          <p:cNvSpPr/>
          <p:nvPr/>
        </p:nvSpPr>
        <p:spPr>
          <a:xfrm>
            <a:off x="3566160" y="2551176"/>
            <a:ext cx="0" cy="914400"/>
          </a:xfrm>
          <a:prstGeom prst="line">
            <a:avLst/>
          </a:prstGeom>
          <a:noFill/>
          <a:ln w="6350">
            <a:solidFill>
              <a:srgbClr val="6600FF">
                <a:alpha val="50000"/>
              </a:srgbClr>
            </a:solidFill>
            <a:prstDash val="solid"/>
          </a:ln>
        </p:spPr>
      </p:sp>
      <p:sp>
        <p:nvSpPr>
          <p:cNvPr id="20" name="Text 18"/>
          <p:cNvSpPr/>
          <p:nvPr/>
        </p:nvSpPr>
        <p:spPr>
          <a:xfrm>
            <a:off x="3703320" y="2478024"/>
            <a:ext cx="3246120" cy="1078992"/>
          </a:xfrm>
          <a:prstGeom prst="rect">
            <a:avLst/>
          </a:prstGeom>
          <a:noFill/>
          <a:ln/>
        </p:spPr>
        <p:txBody>
          <a:bodyPr wrap="square" lIns="0" tIns="0" rIns="0" bIns="0" rtlCol="0" anchor="ctr"/>
          <a:lstStyle/>
          <a:p>
            <a:pPr algn="l" indent="0" marL="0">
              <a:buNone/>
            </a:pPr>
            <a:r>
              <a:rPr lang="en-US" sz="1000" dirty="0">
                <a:solidFill>
                  <a:srgbClr val="555555"/>
                </a:solidFill>
                <a:latin typeface="Calibri" pitchFamily="34" charset="0"/>
                <a:ea typeface="Calibri" pitchFamily="34" charset="-122"/>
                <a:cs typeface="Calibri" pitchFamily="34" charset="-120"/>
              </a:rPr>
              <a:t>Encapsulan la lógica de IA y ML. Pueden escalar, actualizarse o reemplazarse sin afectar la app ni la base de datos.</a:t>
            </a:r>
            <a:endParaRPr lang="en-US" sz="1000" dirty="0"/>
          </a:p>
        </p:txBody>
      </p:sp>
      <p:sp>
        <p:nvSpPr>
          <p:cNvPr id="21" name="Shape 19"/>
          <p:cNvSpPr/>
          <p:nvPr/>
        </p:nvSpPr>
        <p:spPr>
          <a:xfrm>
            <a:off x="6995160" y="2551176"/>
            <a:ext cx="0" cy="914400"/>
          </a:xfrm>
          <a:prstGeom prst="line">
            <a:avLst/>
          </a:prstGeom>
          <a:noFill/>
          <a:ln w="6350">
            <a:solidFill>
              <a:srgbClr val="6600FF">
                <a:alpha val="50000"/>
              </a:srgbClr>
            </a:solidFill>
            <a:prstDash val="solid"/>
          </a:ln>
        </p:spPr>
      </p:sp>
      <p:sp>
        <p:nvSpPr>
          <p:cNvPr id="22" name="Text 20"/>
          <p:cNvSpPr/>
          <p:nvPr/>
        </p:nvSpPr>
        <p:spPr>
          <a:xfrm>
            <a:off x="7114032" y="2496312"/>
            <a:ext cx="1572768" cy="292608"/>
          </a:xfrm>
          <a:prstGeom prst="rect">
            <a:avLst/>
          </a:prstGeom>
          <a:noFill/>
          <a:ln/>
        </p:spPr>
        <p:txBody>
          <a:bodyPr wrap="square" lIns="0" tIns="0" rIns="0" bIns="0" rtlCol="0" anchor="ctr"/>
          <a:lstStyle/>
          <a:p>
            <a:pPr algn="l" indent="0" marL="0">
              <a:buNone/>
            </a:pPr>
            <a:r>
              <a:rPr lang="en-US" sz="900" b="1" dirty="0">
                <a:solidFill>
                  <a:srgbClr val="6600FF"/>
                </a:solidFill>
                <a:latin typeface="Calibri" pitchFamily="34" charset="0"/>
                <a:ea typeface="Calibri" pitchFamily="34" charset="-122"/>
                <a:cs typeface="Calibri" pitchFamily="34" charset="-120"/>
              </a:rPr>
              <a:t>• Agente Deportivo: LangGraph + Gemini  (Puerto 8001)</a:t>
            </a:r>
            <a:endParaRPr lang="en-US" sz="900" dirty="0"/>
          </a:p>
        </p:txBody>
      </p:sp>
      <p:sp>
        <p:nvSpPr>
          <p:cNvPr id="23" name="Text 21"/>
          <p:cNvSpPr/>
          <p:nvPr/>
        </p:nvSpPr>
        <p:spPr>
          <a:xfrm>
            <a:off x="7114032" y="2807208"/>
            <a:ext cx="1572768" cy="292608"/>
          </a:xfrm>
          <a:prstGeom prst="rect">
            <a:avLst/>
          </a:prstGeom>
          <a:noFill/>
          <a:ln/>
        </p:spPr>
        <p:txBody>
          <a:bodyPr wrap="square" lIns="0" tIns="0" rIns="0" bIns="0" rtlCol="0" anchor="ctr"/>
          <a:lstStyle/>
          <a:p>
            <a:pPr algn="l" indent="0" marL="0">
              <a:buNone/>
            </a:pPr>
            <a:r>
              <a:rPr lang="en-US" sz="900" b="1" dirty="0">
                <a:solidFill>
                  <a:srgbClr val="6600FF"/>
                </a:solidFill>
                <a:latin typeface="Calibri" pitchFamily="34" charset="0"/>
                <a:ea typeface="Calibri" pitchFamily="34" charset="-122"/>
                <a:cs typeface="Calibri" pitchFamily="34" charset="-120"/>
              </a:rPr>
              <a:t>• Segmentación: Scikit-learn + Reglas (Puerto 8000)</a:t>
            </a:r>
            <a:endParaRPr lang="en-US" sz="900" dirty="0"/>
          </a:p>
        </p:txBody>
      </p:sp>
      <p:sp>
        <p:nvSpPr>
          <p:cNvPr id="24" name="Shape 22"/>
          <p:cNvSpPr/>
          <p:nvPr/>
        </p:nvSpPr>
        <p:spPr>
          <a:xfrm>
            <a:off x="347472" y="3785616"/>
            <a:ext cx="8430768" cy="1234440"/>
          </a:xfrm>
          <a:prstGeom prst="rect">
            <a:avLst/>
          </a:prstGeom>
          <a:solidFill>
            <a:srgbClr val="EEF2FF"/>
          </a:solidFill>
          <a:ln w="25400">
            <a:solidFill>
              <a:srgbClr val="E6192E"/>
            </a:solidFill>
            <a:prstDash val="solid"/>
          </a:ln>
          <a:effectLst>
            <a:outerShdw sx="100000" sy="100000" kx="0" ky="0" algn="bl" rotWithShape="0" blurRad="101600" dist="25400" dir="8100000">
              <a:srgbClr val="000000">
                <a:alpha val="12000"/>
              </a:srgbClr>
            </a:outerShdw>
          </a:effectLst>
        </p:spPr>
      </p:sp>
      <p:sp>
        <p:nvSpPr>
          <p:cNvPr id="25" name="Shape 23"/>
          <p:cNvSpPr/>
          <p:nvPr/>
        </p:nvSpPr>
        <p:spPr>
          <a:xfrm>
            <a:off x="347472" y="3785616"/>
            <a:ext cx="91440" cy="1234440"/>
          </a:xfrm>
          <a:prstGeom prst="rect">
            <a:avLst/>
          </a:prstGeom>
          <a:solidFill>
            <a:srgbClr val="E6192E"/>
          </a:solidFill>
          <a:ln w="12700">
            <a:solidFill>
              <a:srgbClr val="E6192E"/>
            </a:solidFill>
            <a:prstDash val="solid"/>
          </a:ln>
        </p:spPr>
      </p:sp>
      <p:sp>
        <p:nvSpPr>
          <p:cNvPr id="26" name="Text 24"/>
          <p:cNvSpPr/>
          <p:nvPr/>
        </p:nvSpPr>
        <p:spPr>
          <a:xfrm>
            <a:off x="594360" y="3877056"/>
            <a:ext cx="2926080" cy="320040"/>
          </a:xfrm>
          <a:prstGeom prst="rect">
            <a:avLst/>
          </a:prstGeom>
          <a:noFill/>
          <a:ln/>
        </p:spPr>
        <p:txBody>
          <a:bodyPr wrap="square" lIns="0" tIns="0" rIns="0" bIns="0" rtlCol="0" anchor="ctr"/>
          <a:lstStyle/>
          <a:p>
            <a:pPr algn="l" indent="0" marL="0">
              <a:buNone/>
            </a:pPr>
            <a:r>
              <a:rPr lang="en-US" sz="1200" b="1" dirty="0">
                <a:solidFill>
                  <a:srgbClr val="E6192E"/>
                </a:solidFill>
                <a:latin typeface="Calibri" pitchFamily="34" charset="0"/>
                <a:ea typeface="Calibri" pitchFamily="34" charset="-122"/>
                <a:cs typeface="Calibri" pitchFamily="34" charset="-120"/>
              </a:rPr>
              <a:t>CAPA DE DATOS</a:t>
            </a:r>
            <a:endParaRPr lang="en-US" sz="1200" dirty="0"/>
          </a:p>
        </p:txBody>
      </p:sp>
      <p:sp>
        <p:nvSpPr>
          <p:cNvPr id="27" name="Text 25"/>
          <p:cNvSpPr/>
          <p:nvPr/>
        </p:nvSpPr>
        <p:spPr>
          <a:xfrm>
            <a:off x="594360" y="4215384"/>
            <a:ext cx="2926080" cy="237744"/>
          </a:xfrm>
          <a:prstGeom prst="rect">
            <a:avLst/>
          </a:prstGeom>
          <a:noFill/>
          <a:ln/>
        </p:spPr>
        <p:txBody>
          <a:bodyPr wrap="square" lIns="0" tIns="0" rIns="0" bIns="0" rtlCol="0" anchor="ctr"/>
          <a:lstStyle/>
          <a:p>
            <a:pPr algn="l" indent="0" marL="0">
              <a:buNone/>
            </a:pPr>
            <a:r>
              <a:rPr lang="en-US" sz="950" b="1" dirty="0">
                <a:solidFill>
                  <a:srgbClr val="888888"/>
                </a:solidFill>
                <a:latin typeface="Calibri" pitchFamily="34" charset="0"/>
                <a:ea typeface="Calibri" pitchFamily="34" charset="-122"/>
                <a:cs typeface="Calibri" pitchFamily="34" charset="-120"/>
              </a:rPr>
              <a:t>PostgreSQL · Supabase</a:t>
            </a:r>
            <a:endParaRPr lang="en-US" sz="950" dirty="0"/>
          </a:p>
        </p:txBody>
      </p:sp>
      <p:sp>
        <p:nvSpPr>
          <p:cNvPr id="28" name="Shape 26"/>
          <p:cNvSpPr/>
          <p:nvPr/>
        </p:nvSpPr>
        <p:spPr>
          <a:xfrm>
            <a:off x="3566160" y="3950208"/>
            <a:ext cx="0" cy="914400"/>
          </a:xfrm>
          <a:prstGeom prst="line">
            <a:avLst/>
          </a:prstGeom>
          <a:noFill/>
          <a:ln w="6350">
            <a:solidFill>
              <a:srgbClr val="E6192E">
                <a:alpha val="50000"/>
              </a:srgbClr>
            </a:solidFill>
            <a:prstDash val="solid"/>
          </a:ln>
        </p:spPr>
      </p:sp>
      <p:sp>
        <p:nvSpPr>
          <p:cNvPr id="29" name="Text 27"/>
          <p:cNvSpPr/>
          <p:nvPr/>
        </p:nvSpPr>
        <p:spPr>
          <a:xfrm>
            <a:off x="3703320" y="3877056"/>
            <a:ext cx="3246120" cy="1078992"/>
          </a:xfrm>
          <a:prstGeom prst="rect">
            <a:avLst/>
          </a:prstGeom>
          <a:noFill/>
          <a:ln/>
        </p:spPr>
        <p:txBody>
          <a:bodyPr wrap="square" lIns="0" tIns="0" rIns="0" bIns="0" rtlCol="0" anchor="ctr"/>
          <a:lstStyle/>
          <a:p>
            <a:pPr algn="l" indent="0" marL="0">
              <a:buNone/>
            </a:pPr>
            <a:r>
              <a:rPr lang="en-US" sz="1000" dirty="0">
                <a:solidFill>
                  <a:srgbClr val="555555"/>
                </a:solidFill>
                <a:latin typeface="Calibri" pitchFamily="34" charset="0"/>
                <a:ea typeface="Calibri" pitchFamily="34" charset="-122"/>
                <a:cs typeface="Calibri" pitchFamily="34" charset="-120"/>
              </a:rPr>
              <a:t>Fuente de verdad del sistema. Auth JWT + Row Level Security. WebSockets para actualizaciones en tiempo real de mAiles, cromos y pronósticos.</a:t>
            </a:r>
            <a:endParaRPr lang="en-US" sz="1000" dirty="0"/>
          </a:p>
        </p:txBody>
      </p:sp>
      <p:sp>
        <p:nvSpPr>
          <p:cNvPr id="30" name="Shape 28"/>
          <p:cNvSpPr/>
          <p:nvPr/>
        </p:nvSpPr>
        <p:spPr>
          <a:xfrm>
            <a:off x="6995160" y="3950208"/>
            <a:ext cx="0" cy="914400"/>
          </a:xfrm>
          <a:prstGeom prst="line">
            <a:avLst/>
          </a:prstGeom>
          <a:noFill/>
          <a:ln w="6350">
            <a:solidFill>
              <a:srgbClr val="E6192E">
                <a:alpha val="50000"/>
              </a:srgbClr>
            </a:solidFill>
            <a:prstDash val="solid"/>
          </a:ln>
        </p:spPr>
      </p:sp>
      <p:sp>
        <p:nvSpPr>
          <p:cNvPr id="31" name="Text 29"/>
          <p:cNvSpPr/>
          <p:nvPr/>
        </p:nvSpPr>
        <p:spPr>
          <a:xfrm>
            <a:off x="7114032" y="3895344"/>
            <a:ext cx="1572768" cy="292608"/>
          </a:xfrm>
          <a:prstGeom prst="rect">
            <a:avLst/>
          </a:prstGeom>
          <a:noFill/>
          <a:ln/>
        </p:spPr>
        <p:txBody>
          <a:bodyPr wrap="square" lIns="0" tIns="0" rIns="0" bIns="0" rtlCol="0" anchor="ctr"/>
          <a:lstStyle/>
          <a:p>
            <a:pPr algn="l" indent="0" marL="0">
              <a:buNone/>
            </a:pPr>
            <a:r>
              <a:rPr lang="en-US" sz="900" b="1" dirty="0">
                <a:solidFill>
                  <a:srgbClr val="E6192E"/>
                </a:solidFill>
                <a:latin typeface="Calibri" pitchFamily="34" charset="0"/>
                <a:ea typeface="Calibri" pitchFamily="34" charset="-122"/>
                <a:cs typeface="Calibri" pitchFamily="34" charset="-120"/>
              </a:rPr>
              <a:t>• 10+ tablas relacionales</a:t>
            </a:r>
            <a:endParaRPr lang="en-US" sz="900" dirty="0"/>
          </a:p>
        </p:txBody>
      </p:sp>
      <p:sp>
        <p:nvSpPr>
          <p:cNvPr id="32" name="Text 30"/>
          <p:cNvSpPr/>
          <p:nvPr/>
        </p:nvSpPr>
        <p:spPr>
          <a:xfrm>
            <a:off x="7114032" y="4206240"/>
            <a:ext cx="1572768" cy="292608"/>
          </a:xfrm>
          <a:prstGeom prst="rect">
            <a:avLst/>
          </a:prstGeom>
          <a:noFill/>
          <a:ln/>
        </p:spPr>
        <p:txBody>
          <a:bodyPr wrap="square" lIns="0" tIns="0" rIns="0" bIns="0" rtlCol="0" anchor="ctr"/>
          <a:lstStyle/>
          <a:p>
            <a:pPr algn="l" indent="0" marL="0">
              <a:buNone/>
            </a:pPr>
            <a:r>
              <a:rPr lang="en-US" sz="900" b="1" dirty="0">
                <a:solidFill>
                  <a:srgbClr val="E6192E"/>
                </a:solidFill>
                <a:latin typeface="Calibri" pitchFamily="34" charset="0"/>
                <a:ea typeface="Calibri" pitchFamily="34" charset="-122"/>
                <a:cs typeface="Calibri" pitchFamily="34" charset="-120"/>
              </a:rPr>
              <a:t>• Realtime Supabase (WebSockets)</a:t>
            </a:r>
            <a:endParaRPr lang="en-US" sz="900" dirty="0"/>
          </a:p>
        </p:txBody>
      </p:sp>
      <p:sp>
        <p:nvSpPr>
          <p:cNvPr id="33" name="Text 31"/>
          <p:cNvSpPr/>
          <p:nvPr/>
        </p:nvSpPr>
        <p:spPr>
          <a:xfrm>
            <a:off x="7114032" y="4517136"/>
            <a:ext cx="1572768" cy="292608"/>
          </a:xfrm>
          <a:prstGeom prst="rect">
            <a:avLst/>
          </a:prstGeom>
          <a:noFill/>
          <a:ln/>
        </p:spPr>
        <p:txBody>
          <a:bodyPr wrap="square" lIns="0" tIns="0" rIns="0" bIns="0" rtlCol="0" anchor="ctr"/>
          <a:lstStyle/>
          <a:p>
            <a:pPr algn="l" indent="0" marL="0">
              <a:buNone/>
            </a:pPr>
            <a:r>
              <a:rPr lang="en-US" sz="900" b="1" dirty="0">
                <a:solidFill>
                  <a:srgbClr val="E6192E"/>
                </a:solidFill>
                <a:latin typeface="Calibri" pitchFamily="34" charset="0"/>
                <a:ea typeface="Calibri" pitchFamily="34" charset="-122"/>
                <a:cs typeface="Calibri" pitchFamily="34" charset="-120"/>
              </a:rPr>
              <a:t>• Storage para activos (cromos)</a:t>
            </a:r>
            <a:endParaRPr lang="en-US" sz="900" dirty="0"/>
          </a:p>
        </p:txBody>
      </p:sp>
      <p:sp>
        <p:nvSpPr>
          <p:cNvPr id="34" name="Shape 32"/>
          <p:cNvSpPr/>
          <p:nvPr/>
        </p:nvSpPr>
        <p:spPr>
          <a:xfrm>
            <a:off x="347472" y="4480560"/>
            <a:ext cx="8430768" cy="310896"/>
          </a:xfrm>
          <a:prstGeom prst="rect">
            <a:avLst/>
          </a:prstGeom>
          <a:solidFill>
            <a:srgbClr val="F0FFB8"/>
          </a:solidFill>
          <a:ln w="15240">
            <a:solidFill>
              <a:srgbClr val="D1FF00"/>
            </a:solidFill>
            <a:prstDash val="solid"/>
          </a:ln>
        </p:spPr>
      </p:sp>
      <p:sp>
        <p:nvSpPr>
          <p:cNvPr id="35" name="Text 33"/>
          <p:cNvSpPr/>
          <p:nvPr/>
        </p:nvSpPr>
        <p:spPr>
          <a:xfrm>
            <a:off x="347472" y="4480560"/>
            <a:ext cx="8430768" cy="310896"/>
          </a:xfrm>
          <a:prstGeom prst="rect">
            <a:avLst/>
          </a:prstGeom>
          <a:noFill/>
          <a:ln/>
        </p:spPr>
        <p:txBody>
          <a:bodyPr wrap="square" lIns="0" tIns="0" rIns="0" bIns="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Principios: Desacoplamiento · API-first · IA como servicio · Datos centralizados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Diagrama de Contexto — C4 Nivel 1</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Text 3"/>
          <p:cNvSpPr/>
          <p:nvPr/>
        </p:nvSpPr>
        <p:spPr>
          <a:xfrm>
            <a:off x="384048" y="914400"/>
            <a:ext cx="8412480" cy="347472"/>
          </a:xfrm>
          <a:prstGeom prst="rect">
            <a:avLst/>
          </a:prstGeom>
          <a:noFill/>
          <a:ln/>
        </p:spPr>
        <p:txBody>
          <a:bodyPr wrap="square" lIns="0" tIns="0" rIns="0" bIns="0" rtlCol="0" anchor="ctr"/>
          <a:lstStyle/>
          <a:p>
            <a:pPr algn="l" indent="0" marL="0">
              <a:buNone/>
            </a:pPr>
            <a:r>
              <a:rPr lang="en-US" sz="1100" dirty="0">
                <a:solidFill>
                  <a:srgbClr val="555555"/>
                </a:solidFill>
                <a:latin typeface="Calibri" pitchFamily="34" charset="0"/>
                <a:ea typeface="Calibri" pitchFamily="34" charset="-122"/>
                <a:cs typeface="Calibri" pitchFamily="34" charset="-120"/>
              </a:rPr>
              <a:t>Vista lógica de alto nivel. AI-Bank como sistema único y sus dependencias externas.</a:t>
            </a:r>
            <a:endParaRPr lang="en-US" sz="1100" dirty="0"/>
          </a:p>
        </p:txBody>
      </p:sp>
      <p:sp>
        <p:nvSpPr>
          <p:cNvPr id="6" name="Shape 4"/>
          <p:cNvSpPr/>
          <p:nvPr/>
        </p:nvSpPr>
        <p:spPr>
          <a:xfrm>
            <a:off x="347472" y="1444752"/>
            <a:ext cx="1371600" cy="960120"/>
          </a:xfrm>
          <a:prstGeom prst="ellipse">
            <a:avLst/>
          </a:prstGeom>
          <a:solidFill>
            <a:srgbClr val="003399">
              <a:alpha val="85000"/>
            </a:srgbClr>
          </a:solidFill>
          <a:ln w="25400">
            <a:solidFill>
              <a:srgbClr val="003399"/>
            </a:solidFill>
            <a:prstDash val="solid"/>
          </a:ln>
          <a:effectLst>
            <a:outerShdw sx="100000" sy="100000" kx="0" ky="0" algn="bl" rotWithShape="0" blurRad="101600" dist="25400" dir="8100000">
              <a:srgbClr val="000000">
                <a:alpha val="12000"/>
              </a:srgbClr>
            </a:outerShdw>
          </a:effectLst>
        </p:spPr>
      </p:sp>
      <p:sp>
        <p:nvSpPr>
          <p:cNvPr id="7" name="Text 5"/>
          <p:cNvSpPr/>
          <p:nvPr/>
        </p:nvSpPr>
        <p:spPr>
          <a:xfrm>
            <a:off x="347472" y="1444752"/>
            <a:ext cx="1371600" cy="9601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Cliente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Bancario</a:t>
            </a:r>
            <a:endParaRPr lang="en-US" sz="1050" dirty="0"/>
          </a:p>
        </p:txBody>
      </p:sp>
      <p:sp>
        <p:nvSpPr>
          <p:cNvPr id="8" name="Text 6"/>
          <p:cNvSpPr/>
          <p:nvPr/>
        </p:nvSpPr>
        <p:spPr>
          <a:xfrm>
            <a:off x="347472" y="2423160"/>
            <a:ext cx="1371600" cy="256032"/>
          </a:xfrm>
          <a:prstGeom prst="rect">
            <a:avLst/>
          </a:prstGeom>
          <a:noFill/>
          <a:ln/>
        </p:spPr>
        <p:txBody>
          <a:bodyPr wrap="square" lIns="0" tIns="0" rIns="0" bIns="0" rtlCol="0" anchor="ctr"/>
          <a:lstStyle/>
          <a:p>
            <a:pPr algn="ctr" indent="0" marL="0">
              <a:buNone/>
            </a:pPr>
            <a:r>
              <a:rPr lang="en-US" sz="850" dirty="0">
                <a:solidFill>
                  <a:srgbClr val="888888"/>
                </a:solidFill>
                <a:latin typeface="Calibri" pitchFamily="34" charset="0"/>
                <a:ea typeface="Calibri" pitchFamily="34" charset="-122"/>
                <a:cs typeface="Calibri" pitchFamily="34" charset="-120"/>
              </a:rPr>
              <a:t>[Person]</a:t>
            </a:r>
            <a:endParaRPr lang="en-US" sz="850" dirty="0"/>
          </a:p>
        </p:txBody>
      </p:sp>
      <p:sp>
        <p:nvSpPr>
          <p:cNvPr id="9" name="Shape 7"/>
          <p:cNvSpPr/>
          <p:nvPr/>
        </p:nvSpPr>
        <p:spPr>
          <a:xfrm>
            <a:off x="1737360" y="1920240"/>
            <a:ext cx="868680" cy="0"/>
          </a:xfrm>
          <a:prstGeom prst="line">
            <a:avLst/>
          </a:prstGeom>
          <a:noFill/>
          <a:ln w="19050">
            <a:solidFill>
              <a:srgbClr val="003399"/>
            </a:solidFill>
            <a:prstDash val="solid"/>
            <a:tailEnd type="arrow"/>
          </a:ln>
        </p:spPr>
      </p:sp>
      <p:sp>
        <p:nvSpPr>
          <p:cNvPr id="10" name="Text 8"/>
          <p:cNvSpPr/>
          <p:nvPr/>
        </p:nvSpPr>
        <p:spPr>
          <a:xfrm>
            <a:off x="1783080" y="1691640"/>
            <a:ext cx="822960" cy="201168"/>
          </a:xfrm>
          <a:prstGeom prst="rect">
            <a:avLst/>
          </a:prstGeom>
          <a:noFill/>
          <a:ln/>
        </p:spPr>
        <p:txBody>
          <a:bodyPr wrap="square" lIns="0" tIns="0" rIns="0" bIns="0"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Usa la app</a:t>
            </a:r>
            <a:endParaRPr lang="en-US" sz="800" dirty="0"/>
          </a:p>
        </p:txBody>
      </p:sp>
      <p:sp>
        <p:nvSpPr>
          <p:cNvPr id="11" name="Shape 9"/>
          <p:cNvSpPr/>
          <p:nvPr/>
        </p:nvSpPr>
        <p:spPr>
          <a:xfrm>
            <a:off x="2606040" y="1234440"/>
            <a:ext cx="3108960" cy="1481328"/>
          </a:xfrm>
          <a:prstGeom prst="rect">
            <a:avLst/>
          </a:prstGeom>
          <a:solidFill>
            <a:srgbClr val="003399"/>
          </a:solidFill>
          <a:ln w="12700">
            <a:solidFill>
              <a:srgbClr val="003399"/>
            </a:solidFill>
            <a:prstDash val="solid"/>
          </a:ln>
          <a:effectLst>
            <a:outerShdw sx="100000" sy="100000" kx="0" ky="0" algn="bl" rotWithShape="0" blurRad="177800" dist="38100" dir="8100000">
              <a:srgbClr val="000000">
                <a:alpha val="18000"/>
              </a:srgbClr>
            </a:outerShdw>
          </a:effectLst>
        </p:spPr>
      </p:sp>
      <p:sp>
        <p:nvSpPr>
          <p:cNvPr id="12" name="Text 10"/>
          <p:cNvSpPr/>
          <p:nvPr/>
        </p:nvSpPr>
        <p:spPr>
          <a:xfrm>
            <a:off x="2606040" y="1234440"/>
            <a:ext cx="3108960" cy="594360"/>
          </a:xfrm>
          <a:prstGeom prst="rect">
            <a:avLst/>
          </a:prstGeom>
          <a:noFill/>
          <a:ln/>
        </p:spPr>
        <p:txBody>
          <a:bodyPr wrap="square" lIns="0" tIns="0" rIns="0" bIns="0" rtlCol="0" anchor="b"/>
          <a:lstStyle/>
          <a:p>
            <a:pPr algn="ctr" indent="0" marL="0">
              <a:buNone/>
            </a:pPr>
            <a:r>
              <a:rPr lang="en-US" sz="2000" b="1" dirty="0">
                <a:solidFill>
                  <a:srgbClr val="FFFFFF"/>
                </a:solidFill>
                <a:latin typeface="Calibri" pitchFamily="34" charset="0"/>
                <a:ea typeface="Calibri" pitchFamily="34" charset="-122"/>
                <a:cs typeface="Calibri" pitchFamily="34" charset="-120"/>
              </a:rPr>
              <a:t>AI-Bank</a:t>
            </a:r>
            <a:endParaRPr lang="en-US" sz="2000" dirty="0"/>
          </a:p>
        </p:txBody>
      </p:sp>
      <p:sp>
        <p:nvSpPr>
          <p:cNvPr id="13" name="Text 11"/>
          <p:cNvSpPr/>
          <p:nvPr/>
        </p:nvSpPr>
        <p:spPr>
          <a:xfrm>
            <a:off x="2606040" y="1828800"/>
            <a:ext cx="3108960" cy="274320"/>
          </a:xfrm>
          <a:prstGeom prst="rect">
            <a:avLst/>
          </a:prstGeom>
          <a:noFill/>
          <a:ln/>
        </p:spPr>
        <p:txBody>
          <a:bodyPr wrap="square" lIns="0" tIns="0" rIns="0" bIns="0" rtlCol="0" anchor="ctr"/>
          <a:lstStyle/>
          <a:p>
            <a:pPr algn="ctr" indent="0" marL="0">
              <a:buNone/>
            </a:pPr>
            <a:r>
              <a:rPr lang="en-US" sz="850" dirty="0">
                <a:solidFill>
                  <a:srgbClr val="AACCFF"/>
                </a:solidFill>
                <a:latin typeface="Calibri" pitchFamily="34" charset="0"/>
                <a:ea typeface="Calibri" pitchFamily="34" charset="-122"/>
                <a:cs typeface="Calibri" pitchFamily="34" charset="-120"/>
              </a:rPr>
              <a:t>[Software System]</a:t>
            </a:r>
            <a:endParaRPr lang="en-US" sz="850" dirty="0"/>
          </a:p>
        </p:txBody>
      </p:sp>
      <p:sp>
        <p:nvSpPr>
          <p:cNvPr id="14" name="Text 12"/>
          <p:cNvSpPr/>
          <p:nvPr/>
        </p:nvSpPr>
        <p:spPr>
          <a:xfrm>
            <a:off x="2606040" y="2103120"/>
            <a:ext cx="3108960" cy="502920"/>
          </a:xfrm>
          <a:prstGeom prst="rect">
            <a:avLst/>
          </a:prstGeom>
          <a:noFill/>
          <a:ln/>
        </p:spPr>
        <p:txBody>
          <a:bodyPr wrap="square" lIns="0" tIns="0" rIns="0" bIns="0" rtlCol="0" anchor="t"/>
          <a:lstStyle/>
          <a:p>
            <a:pPr algn="ctr" indent="0" marL="0">
              <a:buNone/>
            </a:pPr>
            <a:r>
              <a:rPr lang="en-US" sz="950" dirty="0">
                <a:solidFill>
                  <a:srgbClr val="FFFFFF"/>
                </a:solidFill>
                <a:latin typeface="Calibri" pitchFamily="34" charset="0"/>
                <a:ea typeface="Calibri" pitchFamily="34" charset="-122"/>
                <a:cs typeface="Calibri" pitchFamily="34" charset="-120"/>
              </a:rPr>
              <a:t>App móvil + Agente IA + Segmentación ML</a:t>
            </a:r>
            <a:endParaRPr lang="en-US" sz="950" dirty="0"/>
          </a:p>
        </p:txBody>
      </p:sp>
      <p:sp>
        <p:nvSpPr>
          <p:cNvPr id="15" name="Shape 13"/>
          <p:cNvSpPr/>
          <p:nvPr/>
        </p:nvSpPr>
        <p:spPr>
          <a:xfrm>
            <a:off x="5733288" y="1554480"/>
            <a:ext cx="713232" cy="0"/>
          </a:xfrm>
          <a:prstGeom prst="line">
            <a:avLst/>
          </a:prstGeom>
          <a:noFill/>
          <a:ln w="19050">
            <a:solidFill>
              <a:srgbClr val="888888"/>
            </a:solidFill>
            <a:prstDash val="solid"/>
            <a:tailEnd type="arrow"/>
          </a:ln>
        </p:spPr>
      </p:sp>
      <p:sp>
        <p:nvSpPr>
          <p:cNvPr id="16" name="Shape 14"/>
          <p:cNvSpPr/>
          <p:nvPr/>
        </p:nvSpPr>
        <p:spPr>
          <a:xfrm>
            <a:off x="5733288" y="1965960"/>
            <a:ext cx="713232" cy="320040"/>
          </a:xfrm>
          <a:prstGeom prst="line">
            <a:avLst/>
          </a:prstGeom>
          <a:noFill/>
          <a:ln w="19050">
            <a:solidFill>
              <a:srgbClr val="888888"/>
            </a:solidFill>
            <a:prstDash val="solid"/>
            <a:tailEnd type="arrow"/>
          </a:ln>
        </p:spPr>
      </p:sp>
      <p:sp>
        <p:nvSpPr>
          <p:cNvPr id="17" name="Shape 15"/>
          <p:cNvSpPr/>
          <p:nvPr/>
        </p:nvSpPr>
        <p:spPr>
          <a:xfrm>
            <a:off x="5733288" y="2377440"/>
            <a:ext cx="713232" cy="640080"/>
          </a:xfrm>
          <a:prstGeom prst="line">
            <a:avLst/>
          </a:prstGeom>
          <a:noFill/>
          <a:ln w="19050">
            <a:solidFill>
              <a:srgbClr val="888888"/>
            </a:solidFill>
            <a:prstDash val="solid"/>
            <a:tailEnd type="arrow"/>
          </a:ln>
        </p:spPr>
      </p:sp>
      <p:sp>
        <p:nvSpPr>
          <p:cNvPr id="18" name="Shape 16"/>
          <p:cNvSpPr/>
          <p:nvPr/>
        </p:nvSpPr>
        <p:spPr>
          <a:xfrm>
            <a:off x="6446520" y="1234440"/>
            <a:ext cx="2286000" cy="804672"/>
          </a:xfrm>
          <a:prstGeom prst="rect">
            <a:avLst/>
          </a:prstGeom>
          <a:solidFill>
            <a:srgbClr val="6600FF">
              <a:alpha val="85000"/>
            </a:srgbClr>
          </a:solidFill>
          <a:ln w="19050">
            <a:solidFill>
              <a:srgbClr val="6600FF"/>
            </a:solidFill>
            <a:prstDash val="solid"/>
          </a:ln>
          <a:effectLst>
            <a:outerShdw sx="100000" sy="100000" kx="0" ky="0" algn="bl" rotWithShape="0" blurRad="101600" dist="25400" dir="8100000">
              <a:srgbClr val="000000">
                <a:alpha val="12000"/>
              </a:srgbClr>
            </a:outerShdw>
          </a:effectLst>
        </p:spPr>
      </p:sp>
      <p:sp>
        <p:nvSpPr>
          <p:cNvPr id="19" name="Text 17"/>
          <p:cNvSpPr/>
          <p:nvPr/>
        </p:nvSpPr>
        <p:spPr>
          <a:xfrm>
            <a:off x="6537960" y="1234440"/>
            <a:ext cx="210312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Google Gemini</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2.5 Flash</a:t>
            </a:r>
            <a:endParaRPr lang="en-US" sz="1050" dirty="0"/>
          </a:p>
        </p:txBody>
      </p:sp>
      <p:sp>
        <p:nvSpPr>
          <p:cNvPr id="20" name="Text 18"/>
          <p:cNvSpPr/>
          <p:nvPr/>
        </p:nvSpPr>
        <p:spPr>
          <a:xfrm>
            <a:off x="6537960" y="1737360"/>
            <a:ext cx="2103120" cy="274320"/>
          </a:xfrm>
          <a:prstGeom prst="rect">
            <a:avLst/>
          </a:prstGeom>
          <a:noFill/>
          <a:ln/>
        </p:spPr>
        <p:txBody>
          <a:bodyPr wrap="square" lIns="0" tIns="0" rIns="0" bIns="0" rtlCol="0" anchor="ctr"/>
          <a:lstStyle/>
          <a:p>
            <a:pPr algn="ctr" indent="0" marL="0">
              <a:buNone/>
            </a:pPr>
            <a:r>
              <a:rPr lang="en-US" sz="800" dirty="0">
                <a:solidFill>
                  <a:srgbClr val="DDDDDD"/>
                </a:solidFill>
                <a:latin typeface="Calibri" pitchFamily="34" charset="0"/>
                <a:ea typeface="Calibri" pitchFamily="34" charset="-122"/>
                <a:cs typeface="Calibri" pitchFamily="34" charset="-120"/>
              </a:rPr>
              <a:t>[External System]</a:t>
            </a:r>
            <a:endParaRPr lang="en-US" sz="800" dirty="0"/>
          </a:p>
          <a:p>
            <a:pPr algn="ctr" indent="0" marL="0">
              <a:buNone/>
            </a:pPr>
            <a:r>
              <a:rPr lang="en-US" sz="800" dirty="0">
                <a:solidFill>
                  <a:srgbClr val="DDDDDD"/>
                </a:solidFill>
                <a:latin typeface="Calibri" pitchFamily="34" charset="0"/>
                <a:ea typeface="Calibri" pitchFamily="34" charset="-122"/>
                <a:cs typeface="Calibri" pitchFamily="34" charset="-120"/>
              </a:rPr>
              <a:t>Motor LLM</a:t>
            </a:r>
            <a:endParaRPr lang="en-US" sz="800" dirty="0"/>
          </a:p>
        </p:txBody>
      </p:sp>
      <p:sp>
        <p:nvSpPr>
          <p:cNvPr id="21" name="Shape 19"/>
          <p:cNvSpPr/>
          <p:nvPr/>
        </p:nvSpPr>
        <p:spPr>
          <a:xfrm>
            <a:off x="6446520" y="2148840"/>
            <a:ext cx="2286000" cy="804672"/>
          </a:xfrm>
          <a:prstGeom prst="rect">
            <a:avLst/>
          </a:prstGeom>
          <a:solidFill>
            <a:srgbClr val="E6192E">
              <a:alpha val="85000"/>
            </a:srgbClr>
          </a:solidFill>
          <a:ln w="19050">
            <a:solidFill>
              <a:srgbClr val="E6192E"/>
            </a:solidFill>
            <a:prstDash val="solid"/>
          </a:ln>
          <a:effectLst>
            <a:outerShdw sx="100000" sy="100000" kx="0" ky="0" algn="bl" rotWithShape="0" blurRad="101600" dist="25400" dir="8100000">
              <a:srgbClr val="000000">
                <a:alpha val="12000"/>
              </a:srgbClr>
            </a:outerShdw>
          </a:effectLst>
        </p:spPr>
      </p:sp>
      <p:sp>
        <p:nvSpPr>
          <p:cNvPr id="22" name="Text 20"/>
          <p:cNvSpPr/>
          <p:nvPr/>
        </p:nvSpPr>
        <p:spPr>
          <a:xfrm>
            <a:off x="6537960" y="2148840"/>
            <a:ext cx="210312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Tavily</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Search API</a:t>
            </a:r>
            <a:endParaRPr lang="en-US" sz="1050" dirty="0"/>
          </a:p>
        </p:txBody>
      </p:sp>
      <p:sp>
        <p:nvSpPr>
          <p:cNvPr id="23" name="Text 21"/>
          <p:cNvSpPr/>
          <p:nvPr/>
        </p:nvSpPr>
        <p:spPr>
          <a:xfrm>
            <a:off x="6537960" y="2651760"/>
            <a:ext cx="2103120" cy="274320"/>
          </a:xfrm>
          <a:prstGeom prst="rect">
            <a:avLst/>
          </a:prstGeom>
          <a:noFill/>
          <a:ln/>
        </p:spPr>
        <p:txBody>
          <a:bodyPr wrap="square" lIns="0" tIns="0" rIns="0" bIns="0" rtlCol="0" anchor="ctr"/>
          <a:lstStyle/>
          <a:p>
            <a:pPr algn="ctr" indent="0" marL="0">
              <a:buNone/>
            </a:pPr>
            <a:r>
              <a:rPr lang="en-US" sz="800" dirty="0">
                <a:solidFill>
                  <a:srgbClr val="DDDDDD"/>
                </a:solidFill>
                <a:latin typeface="Calibri" pitchFamily="34" charset="0"/>
                <a:ea typeface="Calibri" pitchFamily="34" charset="-122"/>
                <a:cs typeface="Calibri" pitchFamily="34" charset="-120"/>
              </a:rPr>
              <a:t>[External System]</a:t>
            </a:r>
            <a:endParaRPr lang="en-US" sz="800" dirty="0"/>
          </a:p>
          <a:p>
            <a:pPr algn="ctr" indent="0" marL="0">
              <a:buNone/>
            </a:pPr>
            <a:r>
              <a:rPr lang="en-US" sz="800" dirty="0">
                <a:solidFill>
                  <a:srgbClr val="DDDDDD"/>
                </a:solidFill>
                <a:latin typeface="Calibri" pitchFamily="34" charset="0"/>
                <a:ea typeface="Calibri" pitchFamily="34" charset="-122"/>
                <a:cs typeface="Calibri" pitchFamily="34" charset="-120"/>
              </a:rPr>
              <a:t>Búsqueda deportiva</a:t>
            </a:r>
            <a:endParaRPr lang="en-US" sz="800" dirty="0"/>
          </a:p>
        </p:txBody>
      </p:sp>
      <p:sp>
        <p:nvSpPr>
          <p:cNvPr id="24" name="Shape 22"/>
          <p:cNvSpPr/>
          <p:nvPr/>
        </p:nvSpPr>
        <p:spPr>
          <a:xfrm>
            <a:off x="6446520" y="3063240"/>
            <a:ext cx="2286000" cy="804672"/>
          </a:xfrm>
          <a:prstGeom prst="rect">
            <a:avLst/>
          </a:prstGeom>
          <a:solidFill>
            <a:srgbClr val="1A7A4A">
              <a:alpha val="85000"/>
            </a:srgbClr>
          </a:solidFill>
          <a:ln w="19050">
            <a:solidFill>
              <a:srgbClr val="1A7A4A"/>
            </a:solidFill>
            <a:prstDash val="solid"/>
          </a:ln>
          <a:effectLst>
            <a:outerShdw sx="100000" sy="100000" kx="0" ky="0" algn="bl" rotWithShape="0" blurRad="101600" dist="25400" dir="8100000">
              <a:srgbClr val="000000">
                <a:alpha val="12000"/>
              </a:srgbClr>
            </a:outerShdw>
          </a:effectLst>
        </p:spPr>
      </p:sp>
      <p:sp>
        <p:nvSpPr>
          <p:cNvPr id="25" name="Text 23"/>
          <p:cNvSpPr/>
          <p:nvPr/>
        </p:nvSpPr>
        <p:spPr>
          <a:xfrm>
            <a:off x="6537960" y="3063240"/>
            <a:ext cx="210312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Supabase</a:t>
            </a:r>
            <a:endParaRPr lang="en-US" sz="1050" dirty="0"/>
          </a:p>
        </p:txBody>
      </p:sp>
      <p:sp>
        <p:nvSpPr>
          <p:cNvPr id="26" name="Text 24"/>
          <p:cNvSpPr/>
          <p:nvPr/>
        </p:nvSpPr>
        <p:spPr>
          <a:xfrm>
            <a:off x="6537960" y="3566160"/>
            <a:ext cx="2103120" cy="274320"/>
          </a:xfrm>
          <a:prstGeom prst="rect">
            <a:avLst/>
          </a:prstGeom>
          <a:noFill/>
          <a:ln/>
        </p:spPr>
        <p:txBody>
          <a:bodyPr wrap="square" lIns="0" tIns="0" rIns="0" bIns="0" rtlCol="0" anchor="ctr"/>
          <a:lstStyle/>
          <a:p>
            <a:pPr algn="ctr" indent="0" marL="0">
              <a:buNone/>
            </a:pPr>
            <a:r>
              <a:rPr lang="en-US" sz="800" dirty="0">
                <a:solidFill>
                  <a:srgbClr val="DDDDDD"/>
                </a:solidFill>
                <a:latin typeface="Calibri" pitchFamily="34" charset="0"/>
                <a:ea typeface="Calibri" pitchFamily="34" charset="-122"/>
                <a:cs typeface="Calibri" pitchFamily="34" charset="-120"/>
              </a:rPr>
              <a:t>[External System]</a:t>
            </a:r>
            <a:endParaRPr lang="en-US" sz="800" dirty="0"/>
          </a:p>
          <a:p>
            <a:pPr algn="ctr" indent="0" marL="0">
              <a:buNone/>
            </a:pPr>
            <a:r>
              <a:rPr lang="en-US" sz="800" dirty="0">
                <a:solidFill>
                  <a:srgbClr val="DDDDDD"/>
                </a:solidFill>
                <a:latin typeface="Calibri" pitchFamily="34" charset="0"/>
                <a:ea typeface="Calibri" pitchFamily="34" charset="-122"/>
                <a:cs typeface="Calibri" pitchFamily="34" charset="-120"/>
              </a:rPr>
              <a:t>DB + Auth + Storage</a:t>
            </a:r>
            <a:endParaRPr lang="en-US" sz="800" dirty="0"/>
          </a:p>
        </p:txBody>
      </p:sp>
      <p:sp>
        <p:nvSpPr>
          <p:cNvPr id="27" name="Shape 25"/>
          <p:cNvSpPr/>
          <p:nvPr/>
        </p:nvSpPr>
        <p:spPr>
          <a:xfrm>
            <a:off x="347472" y="4187952"/>
            <a:ext cx="8430768" cy="594360"/>
          </a:xfrm>
          <a:prstGeom prst="rect">
            <a:avLst/>
          </a:prstGeom>
          <a:solidFill>
            <a:srgbClr val="EEF2FF"/>
          </a:solidFill>
          <a:ln w="6350">
            <a:solidFill>
              <a:srgbClr val="CCCCCC"/>
            </a:solidFill>
            <a:prstDash val="solid"/>
          </a:ln>
        </p:spPr>
      </p:sp>
      <p:sp>
        <p:nvSpPr>
          <p:cNvPr id="28" name="Shape 26"/>
          <p:cNvSpPr/>
          <p:nvPr/>
        </p:nvSpPr>
        <p:spPr>
          <a:xfrm>
            <a:off x="548640" y="4334256"/>
            <a:ext cx="201168" cy="201168"/>
          </a:xfrm>
          <a:prstGeom prst="rect">
            <a:avLst/>
          </a:prstGeom>
          <a:solidFill>
            <a:srgbClr val="003399"/>
          </a:solidFill>
          <a:ln w="12700">
            <a:solidFill>
              <a:srgbClr val="003399"/>
            </a:solidFill>
            <a:prstDash val="solid"/>
          </a:ln>
        </p:spPr>
      </p:sp>
      <p:sp>
        <p:nvSpPr>
          <p:cNvPr id="29" name="Text 27"/>
          <p:cNvSpPr/>
          <p:nvPr/>
        </p:nvSpPr>
        <p:spPr>
          <a:xfrm>
            <a:off x="804672" y="4315968"/>
            <a:ext cx="1828800" cy="237744"/>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Sistema AI-Bank (in scope)</a:t>
            </a:r>
            <a:endParaRPr lang="en-US" sz="900" dirty="0"/>
          </a:p>
        </p:txBody>
      </p:sp>
      <p:sp>
        <p:nvSpPr>
          <p:cNvPr id="30" name="Shape 28"/>
          <p:cNvSpPr/>
          <p:nvPr/>
        </p:nvSpPr>
        <p:spPr>
          <a:xfrm>
            <a:off x="2697480" y="4334256"/>
            <a:ext cx="201168" cy="201168"/>
          </a:xfrm>
          <a:prstGeom prst="rect">
            <a:avLst/>
          </a:prstGeom>
          <a:solidFill>
            <a:srgbClr val="6600FF"/>
          </a:solidFill>
          <a:ln w="12700">
            <a:solidFill>
              <a:srgbClr val="6600FF"/>
            </a:solidFill>
            <a:prstDash val="solid"/>
          </a:ln>
        </p:spPr>
      </p:sp>
      <p:sp>
        <p:nvSpPr>
          <p:cNvPr id="31" name="Text 29"/>
          <p:cNvSpPr/>
          <p:nvPr/>
        </p:nvSpPr>
        <p:spPr>
          <a:xfrm>
            <a:off x="2953512" y="4315968"/>
            <a:ext cx="1828800" cy="237744"/>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Sistema externo (IA)</a:t>
            </a:r>
            <a:endParaRPr lang="en-US" sz="900" dirty="0"/>
          </a:p>
        </p:txBody>
      </p:sp>
      <p:sp>
        <p:nvSpPr>
          <p:cNvPr id="32" name="Shape 30"/>
          <p:cNvSpPr/>
          <p:nvPr/>
        </p:nvSpPr>
        <p:spPr>
          <a:xfrm>
            <a:off x="4846320" y="4334256"/>
            <a:ext cx="201168" cy="201168"/>
          </a:xfrm>
          <a:prstGeom prst="rect">
            <a:avLst/>
          </a:prstGeom>
          <a:solidFill>
            <a:srgbClr val="E6192E"/>
          </a:solidFill>
          <a:ln w="12700">
            <a:solidFill>
              <a:srgbClr val="E6192E"/>
            </a:solidFill>
            <a:prstDash val="solid"/>
          </a:ln>
        </p:spPr>
      </p:sp>
      <p:sp>
        <p:nvSpPr>
          <p:cNvPr id="33" name="Text 31"/>
          <p:cNvSpPr/>
          <p:nvPr/>
        </p:nvSpPr>
        <p:spPr>
          <a:xfrm>
            <a:off x="5102352" y="4315968"/>
            <a:ext cx="1828800" cy="237744"/>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Sistema externo (Búsqueda)</a:t>
            </a:r>
            <a:endParaRPr lang="en-US" sz="900" dirty="0"/>
          </a:p>
        </p:txBody>
      </p:sp>
      <p:sp>
        <p:nvSpPr>
          <p:cNvPr id="34" name="Shape 32"/>
          <p:cNvSpPr/>
          <p:nvPr/>
        </p:nvSpPr>
        <p:spPr>
          <a:xfrm>
            <a:off x="6995160" y="4334256"/>
            <a:ext cx="201168" cy="201168"/>
          </a:xfrm>
          <a:prstGeom prst="rect">
            <a:avLst/>
          </a:prstGeom>
          <a:solidFill>
            <a:srgbClr val="1A7A4A"/>
          </a:solidFill>
          <a:ln w="12700">
            <a:solidFill>
              <a:srgbClr val="1A7A4A"/>
            </a:solidFill>
            <a:prstDash val="solid"/>
          </a:ln>
        </p:spPr>
      </p:sp>
      <p:sp>
        <p:nvSpPr>
          <p:cNvPr id="35" name="Text 33"/>
          <p:cNvSpPr/>
          <p:nvPr/>
        </p:nvSpPr>
        <p:spPr>
          <a:xfrm>
            <a:off x="7251192" y="4315968"/>
            <a:ext cx="1828800" cy="237744"/>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Sistema externo (Datos)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Diagrama de Contenedores — C4 Nivel 2</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Text 3"/>
          <p:cNvSpPr/>
          <p:nvPr/>
        </p:nvSpPr>
        <p:spPr>
          <a:xfrm>
            <a:off x="384048" y="914400"/>
            <a:ext cx="8412480" cy="347472"/>
          </a:xfrm>
          <a:prstGeom prst="rect">
            <a:avLst/>
          </a:prstGeom>
          <a:noFill/>
          <a:ln/>
        </p:spPr>
        <p:txBody>
          <a:bodyPr wrap="square" lIns="0" tIns="0" rIns="0" bIns="0" rtlCol="0" anchor="ctr"/>
          <a:lstStyle/>
          <a:p>
            <a:pPr algn="l" indent="0" marL="0">
              <a:buNone/>
            </a:pPr>
            <a:r>
              <a:rPr lang="en-US" sz="1100" dirty="0">
                <a:solidFill>
                  <a:srgbClr val="555555"/>
                </a:solidFill>
                <a:latin typeface="Calibri" pitchFamily="34" charset="0"/>
                <a:ea typeface="Calibri" pitchFamily="34" charset="-122"/>
                <a:cs typeface="Calibri" pitchFamily="34" charset="-120"/>
              </a:rPr>
              <a:t>Descomposición interna de AI-Bank en sus cuatro contenedores desplegables independientemente.</a:t>
            </a:r>
            <a:endParaRPr lang="en-US" sz="1100" dirty="0"/>
          </a:p>
        </p:txBody>
      </p:sp>
      <p:sp>
        <p:nvSpPr>
          <p:cNvPr id="6" name="Shape 4"/>
          <p:cNvSpPr/>
          <p:nvPr/>
        </p:nvSpPr>
        <p:spPr>
          <a:xfrm>
            <a:off x="347472" y="1371600"/>
            <a:ext cx="6309360" cy="3337560"/>
          </a:xfrm>
          <a:prstGeom prst="rect">
            <a:avLst/>
          </a:prstGeom>
          <a:solidFill>
            <a:srgbClr val="EEF2FF"/>
          </a:solidFill>
          <a:ln w="19050">
            <a:solidFill>
              <a:srgbClr val="003399"/>
            </a:solidFill>
            <a:prstDash val="dash"/>
          </a:ln>
        </p:spPr>
      </p:sp>
      <p:sp>
        <p:nvSpPr>
          <p:cNvPr id="7" name="Text 5"/>
          <p:cNvSpPr/>
          <p:nvPr/>
        </p:nvSpPr>
        <p:spPr>
          <a:xfrm>
            <a:off x="411480" y="1389888"/>
            <a:ext cx="2286000" cy="256032"/>
          </a:xfrm>
          <a:prstGeom prst="rect">
            <a:avLst/>
          </a:prstGeom>
          <a:noFill/>
          <a:ln/>
        </p:spPr>
        <p:txBody>
          <a:bodyPr wrap="square" lIns="0" tIns="0" rIns="0" bIns="0" rtlCol="0" anchor="ctr"/>
          <a:lstStyle/>
          <a:p>
            <a:pPr algn="l" indent="0" marL="0">
              <a:buNone/>
            </a:pPr>
            <a:r>
              <a:rPr lang="en-US" sz="850" b="1" dirty="0">
                <a:solidFill>
                  <a:srgbClr val="003399"/>
                </a:solidFill>
                <a:latin typeface="Calibri" pitchFamily="34" charset="0"/>
                <a:ea typeface="Calibri" pitchFamily="34" charset="-122"/>
                <a:cs typeface="Calibri" pitchFamily="34" charset="-120"/>
              </a:rPr>
              <a:t>Plataforma AI-Bank</a:t>
            </a:r>
            <a:endParaRPr lang="en-US" sz="850" dirty="0"/>
          </a:p>
        </p:txBody>
      </p:sp>
      <p:sp>
        <p:nvSpPr>
          <p:cNvPr id="8" name="Shape 6"/>
          <p:cNvSpPr/>
          <p:nvPr/>
        </p:nvSpPr>
        <p:spPr>
          <a:xfrm>
            <a:off x="502920" y="1691640"/>
            <a:ext cx="1664208" cy="2724912"/>
          </a:xfrm>
          <a:prstGeom prst="rect">
            <a:avLst/>
          </a:prstGeom>
          <a:solidFill>
            <a:srgbClr val="003399"/>
          </a:solidFill>
          <a:ln w="19050">
            <a:solidFill>
              <a:srgbClr val="003399"/>
            </a:solidFill>
            <a:prstDash val="solid"/>
          </a:ln>
          <a:effectLst>
            <a:outerShdw sx="100000" sy="100000" kx="0" ky="0" algn="bl" rotWithShape="0" blurRad="101600" dist="25400" dir="8100000">
              <a:srgbClr val="000000">
                <a:alpha val="12000"/>
              </a:srgbClr>
            </a:outerShdw>
          </a:effectLst>
        </p:spPr>
      </p:sp>
      <p:sp>
        <p:nvSpPr>
          <p:cNvPr id="9" name="Text 7"/>
          <p:cNvSpPr/>
          <p:nvPr/>
        </p:nvSpPr>
        <p:spPr>
          <a:xfrm>
            <a:off x="576072" y="1691640"/>
            <a:ext cx="1517904" cy="1498702"/>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 AI-Bank App</a:t>
            </a:r>
            <a:endParaRPr lang="en-US" sz="1100" dirty="0"/>
          </a:p>
        </p:txBody>
      </p:sp>
      <p:sp>
        <p:nvSpPr>
          <p:cNvPr id="10" name="Text 8"/>
          <p:cNvSpPr/>
          <p:nvPr/>
        </p:nvSpPr>
        <p:spPr>
          <a:xfrm>
            <a:off x="576072" y="3190342"/>
            <a:ext cx="1517904" cy="1144463"/>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React Native · Expo</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TypeScript</a:t>
            </a:r>
            <a:endParaRPr lang="en-US" sz="900" dirty="0"/>
          </a:p>
          <a:p>
            <a:pPr algn="ctr" indent="0" marL="0">
              <a:buNone/>
            </a:pP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Auth · Pronósticos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Álbum · Banco</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Premios</a:t>
            </a:r>
            <a:endParaRPr lang="en-US" sz="900" dirty="0"/>
          </a:p>
        </p:txBody>
      </p:sp>
      <p:sp>
        <p:nvSpPr>
          <p:cNvPr id="11" name="Shape 9"/>
          <p:cNvSpPr/>
          <p:nvPr/>
        </p:nvSpPr>
        <p:spPr>
          <a:xfrm>
            <a:off x="2377440" y="1691640"/>
            <a:ext cx="2084832" cy="1188720"/>
          </a:xfrm>
          <a:prstGeom prst="rect">
            <a:avLst/>
          </a:prstGeom>
          <a:solidFill>
            <a:srgbClr val="1A47B8"/>
          </a:solidFill>
          <a:ln w="19050">
            <a:solidFill>
              <a:srgbClr val="1A47B8"/>
            </a:solidFill>
            <a:prstDash val="solid"/>
          </a:ln>
          <a:effectLst>
            <a:outerShdw sx="100000" sy="100000" kx="0" ky="0" algn="bl" rotWithShape="0" blurRad="101600" dist="25400" dir="8100000">
              <a:srgbClr val="000000">
                <a:alpha val="12000"/>
              </a:srgbClr>
            </a:outerShdw>
          </a:effectLst>
        </p:spPr>
      </p:sp>
      <p:sp>
        <p:nvSpPr>
          <p:cNvPr id="12" name="Text 10"/>
          <p:cNvSpPr/>
          <p:nvPr/>
        </p:nvSpPr>
        <p:spPr>
          <a:xfrm>
            <a:off x="2450592" y="1691640"/>
            <a:ext cx="1938528" cy="653796"/>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 Agente Deportivo</a:t>
            </a:r>
            <a:endParaRPr lang="en-US" sz="1100" dirty="0"/>
          </a:p>
        </p:txBody>
      </p:sp>
      <p:sp>
        <p:nvSpPr>
          <p:cNvPr id="13" name="Text 11"/>
          <p:cNvSpPr/>
          <p:nvPr/>
        </p:nvSpPr>
        <p:spPr>
          <a:xfrm>
            <a:off x="2450592" y="2345436"/>
            <a:ext cx="1938528" cy="499262"/>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Python · FastAPI</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LangGraph · Gemini</a:t>
            </a:r>
            <a:endParaRPr lang="en-US" sz="900" dirty="0"/>
          </a:p>
        </p:txBody>
      </p:sp>
      <p:sp>
        <p:nvSpPr>
          <p:cNvPr id="14" name="Shape 12"/>
          <p:cNvSpPr/>
          <p:nvPr/>
        </p:nvSpPr>
        <p:spPr>
          <a:xfrm>
            <a:off x="2377440" y="3063240"/>
            <a:ext cx="2084832" cy="1353312"/>
          </a:xfrm>
          <a:prstGeom prst="rect">
            <a:avLst/>
          </a:prstGeom>
          <a:solidFill>
            <a:srgbClr val="6600FF"/>
          </a:solidFill>
          <a:ln w="19050">
            <a:solidFill>
              <a:srgbClr val="6600FF"/>
            </a:solidFill>
            <a:prstDash val="solid"/>
          </a:ln>
          <a:effectLst>
            <a:outerShdw sx="100000" sy="100000" kx="0" ky="0" algn="bl" rotWithShape="0" blurRad="101600" dist="25400" dir="8100000">
              <a:srgbClr val="000000">
                <a:alpha val="12000"/>
              </a:srgbClr>
            </a:outerShdw>
          </a:effectLst>
        </p:spPr>
      </p:sp>
      <p:sp>
        <p:nvSpPr>
          <p:cNvPr id="15" name="Text 13"/>
          <p:cNvSpPr/>
          <p:nvPr/>
        </p:nvSpPr>
        <p:spPr>
          <a:xfrm>
            <a:off x="2450592" y="3063240"/>
            <a:ext cx="1938528" cy="744322"/>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 Segmentación</a:t>
            </a:r>
            <a:endParaRPr lang="en-US" sz="1100" dirty="0"/>
          </a:p>
        </p:txBody>
      </p:sp>
      <p:sp>
        <p:nvSpPr>
          <p:cNvPr id="16" name="Text 14"/>
          <p:cNvSpPr/>
          <p:nvPr/>
        </p:nvSpPr>
        <p:spPr>
          <a:xfrm>
            <a:off x="2450592" y="3807562"/>
            <a:ext cx="1938528" cy="568391"/>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Python · FastAPI</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Scikit-learn · Reglas</a:t>
            </a:r>
            <a:endParaRPr lang="en-US" sz="900" dirty="0"/>
          </a:p>
        </p:txBody>
      </p:sp>
      <p:sp>
        <p:nvSpPr>
          <p:cNvPr id="17" name="Shape 15"/>
          <p:cNvSpPr/>
          <p:nvPr/>
        </p:nvSpPr>
        <p:spPr>
          <a:xfrm>
            <a:off x="4663440" y="1691640"/>
            <a:ext cx="1783080" cy="2724912"/>
          </a:xfrm>
          <a:prstGeom prst="rect">
            <a:avLst/>
          </a:prstGeom>
          <a:solidFill>
            <a:srgbClr val="1A7A4A"/>
          </a:solidFill>
          <a:ln w="19050">
            <a:solidFill>
              <a:srgbClr val="1A7A4A"/>
            </a:solidFill>
            <a:prstDash val="solid"/>
          </a:ln>
          <a:effectLst>
            <a:outerShdw sx="100000" sy="100000" kx="0" ky="0" algn="bl" rotWithShape="0" blurRad="101600" dist="25400" dir="8100000">
              <a:srgbClr val="000000">
                <a:alpha val="12000"/>
              </a:srgbClr>
            </a:outerShdw>
          </a:effectLst>
        </p:spPr>
      </p:sp>
      <p:sp>
        <p:nvSpPr>
          <p:cNvPr id="18" name="Text 16"/>
          <p:cNvSpPr/>
          <p:nvPr/>
        </p:nvSpPr>
        <p:spPr>
          <a:xfrm>
            <a:off x="4736592" y="1691640"/>
            <a:ext cx="1636776" cy="1498702"/>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 Base de Datos</a:t>
            </a:r>
            <a:endParaRPr lang="en-US" sz="1100" dirty="0"/>
          </a:p>
        </p:txBody>
      </p:sp>
      <p:sp>
        <p:nvSpPr>
          <p:cNvPr id="19" name="Text 17"/>
          <p:cNvSpPr/>
          <p:nvPr/>
        </p:nvSpPr>
        <p:spPr>
          <a:xfrm>
            <a:off x="4736592" y="3190342"/>
            <a:ext cx="1636776" cy="1144463"/>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PostgreSQL</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Supabase</a:t>
            </a:r>
            <a:endParaRPr lang="en-US" sz="900" dirty="0"/>
          </a:p>
          <a:p>
            <a:pPr algn="ctr" indent="0" marL="0">
              <a:buNone/>
            </a:pP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Auth JWT</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Realtime WS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Storage</a:t>
            </a:r>
            <a:endParaRPr lang="en-US" sz="900" dirty="0"/>
          </a:p>
        </p:txBody>
      </p:sp>
      <p:sp>
        <p:nvSpPr>
          <p:cNvPr id="20" name="Shape 18"/>
          <p:cNvSpPr/>
          <p:nvPr/>
        </p:nvSpPr>
        <p:spPr>
          <a:xfrm>
            <a:off x="2176272" y="2194560"/>
            <a:ext cx="201168" cy="0"/>
          </a:xfrm>
          <a:prstGeom prst="line">
            <a:avLst/>
          </a:prstGeom>
          <a:noFill/>
          <a:ln w="19050">
            <a:solidFill>
              <a:srgbClr val="FFFFFF"/>
            </a:solidFill>
            <a:prstDash val="solid"/>
            <a:tailEnd type="arrow"/>
          </a:ln>
        </p:spPr>
      </p:sp>
      <p:sp>
        <p:nvSpPr>
          <p:cNvPr id="21" name="Shape 19"/>
          <p:cNvSpPr/>
          <p:nvPr/>
        </p:nvSpPr>
        <p:spPr>
          <a:xfrm>
            <a:off x="2176272" y="2834640"/>
            <a:ext cx="201168" cy="548640"/>
          </a:xfrm>
          <a:prstGeom prst="line">
            <a:avLst/>
          </a:prstGeom>
          <a:noFill/>
          <a:ln w="19050">
            <a:solidFill>
              <a:srgbClr val="FFFFFF"/>
            </a:solidFill>
            <a:prstDash val="solid"/>
            <a:tailEnd type="arrow"/>
          </a:ln>
        </p:spPr>
      </p:sp>
      <p:sp>
        <p:nvSpPr>
          <p:cNvPr id="22" name="Shape 20"/>
          <p:cNvSpPr/>
          <p:nvPr/>
        </p:nvSpPr>
        <p:spPr>
          <a:xfrm>
            <a:off x="2176272" y="2514600"/>
            <a:ext cx="2487168" cy="0"/>
          </a:xfrm>
          <a:prstGeom prst="line">
            <a:avLst/>
          </a:prstGeom>
          <a:noFill/>
          <a:ln w="19050">
            <a:solidFill>
              <a:srgbClr val="FFFFFF"/>
            </a:solidFill>
            <a:prstDash val="solid"/>
            <a:tailEnd type="arrow"/>
          </a:ln>
        </p:spPr>
      </p:sp>
      <p:sp>
        <p:nvSpPr>
          <p:cNvPr id="23" name="Shape 21"/>
          <p:cNvSpPr/>
          <p:nvPr/>
        </p:nvSpPr>
        <p:spPr>
          <a:xfrm>
            <a:off x="6858000" y="1691640"/>
            <a:ext cx="1938528" cy="914400"/>
          </a:xfrm>
          <a:prstGeom prst="rect">
            <a:avLst/>
          </a:prstGeom>
          <a:solidFill>
            <a:srgbClr val="6600FF"/>
          </a:solidFill>
          <a:ln w="19050">
            <a:solidFill>
              <a:srgbClr val="6600FF"/>
            </a:solidFill>
            <a:prstDash val="solid"/>
          </a:ln>
          <a:effectLst>
            <a:outerShdw sx="100000" sy="100000" kx="0" ky="0" algn="bl" rotWithShape="0" blurRad="101600" dist="25400" dir="8100000">
              <a:srgbClr val="000000">
                <a:alpha val="12000"/>
              </a:srgbClr>
            </a:outerShdw>
          </a:effectLst>
        </p:spPr>
      </p:sp>
      <p:sp>
        <p:nvSpPr>
          <p:cNvPr id="24" name="Text 22"/>
          <p:cNvSpPr/>
          <p:nvPr/>
        </p:nvSpPr>
        <p:spPr>
          <a:xfrm>
            <a:off x="6931152" y="1691640"/>
            <a:ext cx="1792224" cy="502920"/>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 Gemini 2.5 Flash</a:t>
            </a:r>
            <a:endParaRPr lang="en-US" sz="1100" dirty="0"/>
          </a:p>
        </p:txBody>
      </p:sp>
      <p:sp>
        <p:nvSpPr>
          <p:cNvPr id="25" name="Text 23"/>
          <p:cNvSpPr/>
          <p:nvPr/>
        </p:nvSpPr>
        <p:spPr>
          <a:xfrm>
            <a:off x="6931152" y="2194560"/>
            <a:ext cx="1792224" cy="384048"/>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[External]</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Motor LLM</a:t>
            </a:r>
            <a:endParaRPr lang="en-US" sz="900" dirty="0"/>
          </a:p>
        </p:txBody>
      </p:sp>
      <p:sp>
        <p:nvSpPr>
          <p:cNvPr id="26" name="Shape 24"/>
          <p:cNvSpPr/>
          <p:nvPr/>
        </p:nvSpPr>
        <p:spPr>
          <a:xfrm>
            <a:off x="6858000" y="2788920"/>
            <a:ext cx="1938528" cy="914400"/>
          </a:xfrm>
          <a:prstGeom prst="rect">
            <a:avLst/>
          </a:prstGeom>
          <a:solidFill>
            <a:srgbClr val="E6192E"/>
          </a:solidFill>
          <a:ln w="19050">
            <a:solidFill>
              <a:srgbClr val="E6192E"/>
            </a:solidFill>
            <a:prstDash val="solid"/>
          </a:ln>
          <a:effectLst>
            <a:outerShdw sx="100000" sy="100000" kx="0" ky="0" algn="bl" rotWithShape="0" blurRad="101600" dist="25400" dir="8100000">
              <a:srgbClr val="000000">
                <a:alpha val="12000"/>
              </a:srgbClr>
            </a:outerShdw>
          </a:effectLst>
        </p:spPr>
      </p:sp>
      <p:sp>
        <p:nvSpPr>
          <p:cNvPr id="27" name="Text 25"/>
          <p:cNvSpPr/>
          <p:nvPr/>
        </p:nvSpPr>
        <p:spPr>
          <a:xfrm>
            <a:off x="6931152" y="2788920"/>
            <a:ext cx="1792224" cy="502920"/>
          </a:xfrm>
          <a:prstGeom prst="rect">
            <a:avLst/>
          </a:prstGeom>
          <a:noFill/>
          <a:ln/>
        </p:spPr>
        <p:txBody>
          <a:bodyPr wrap="square" lIns="0" tIns="0" rIns="0" bIns="0"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 Tavily Search</a:t>
            </a:r>
            <a:endParaRPr lang="en-US" sz="1100" dirty="0"/>
          </a:p>
        </p:txBody>
      </p:sp>
      <p:sp>
        <p:nvSpPr>
          <p:cNvPr id="28" name="Text 26"/>
          <p:cNvSpPr/>
          <p:nvPr/>
        </p:nvSpPr>
        <p:spPr>
          <a:xfrm>
            <a:off x="6931152" y="3291840"/>
            <a:ext cx="1792224" cy="384048"/>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[External]</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Búsqueda web</a:t>
            </a:r>
            <a:endParaRPr lang="en-US" sz="900" dirty="0"/>
          </a:p>
        </p:txBody>
      </p:sp>
      <p:sp>
        <p:nvSpPr>
          <p:cNvPr id="29" name="Shape 27"/>
          <p:cNvSpPr/>
          <p:nvPr/>
        </p:nvSpPr>
        <p:spPr>
          <a:xfrm>
            <a:off x="4462272" y="2029968"/>
            <a:ext cx="2395728" cy="0"/>
          </a:xfrm>
          <a:prstGeom prst="line">
            <a:avLst/>
          </a:prstGeom>
          <a:noFill/>
          <a:ln w="19050">
            <a:solidFill>
              <a:srgbClr val="888888"/>
            </a:solidFill>
            <a:prstDash val="solid"/>
            <a:tailEnd type="arrow"/>
          </a:ln>
        </p:spPr>
      </p:sp>
      <p:sp>
        <p:nvSpPr>
          <p:cNvPr id="30" name="Shape 28"/>
          <p:cNvSpPr/>
          <p:nvPr/>
        </p:nvSpPr>
        <p:spPr>
          <a:xfrm>
            <a:off x="4462272" y="2651760"/>
            <a:ext cx="2395728" cy="548640"/>
          </a:xfrm>
          <a:prstGeom prst="line">
            <a:avLst/>
          </a:prstGeom>
          <a:noFill/>
          <a:ln w="19050">
            <a:solidFill>
              <a:srgbClr val="888888"/>
            </a:solidFill>
            <a:prstDash val="solid"/>
            <a:tailEnd type="arrow"/>
          </a:ln>
        </p:spPr>
      </p:sp>
      <p:sp>
        <p:nvSpPr>
          <p:cNvPr id="31" name="Text 29"/>
          <p:cNvSpPr/>
          <p:nvPr/>
        </p:nvSpPr>
        <p:spPr>
          <a:xfrm>
            <a:off x="5394960" y="1828800"/>
            <a:ext cx="1371600" cy="182880"/>
          </a:xfrm>
          <a:prstGeom prst="rect">
            <a:avLst/>
          </a:prstGeom>
          <a:noFill/>
          <a:ln/>
        </p:spPr>
        <p:txBody>
          <a:bodyPr wrap="square" lIns="0" tIns="0" rIns="0" bIns="0"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REST / JSON</a:t>
            </a:r>
            <a:endParaRPr lang="en-US" sz="800" dirty="0"/>
          </a:p>
        </p:txBody>
      </p:sp>
      <p:sp>
        <p:nvSpPr>
          <p:cNvPr id="32" name="Text 30"/>
          <p:cNvSpPr/>
          <p:nvPr/>
        </p:nvSpPr>
        <p:spPr>
          <a:xfrm>
            <a:off x="5303520" y="3246120"/>
            <a:ext cx="1371600" cy="182880"/>
          </a:xfrm>
          <a:prstGeom prst="rect">
            <a:avLst/>
          </a:prstGeom>
          <a:noFill/>
          <a:ln/>
        </p:spPr>
        <p:txBody>
          <a:bodyPr wrap="square" lIns="0" tIns="0" rIns="0" bIns="0"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REST / JSON</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6600FF"/>
        </a:solidFill>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003399">
              <a:alpha val="40000"/>
            </a:srgbClr>
          </a:solidFill>
          <a:ln w="12700">
            <a:solidFill>
              <a:srgbClr val="003399">
                <a:alpha val="40000"/>
              </a:srgbClr>
            </a:solidFill>
            <a:prstDash val="solid"/>
          </a:ln>
        </p:spPr>
      </p:sp>
      <p:sp>
        <p:nvSpPr>
          <p:cNvPr id="3" name="Shape 1"/>
          <p:cNvSpPr/>
          <p:nvPr/>
        </p:nvSpPr>
        <p:spPr>
          <a:xfrm>
            <a:off x="-1828800" y="2743200"/>
            <a:ext cx="5029200" cy="5029200"/>
          </a:xfrm>
          <a:prstGeom prst="ellipse">
            <a:avLst/>
          </a:prstGeom>
          <a:solidFill>
            <a:srgbClr val="E6192E">
              <a:alpha val="28000"/>
            </a:srgbClr>
          </a:solidFill>
          <a:ln w="12700">
            <a:solidFill>
              <a:srgbClr val="E6192E">
                <a:alpha val="28000"/>
              </a:srgbClr>
            </a:solidFill>
            <a:prstDash val="solid"/>
          </a:ln>
        </p:spPr>
      </p:sp>
      <p:sp>
        <p:nvSpPr>
          <p:cNvPr id="4" name="Shape 2"/>
          <p:cNvSpPr/>
          <p:nvPr/>
        </p:nvSpPr>
        <p:spPr>
          <a:xfrm>
            <a:off x="0" y="4754880"/>
            <a:ext cx="9144000" cy="388620"/>
          </a:xfrm>
          <a:prstGeom prst="rect">
            <a:avLst/>
          </a:prstGeom>
          <a:solidFill>
            <a:srgbClr val="003399"/>
          </a:solidFill>
          <a:ln w="12700">
            <a:solidFill>
              <a:srgbClr val="003399"/>
            </a:solidFill>
            <a:prstDash val="solid"/>
          </a:ln>
        </p:spPr>
      </p:sp>
      <p:sp>
        <p:nvSpPr>
          <p:cNvPr id="5" name="Shape 3"/>
          <p:cNvSpPr/>
          <p:nvPr/>
        </p:nvSpPr>
        <p:spPr>
          <a:xfrm>
            <a:off x="457200" y="1417320"/>
            <a:ext cx="118872" cy="2423160"/>
          </a:xfrm>
          <a:prstGeom prst="rect">
            <a:avLst/>
          </a:prstGeom>
          <a:solidFill>
            <a:srgbClr val="D1FF00"/>
          </a:solidFill>
          <a:ln w="12700">
            <a:solidFill>
              <a:srgbClr val="D1FF00"/>
            </a:solidFill>
            <a:prstDash val="solid"/>
          </a:ln>
        </p:spPr>
      </p:sp>
      <p:sp>
        <p:nvSpPr>
          <p:cNvPr id="6" name="Text 4"/>
          <p:cNvSpPr/>
          <p:nvPr/>
        </p:nvSpPr>
        <p:spPr>
          <a:xfrm>
            <a:off x="731520" y="1325880"/>
            <a:ext cx="3657600" cy="347472"/>
          </a:xfrm>
          <a:prstGeom prst="rect">
            <a:avLst/>
          </a:prstGeom>
          <a:noFill/>
          <a:ln/>
        </p:spPr>
        <p:txBody>
          <a:bodyPr wrap="square" lIns="0" tIns="0" rIns="0" bIns="0" rtlCol="0" anchor="ctr"/>
          <a:lstStyle/>
          <a:p>
            <a:pPr algn="l" indent="0" marL="0">
              <a:buNone/>
            </a:pPr>
            <a:r>
              <a:rPr lang="en-US" sz="1100" b="1" dirty="0">
                <a:solidFill>
                  <a:srgbClr val="D1FF00"/>
                </a:solidFill>
                <a:latin typeface="Calibri" pitchFamily="34" charset="0"/>
                <a:ea typeface="Calibri" pitchFamily="34" charset="-122"/>
                <a:cs typeface="Calibri" pitchFamily="34" charset="-120"/>
              </a:rPr>
              <a:t>07 —</a:t>
            </a:r>
            <a:endParaRPr lang="en-US" sz="1100" dirty="0"/>
          </a:p>
        </p:txBody>
      </p:sp>
      <p:sp>
        <p:nvSpPr>
          <p:cNvPr id="7" name="Text 5"/>
          <p:cNvSpPr/>
          <p:nvPr/>
        </p:nvSpPr>
        <p:spPr>
          <a:xfrm>
            <a:off x="731520" y="1691640"/>
            <a:ext cx="7772400" cy="150876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Modelamiento</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de Datos</a:t>
            </a:r>
            <a:endParaRPr lang="en-US" sz="4000" dirty="0"/>
          </a:p>
        </p:txBody>
      </p:sp>
      <p:sp>
        <p:nvSpPr>
          <p:cNvPr id="8" name="Text 6"/>
          <p:cNvSpPr/>
          <p:nvPr/>
        </p:nvSpPr>
        <p:spPr>
          <a:xfrm>
            <a:off x="731520" y="3291840"/>
            <a:ext cx="7315200" cy="475488"/>
          </a:xfrm>
          <a:prstGeom prst="rect">
            <a:avLst/>
          </a:prstGeom>
          <a:noFill/>
          <a:ln/>
        </p:spPr>
        <p:txBody>
          <a:bodyPr wrap="square" lIns="0" tIns="0" rIns="0" bIns="0" rtlCol="0" anchor="ctr"/>
          <a:lstStyle/>
          <a:p>
            <a:pPr algn="l" indent="0" marL="0">
              <a:buNone/>
            </a:pPr>
            <a:r>
              <a:rPr lang="en-US" sz="1500" dirty="0">
                <a:solidFill>
                  <a:srgbClr val="D1FF00"/>
                </a:solidFill>
                <a:latin typeface="Calibri" pitchFamily="34" charset="0"/>
                <a:ea typeface="Calibri" pitchFamily="34" charset="-122"/>
                <a:cs typeface="Calibri" pitchFamily="34" charset="-120"/>
              </a:rPr>
              <a:t>Esquema relacional PostgreSQL — fuente de verdad del sistema</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Modelo de Datos — Tablas Principales</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Shape 3"/>
          <p:cNvSpPr/>
          <p:nvPr/>
        </p:nvSpPr>
        <p:spPr>
          <a:xfrm>
            <a:off x="347472" y="987552"/>
            <a:ext cx="1828800" cy="402336"/>
          </a:xfrm>
          <a:prstGeom prst="rect">
            <a:avLst/>
          </a:prstGeom>
          <a:solidFill>
            <a:srgbClr val="003399"/>
          </a:solidFill>
          <a:ln w="12700">
            <a:solidFill>
              <a:srgbClr val="003399"/>
            </a:solidFill>
            <a:prstDash val="solid"/>
          </a:ln>
        </p:spPr>
      </p:sp>
      <p:sp>
        <p:nvSpPr>
          <p:cNvPr id="6" name="Text 4"/>
          <p:cNvSpPr/>
          <p:nvPr/>
        </p:nvSpPr>
        <p:spPr>
          <a:xfrm>
            <a:off x="402336" y="987552"/>
            <a:ext cx="1719072" cy="40233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persona</a:t>
            </a:r>
            <a:endParaRPr lang="en-US" sz="1000" dirty="0"/>
          </a:p>
        </p:txBody>
      </p:sp>
      <p:sp>
        <p:nvSpPr>
          <p:cNvPr id="7" name="Shape 5"/>
          <p:cNvSpPr/>
          <p:nvPr/>
        </p:nvSpPr>
        <p:spPr>
          <a:xfrm>
            <a:off x="2176272" y="987552"/>
            <a:ext cx="6217920" cy="402336"/>
          </a:xfrm>
          <a:prstGeom prst="rect">
            <a:avLst/>
          </a:prstGeom>
          <a:solidFill>
            <a:srgbClr val="EEF2FF"/>
          </a:solidFill>
          <a:ln w="6350">
            <a:solidFill>
              <a:srgbClr val="CCCCCC"/>
            </a:solidFill>
            <a:prstDash val="solid"/>
          </a:ln>
        </p:spPr>
      </p:sp>
      <p:sp>
        <p:nvSpPr>
          <p:cNvPr id="8" name="Text 6"/>
          <p:cNvSpPr/>
          <p:nvPr/>
        </p:nvSpPr>
        <p:spPr>
          <a:xfrm>
            <a:off x="2267712" y="1024128"/>
            <a:ext cx="6035040" cy="329184"/>
          </a:xfrm>
          <a:prstGeom prst="rect">
            <a:avLst/>
          </a:prstGeom>
          <a:noFill/>
          <a:ln/>
        </p:spPr>
        <p:txBody>
          <a:bodyPr wrap="square" lIns="0" tIns="0" rIns="0" bIns="0" rtlCol="0" anchor="ctr"/>
          <a:lstStyle/>
          <a:p>
            <a:pPr algn="l" indent="0" marL="0">
              <a:buNone/>
            </a:pPr>
            <a:r>
              <a:rPr lang="en-US" sz="950" dirty="0">
                <a:solidFill>
                  <a:srgbClr val="1A1A1A"/>
                </a:solidFill>
                <a:latin typeface="Calibri" pitchFamily="34" charset="0"/>
                <a:ea typeface="Calibri" pitchFamily="34" charset="-122"/>
                <a:cs typeface="Calibri" pitchFamily="34" charset="-120"/>
              </a:rPr>
              <a:t>Perfil maestro del cliente. 40+ campos: financiero, gamificación, demográfico y digital. Fuente de las 49 features del modelo ML.</a:t>
            </a:r>
            <a:endParaRPr lang="en-US" sz="950" dirty="0"/>
          </a:p>
        </p:txBody>
      </p:sp>
      <p:sp>
        <p:nvSpPr>
          <p:cNvPr id="9" name="Shape 7"/>
          <p:cNvSpPr/>
          <p:nvPr/>
        </p:nvSpPr>
        <p:spPr>
          <a:xfrm>
            <a:off x="347472" y="1444752"/>
            <a:ext cx="1828800" cy="402336"/>
          </a:xfrm>
          <a:prstGeom prst="rect">
            <a:avLst/>
          </a:prstGeom>
          <a:solidFill>
            <a:srgbClr val="003399"/>
          </a:solidFill>
          <a:ln w="12700">
            <a:solidFill>
              <a:srgbClr val="003399"/>
            </a:solidFill>
            <a:prstDash val="solid"/>
          </a:ln>
        </p:spPr>
      </p:sp>
      <p:sp>
        <p:nvSpPr>
          <p:cNvPr id="10" name="Text 8"/>
          <p:cNvSpPr/>
          <p:nvPr/>
        </p:nvSpPr>
        <p:spPr>
          <a:xfrm>
            <a:off x="402336" y="1444752"/>
            <a:ext cx="1719072" cy="40233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perfil</a:t>
            </a:r>
            <a:endParaRPr lang="en-US" sz="1000" dirty="0"/>
          </a:p>
        </p:txBody>
      </p:sp>
      <p:sp>
        <p:nvSpPr>
          <p:cNvPr id="11" name="Shape 9"/>
          <p:cNvSpPr/>
          <p:nvPr/>
        </p:nvSpPr>
        <p:spPr>
          <a:xfrm>
            <a:off x="2176272" y="1444752"/>
            <a:ext cx="6217920" cy="402336"/>
          </a:xfrm>
          <a:prstGeom prst="rect">
            <a:avLst/>
          </a:prstGeom>
          <a:solidFill>
            <a:srgbClr val="FFFFFF"/>
          </a:solidFill>
          <a:ln w="6350">
            <a:solidFill>
              <a:srgbClr val="CCCCCC"/>
            </a:solidFill>
            <a:prstDash val="solid"/>
          </a:ln>
        </p:spPr>
      </p:sp>
      <p:sp>
        <p:nvSpPr>
          <p:cNvPr id="12" name="Text 10"/>
          <p:cNvSpPr/>
          <p:nvPr/>
        </p:nvSpPr>
        <p:spPr>
          <a:xfrm>
            <a:off x="2267712" y="1481328"/>
            <a:ext cx="6035040" cy="329184"/>
          </a:xfrm>
          <a:prstGeom prst="rect">
            <a:avLst/>
          </a:prstGeom>
          <a:noFill/>
          <a:ln/>
        </p:spPr>
        <p:txBody>
          <a:bodyPr wrap="square" lIns="0" tIns="0" rIns="0" bIns="0" rtlCol="0" anchor="ctr"/>
          <a:lstStyle/>
          <a:p>
            <a:pPr algn="l" indent="0" marL="0">
              <a:buNone/>
            </a:pPr>
            <a:r>
              <a:rPr lang="en-US" sz="950" dirty="0">
                <a:solidFill>
                  <a:srgbClr val="1A1A1A"/>
                </a:solidFill>
                <a:latin typeface="Calibri" pitchFamily="34" charset="0"/>
                <a:ea typeface="Calibri" pitchFamily="34" charset="-122"/>
                <a:cs typeface="Calibri" pitchFamily="34" charset="-120"/>
              </a:rPr>
              <a:t>Cuenta de gamificación (millas, puntos, liga activa). Vinculada 1:1 con persona.</a:t>
            </a:r>
            <a:endParaRPr lang="en-US" sz="950" dirty="0"/>
          </a:p>
        </p:txBody>
      </p:sp>
      <p:sp>
        <p:nvSpPr>
          <p:cNvPr id="13" name="Shape 11"/>
          <p:cNvSpPr/>
          <p:nvPr/>
        </p:nvSpPr>
        <p:spPr>
          <a:xfrm>
            <a:off x="347472" y="1901952"/>
            <a:ext cx="1828800" cy="402336"/>
          </a:xfrm>
          <a:prstGeom prst="rect">
            <a:avLst/>
          </a:prstGeom>
          <a:solidFill>
            <a:srgbClr val="6600FF"/>
          </a:solidFill>
          <a:ln w="12700">
            <a:solidFill>
              <a:srgbClr val="6600FF"/>
            </a:solidFill>
            <a:prstDash val="solid"/>
          </a:ln>
        </p:spPr>
      </p:sp>
      <p:sp>
        <p:nvSpPr>
          <p:cNvPr id="14" name="Text 12"/>
          <p:cNvSpPr/>
          <p:nvPr/>
        </p:nvSpPr>
        <p:spPr>
          <a:xfrm>
            <a:off x="402336" y="1901952"/>
            <a:ext cx="1719072" cy="40233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partido</a:t>
            </a:r>
            <a:endParaRPr lang="en-US" sz="1000" dirty="0"/>
          </a:p>
        </p:txBody>
      </p:sp>
      <p:sp>
        <p:nvSpPr>
          <p:cNvPr id="15" name="Shape 13"/>
          <p:cNvSpPr/>
          <p:nvPr/>
        </p:nvSpPr>
        <p:spPr>
          <a:xfrm>
            <a:off x="2176272" y="1901952"/>
            <a:ext cx="6217920" cy="402336"/>
          </a:xfrm>
          <a:prstGeom prst="rect">
            <a:avLst/>
          </a:prstGeom>
          <a:solidFill>
            <a:srgbClr val="EEF2FF"/>
          </a:solidFill>
          <a:ln w="6350">
            <a:solidFill>
              <a:srgbClr val="CCCCCC"/>
            </a:solidFill>
            <a:prstDash val="solid"/>
          </a:ln>
        </p:spPr>
      </p:sp>
      <p:sp>
        <p:nvSpPr>
          <p:cNvPr id="16" name="Text 14"/>
          <p:cNvSpPr/>
          <p:nvPr/>
        </p:nvSpPr>
        <p:spPr>
          <a:xfrm>
            <a:off x="2267712" y="1938528"/>
            <a:ext cx="6035040" cy="329184"/>
          </a:xfrm>
          <a:prstGeom prst="rect">
            <a:avLst/>
          </a:prstGeom>
          <a:noFill/>
          <a:ln/>
        </p:spPr>
        <p:txBody>
          <a:bodyPr wrap="square" lIns="0" tIns="0" rIns="0" bIns="0" rtlCol="0" anchor="ctr"/>
          <a:lstStyle/>
          <a:p>
            <a:pPr algn="l" indent="0" marL="0">
              <a:buNone/>
            </a:pPr>
            <a:r>
              <a:rPr lang="en-US" sz="950" dirty="0">
                <a:solidFill>
                  <a:srgbClr val="1A1A1A"/>
                </a:solidFill>
                <a:latin typeface="Calibri" pitchFamily="34" charset="0"/>
                <a:ea typeface="Calibri" pitchFamily="34" charset="-122"/>
                <a:cs typeface="Calibri" pitchFamily="34" charset="-120"/>
              </a:rPr>
              <a:t>Registro de partidos del Mundial con países, temporada y resultado oficial.</a:t>
            </a:r>
            <a:endParaRPr lang="en-US" sz="950" dirty="0"/>
          </a:p>
        </p:txBody>
      </p:sp>
      <p:sp>
        <p:nvSpPr>
          <p:cNvPr id="17" name="Shape 15"/>
          <p:cNvSpPr/>
          <p:nvPr/>
        </p:nvSpPr>
        <p:spPr>
          <a:xfrm>
            <a:off x="347472" y="2359152"/>
            <a:ext cx="1828800" cy="402336"/>
          </a:xfrm>
          <a:prstGeom prst="rect">
            <a:avLst/>
          </a:prstGeom>
          <a:solidFill>
            <a:srgbClr val="6600FF"/>
          </a:solidFill>
          <a:ln w="12700">
            <a:solidFill>
              <a:srgbClr val="6600FF"/>
            </a:solidFill>
            <a:prstDash val="solid"/>
          </a:ln>
        </p:spPr>
      </p:sp>
      <p:sp>
        <p:nvSpPr>
          <p:cNvPr id="18" name="Text 16"/>
          <p:cNvSpPr/>
          <p:nvPr/>
        </p:nvSpPr>
        <p:spPr>
          <a:xfrm>
            <a:off x="402336" y="2359152"/>
            <a:ext cx="1719072" cy="40233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pronosticos</a:t>
            </a:r>
            <a:endParaRPr lang="en-US" sz="1000" dirty="0"/>
          </a:p>
        </p:txBody>
      </p:sp>
      <p:sp>
        <p:nvSpPr>
          <p:cNvPr id="19" name="Shape 17"/>
          <p:cNvSpPr/>
          <p:nvPr/>
        </p:nvSpPr>
        <p:spPr>
          <a:xfrm>
            <a:off x="2176272" y="2359152"/>
            <a:ext cx="6217920" cy="402336"/>
          </a:xfrm>
          <a:prstGeom prst="rect">
            <a:avLst/>
          </a:prstGeom>
          <a:solidFill>
            <a:srgbClr val="FFFFFF"/>
          </a:solidFill>
          <a:ln w="6350">
            <a:solidFill>
              <a:srgbClr val="CCCCCC"/>
            </a:solidFill>
            <a:prstDash val="solid"/>
          </a:ln>
        </p:spPr>
      </p:sp>
      <p:sp>
        <p:nvSpPr>
          <p:cNvPr id="20" name="Text 18"/>
          <p:cNvSpPr/>
          <p:nvPr/>
        </p:nvSpPr>
        <p:spPr>
          <a:xfrm>
            <a:off x="2267712" y="2395728"/>
            <a:ext cx="6035040" cy="329184"/>
          </a:xfrm>
          <a:prstGeom prst="rect">
            <a:avLst/>
          </a:prstGeom>
          <a:noFill/>
          <a:ln/>
        </p:spPr>
        <p:txBody>
          <a:bodyPr wrap="square" lIns="0" tIns="0" rIns="0" bIns="0" rtlCol="0" anchor="ctr"/>
          <a:lstStyle/>
          <a:p>
            <a:pPr algn="l" indent="0" marL="0">
              <a:buNone/>
            </a:pPr>
            <a:r>
              <a:rPr lang="en-US" sz="950" dirty="0">
                <a:solidFill>
                  <a:srgbClr val="1A1A1A"/>
                </a:solidFill>
                <a:latin typeface="Calibri" pitchFamily="34" charset="0"/>
                <a:ea typeface="Calibri" pitchFamily="34" charset="-122"/>
                <a:cs typeface="Calibri" pitchFamily="34" charset="-120"/>
              </a:rPr>
              <a:t>Predicciones del usuario sobre partidos. Registra acierto (es_correcto) y mAiles ganados.</a:t>
            </a:r>
            <a:endParaRPr lang="en-US" sz="950" dirty="0"/>
          </a:p>
        </p:txBody>
      </p:sp>
      <p:sp>
        <p:nvSpPr>
          <p:cNvPr id="21" name="Shape 19"/>
          <p:cNvSpPr/>
          <p:nvPr/>
        </p:nvSpPr>
        <p:spPr>
          <a:xfrm>
            <a:off x="347472" y="2816352"/>
            <a:ext cx="1828800" cy="402336"/>
          </a:xfrm>
          <a:prstGeom prst="rect">
            <a:avLst/>
          </a:prstGeom>
          <a:solidFill>
            <a:srgbClr val="E6192E"/>
          </a:solidFill>
          <a:ln w="12700">
            <a:solidFill>
              <a:srgbClr val="E6192E"/>
            </a:solidFill>
            <a:prstDash val="solid"/>
          </a:ln>
        </p:spPr>
      </p:sp>
      <p:sp>
        <p:nvSpPr>
          <p:cNvPr id="22" name="Text 20"/>
          <p:cNvSpPr/>
          <p:nvPr/>
        </p:nvSpPr>
        <p:spPr>
          <a:xfrm>
            <a:off x="402336" y="2816352"/>
            <a:ext cx="1719072" cy="40233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cromos</a:t>
            </a:r>
            <a:endParaRPr lang="en-US" sz="1000" dirty="0"/>
          </a:p>
        </p:txBody>
      </p:sp>
      <p:sp>
        <p:nvSpPr>
          <p:cNvPr id="23" name="Shape 21"/>
          <p:cNvSpPr/>
          <p:nvPr/>
        </p:nvSpPr>
        <p:spPr>
          <a:xfrm>
            <a:off x="2176272" y="2816352"/>
            <a:ext cx="6217920" cy="402336"/>
          </a:xfrm>
          <a:prstGeom prst="rect">
            <a:avLst/>
          </a:prstGeom>
          <a:solidFill>
            <a:srgbClr val="EEF2FF"/>
          </a:solidFill>
          <a:ln w="6350">
            <a:solidFill>
              <a:srgbClr val="CCCCCC"/>
            </a:solidFill>
            <a:prstDash val="solid"/>
          </a:ln>
        </p:spPr>
      </p:sp>
      <p:sp>
        <p:nvSpPr>
          <p:cNvPr id="24" name="Text 22"/>
          <p:cNvSpPr/>
          <p:nvPr/>
        </p:nvSpPr>
        <p:spPr>
          <a:xfrm>
            <a:off x="2267712" y="2852928"/>
            <a:ext cx="6035040" cy="329184"/>
          </a:xfrm>
          <a:prstGeom prst="rect">
            <a:avLst/>
          </a:prstGeom>
          <a:noFill/>
          <a:ln/>
        </p:spPr>
        <p:txBody>
          <a:bodyPr wrap="square" lIns="0" tIns="0" rIns="0" bIns="0" rtlCol="0" anchor="ctr"/>
          <a:lstStyle/>
          <a:p>
            <a:pPr algn="l" indent="0" marL="0">
              <a:buNone/>
            </a:pPr>
            <a:r>
              <a:rPr lang="en-US" sz="950" dirty="0">
                <a:solidFill>
                  <a:srgbClr val="1A1A1A"/>
                </a:solidFill>
                <a:latin typeface="Calibri" pitchFamily="34" charset="0"/>
                <a:ea typeface="Calibri" pitchFamily="34" charset="-122"/>
                <a:cs typeface="Calibri" pitchFamily="34" charset="-120"/>
              </a:rPr>
              <a:t>Catálogo de cromos coleccionables. Rareza: común · raro · épico. Asociados a países.</a:t>
            </a:r>
            <a:endParaRPr lang="en-US" sz="950" dirty="0"/>
          </a:p>
        </p:txBody>
      </p:sp>
      <p:sp>
        <p:nvSpPr>
          <p:cNvPr id="25" name="Shape 23"/>
          <p:cNvSpPr/>
          <p:nvPr/>
        </p:nvSpPr>
        <p:spPr>
          <a:xfrm>
            <a:off x="8540496" y="987552"/>
            <a:ext cx="1828800" cy="402336"/>
          </a:xfrm>
          <a:prstGeom prst="rect">
            <a:avLst/>
          </a:prstGeom>
          <a:solidFill>
            <a:srgbClr val="E6192E"/>
          </a:solidFill>
          <a:ln w="12700">
            <a:solidFill>
              <a:srgbClr val="E6192E"/>
            </a:solidFill>
            <a:prstDash val="solid"/>
          </a:ln>
        </p:spPr>
      </p:sp>
      <p:sp>
        <p:nvSpPr>
          <p:cNvPr id="26" name="Text 24"/>
          <p:cNvSpPr/>
          <p:nvPr/>
        </p:nvSpPr>
        <p:spPr>
          <a:xfrm>
            <a:off x="8595360" y="987552"/>
            <a:ext cx="1719072" cy="40233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consumo</a:t>
            </a:r>
            <a:endParaRPr lang="en-US" sz="1000" dirty="0"/>
          </a:p>
        </p:txBody>
      </p:sp>
      <p:sp>
        <p:nvSpPr>
          <p:cNvPr id="27" name="Shape 25"/>
          <p:cNvSpPr/>
          <p:nvPr/>
        </p:nvSpPr>
        <p:spPr>
          <a:xfrm>
            <a:off x="10369296" y="987552"/>
            <a:ext cx="6217920" cy="402336"/>
          </a:xfrm>
          <a:prstGeom prst="rect">
            <a:avLst/>
          </a:prstGeom>
          <a:solidFill>
            <a:srgbClr val="FFFFFF"/>
          </a:solidFill>
          <a:ln w="6350">
            <a:solidFill>
              <a:srgbClr val="CCCCCC"/>
            </a:solidFill>
            <a:prstDash val="solid"/>
          </a:ln>
        </p:spPr>
      </p:sp>
      <p:sp>
        <p:nvSpPr>
          <p:cNvPr id="28" name="Text 26"/>
          <p:cNvSpPr/>
          <p:nvPr/>
        </p:nvSpPr>
        <p:spPr>
          <a:xfrm>
            <a:off x="10460736" y="1024128"/>
            <a:ext cx="6035040" cy="329184"/>
          </a:xfrm>
          <a:prstGeom prst="rect">
            <a:avLst/>
          </a:prstGeom>
          <a:noFill/>
          <a:ln/>
        </p:spPr>
        <p:txBody>
          <a:bodyPr wrap="square" lIns="0" tIns="0" rIns="0" bIns="0" rtlCol="0" anchor="ctr"/>
          <a:lstStyle/>
          <a:p>
            <a:pPr algn="l" indent="0" marL="0">
              <a:buNone/>
            </a:pPr>
            <a:r>
              <a:rPr lang="en-US" sz="950" dirty="0">
                <a:solidFill>
                  <a:srgbClr val="1A1A1A"/>
                </a:solidFill>
                <a:latin typeface="Calibri" pitchFamily="34" charset="0"/>
                <a:ea typeface="Calibri" pitchFamily="34" charset="-122"/>
                <a:cs typeface="Calibri" pitchFamily="34" charset="-120"/>
              </a:rPr>
              <a:t>Transacciones bancarias del usuario. Base para calcular porcentajes de gasto por categoría.</a:t>
            </a:r>
            <a:endParaRPr lang="en-US" sz="950" dirty="0"/>
          </a:p>
        </p:txBody>
      </p:sp>
      <p:sp>
        <p:nvSpPr>
          <p:cNvPr id="29" name="Shape 27"/>
          <p:cNvSpPr/>
          <p:nvPr/>
        </p:nvSpPr>
        <p:spPr>
          <a:xfrm>
            <a:off x="8540496" y="1444752"/>
            <a:ext cx="1828800" cy="402336"/>
          </a:xfrm>
          <a:prstGeom prst="rect">
            <a:avLst/>
          </a:prstGeom>
          <a:solidFill>
            <a:srgbClr val="1A7A4A"/>
          </a:solidFill>
          <a:ln w="12700">
            <a:solidFill>
              <a:srgbClr val="1A7A4A"/>
            </a:solidFill>
            <a:prstDash val="solid"/>
          </a:ln>
        </p:spPr>
      </p:sp>
      <p:sp>
        <p:nvSpPr>
          <p:cNvPr id="30" name="Text 28"/>
          <p:cNvSpPr/>
          <p:nvPr/>
        </p:nvSpPr>
        <p:spPr>
          <a:xfrm>
            <a:off x="8595360" y="1444752"/>
            <a:ext cx="1719072" cy="40233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liga</a:t>
            </a:r>
            <a:endParaRPr lang="en-US" sz="1000" dirty="0"/>
          </a:p>
        </p:txBody>
      </p:sp>
      <p:sp>
        <p:nvSpPr>
          <p:cNvPr id="31" name="Shape 29"/>
          <p:cNvSpPr/>
          <p:nvPr/>
        </p:nvSpPr>
        <p:spPr>
          <a:xfrm>
            <a:off x="10369296" y="1444752"/>
            <a:ext cx="6217920" cy="402336"/>
          </a:xfrm>
          <a:prstGeom prst="rect">
            <a:avLst/>
          </a:prstGeom>
          <a:solidFill>
            <a:srgbClr val="EEF2FF"/>
          </a:solidFill>
          <a:ln w="6350">
            <a:solidFill>
              <a:srgbClr val="CCCCCC"/>
            </a:solidFill>
            <a:prstDash val="solid"/>
          </a:ln>
        </p:spPr>
      </p:sp>
      <p:sp>
        <p:nvSpPr>
          <p:cNvPr id="32" name="Text 30"/>
          <p:cNvSpPr/>
          <p:nvPr/>
        </p:nvSpPr>
        <p:spPr>
          <a:xfrm>
            <a:off x="10460736" y="1481328"/>
            <a:ext cx="6035040" cy="329184"/>
          </a:xfrm>
          <a:prstGeom prst="rect">
            <a:avLst/>
          </a:prstGeom>
          <a:noFill/>
          <a:ln/>
        </p:spPr>
        <p:txBody>
          <a:bodyPr wrap="square" lIns="0" tIns="0" rIns="0" bIns="0" rtlCol="0" anchor="ctr"/>
          <a:lstStyle/>
          <a:p>
            <a:pPr algn="l" indent="0" marL="0">
              <a:buNone/>
            </a:pPr>
            <a:r>
              <a:rPr lang="en-US" sz="950" dirty="0">
                <a:solidFill>
                  <a:srgbClr val="1A1A1A"/>
                </a:solidFill>
                <a:latin typeface="Calibri" pitchFamily="34" charset="0"/>
                <a:ea typeface="Calibri" pitchFamily="34" charset="-122"/>
                <a:cs typeface="Calibri" pitchFamily="34" charset="-120"/>
              </a:rPr>
              <a:t>Cuatro niveles de fidelidad: Bronce · Plata · Oro · Diamante. Define rangos de puntos.</a:t>
            </a:r>
            <a:endParaRPr lang="en-US" sz="950" dirty="0"/>
          </a:p>
        </p:txBody>
      </p:sp>
      <p:sp>
        <p:nvSpPr>
          <p:cNvPr id="33" name="Shape 31"/>
          <p:cNvSpPr/>
          <p:nvPr/>
        </p:nvSpPr>
        <p:spPr>
          <a:xfrm>
            <a:off x="8540496" y="1901952"/>
            <a:ext cx="1828800" cy="402336"/>
          </a:xfrm>
          <a:prstGeom prst="rect">
            <a:avLst/>
          </a:prstGeom>
          <a:solidFill>
            <a:srgbClr val="1A7A4A"/>
          </a:solidFill>
          <a:ln w="12700">
            <a:solidFill>
              <a:srgbClr val="1A7A4A"/>
            </a:solidFill>
            <a:prstDash val="solid"/>
          </a:ln>
        </p:spPr>
      </p:sp>
      <p:sp>
        <p:nvSpPr>
          <p:cNvPr id="34" name="Text 32"/>
          <p:cNvSpPr/>
          <p:nvPr/>
        </p:nvSpPr>
        <p:spPr>
          <a:xfrm>
            <a:off x="8595360" y="1901952"/>
            <a:ext cx="1719072" cy="40233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premios</a:t>
            </a:r>
            <a:endParaRPr lang="en-US" sz="1000" dirty="0"/>
          </a:p>
        </p:txBody>
      </p:sp>
      <p:sp>
        <p:nvSpPr>
          <p:cNvPr id="35" name="Shape 33"/>
          <p:cNvSpPr/>
          <p:nvPr/>
        </p:nvSpPr>
        <p:spPr>
          <a:xfrm>
            <a:off x="10369296" y="1901952"/>
            <a:ext cx="6217920" cy="402336"/>
          </a:xfrm>
          <a:prstGeom prst="rect">
            <a:avLst/>
          </a:prstGeom>
          <a:solidFill>
            <a:srgbClr val="FFFFFF"/>
          </a:solidFill>
          <a:ln w="6350">
            <a:solidFill>
              <a:srgbClr val="CCCCCC"/>
            </a:solidFill>
            <a:prstDash val="solid"/>
          </a:ln>
        </p:spPr>
      </p:sp>
      <p:sp>
        <p:nvSpPr>
          <p:cNvPr id="36" name="Text 34"/>
          <p:cNvSpPr/>
          <p:nvPr/>
        </p:nvSpPr>
        <p:spPr>
          <a:xfrm>
            <a:off x="10460736" y="1938528"/>
            <a:ext cx="6035040" cy="329184"/>
          </a:xfrm>
          <a:prstGeom prst="rect">
            <a:avLst/>
          </a:prstGeom>
          <a:noFill/>
          <a:ln/>
        </p:spPr>
        <p:txBody>
          <a:bodyPr wrap="square" lIns="0" tIns="0" rIns="0" bIns="0" rtlCol="0" anchor="ctr"/>
          <a:lstStyle/>
          <a:p>
            <a:pPr algn="l" indent="0" marL="0">
              <a:buNone/>
            </a:pPr>
            <a:r>
              <a:rPr lang="en-US" sz="950" dirty="0">
                <a:solidFill>
                  <a:srgbClr val="1A1A1A"/>
                </a:solidFill>
                <a:latin typeface="Calibri" pitchFamily="34" charset="0"/>
                <a:ea typeface="Calibri" pitchFamily="34" charset="-122"/>
                <a:cs typeface="Calibri" pitchFamily="34" charset="-120"/>
              </a:rPr>
              <a:t>Premios otorgados a cada usuario con referencia a la liga activa al momento de la entrega.</a:t>
            </a:r>
            <a:endParaRPr lang="en-US" sz="950" dirty="0"/>
          </a:p>
        </p:txBody>
      </p:sp>
      <p:sp>
        <p:nvSpPr>
          <p:cNvPr id="37" name="Shape 35"/>
          <p:cNvSpPr/>
          <p:nvPr/>
        </p:nvSpPr>
        <p:spPr>
          <a:xfrm>
            <a:off x="8540496" y="2359152"/>
            <a:ext cx="1828800" cy="402336"/>
          </a:xfrm>
          <a:prstGeom prst="rect">
            <a:avLst/>
          </a:prstGeom>
          <a:solidFill>
            <a:srgbClr val="885500"/>
          </a:solidFill>
          <a:ln w="12700">
            <a:solidFill>
              <a:srgbClr val="885500"/>
            </a:solidFill>
            <a:prstDash val="solid"/>
          </a:ln>
        </p:spPr>
      </p:sp>
      <p:sp>
        <p:nvSpPr>
          <p:cNvPr id="38" name="Text 36"/>
          <p:cNvSpPr/>
          <p:nvPr/>
        </p:nvSpPr>
        <p:spPr>
          <a:xfrm>
            <a:off x="8595360" y="2359152"/>
            <a:ext cx="1719072" cy="40233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grupo</a:t>
            </a:r>
            <a:endParaRPr lang="en-US" sz="1000" dirty="0"/>
          </a:p>
        </p:txBody>
      </p:sp>
      <p:sp>
        <p:nvSpPr>
          <p:cNvPr id="39" name="Shape 37"/>
          <p:cNvSpPr/>
          <p:nvPr/>
        </p:nvSpPr>
        <p:spPr>
          <a:xfrm>
            <a:off x="10369296" y="2359152"/>
            <a:ext cx="6217920" cy="402336"/>
          </a:xfrm>
          <a:prstGeom prst="rect">
            <a:avLst/>
          </a:prstGeom>
          <a:solidFill>
            <a:srgbClr val="EEF2FF"/>
          </a:solidFill>
          <a:ln w="6350">
            <a:solidFill>
              <a:srgbClr val="CCCCCC"/>
            </a:solidFill>
            <a:prstDash val="solid"/>
          </a:ln>
        </p:spPr>
      </p:sp>
      <p:sp>
        <p:nvSpPr>
          <p:cNvPr id="40" name="Text 38"/>
          <p:cNvSpPr/>
          <p:nvPr/>
        </p:nvSpPr>
        <p:spPr>
          <a:xfrm>
            <a:off x="10460736" y="2395728"/>
            <a:ext cx="6035040" cy="329184"/>
          </a:xfrm>
          <a:prstGeom prst="rect">
            <a:avLst/>
          </a:prstGeom>
          <a:noFill/>
          <a:ln/>
        </p:spPr>
        <p:txBody>
          <a:bodyPr wrap="square" lIns="0" tIns="0" rIns="0" bIns="0" rtlCol="0" anchor="ctr"/>
          <a:lstStyle/>
          <a:p>
            <a:pPr algn="l" indent="0" marL="0">
              <a:buNone/>
            </a:pPr>
            <a:r>
              <a:rPr lang="en-US" sz="950" dirty="0">
                <a:solidFill>
                  <a:srgbClr val="1A1A1A"/>
                </a:solidFill>
                <a:latin typeface="Calibri" pitchFamily="34" charset="0"/>
                <a:ea typeface="Calibri" pitchFamily="34" charset="-122"/>
                <a:cs typeface="Calibri" pitchFamily="34" charset="-120"/>
              </a:rPr>
              <a:t>Grupos de predicción colaborativa. Registra creador y miembros del grupo.</a:t>
            </a:r>
            <a:endParaRPr lang="en-US" sz="950" dirty="0"/>
          </a:p>
        </p:txBody>
      </p:sp>
      <p:sp>
        <p:nvSpPr>
          <p:cNvPr id="41" name="Shape 39"/>
          <p:cNvSpPr/>
          <p:nvPr/>
        </p:nvSpPr>
        <p:spPr>
          <a:xfrm>
            <a:off x="8540496" y="2816352"/>
            <a:ext cx="1828800" cy="402336"/>
          </a:xfrm>
          <a:prstGeom prst="rect">
            <a:avLst/>
          </a:prstGeom>
          <a:solidFill>
            <a:srgbClr val="885500"/>
          </a:solidFill>
          <a:ln w="12700">
            <a:solidFill>
              <a:srgbClr val="885500"/>
            </a:solidFill>
            <a:prstDash val="solid"/>
          </a:ln>
        </p:spPr>
      </p:sp>
      <p:sp>
        <p:nvSpPr>
          <p:cNvPr id="42" name="Text 40"/>
          <p:cNvSpPr/>
          <p:nvPr/>
        </p:nvSpPr>
        <p:spPr>
          <a:xfrm>
            <a:off x="8595360" y="2816352"/>
            <a:ext cx="1719072" cy="40233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temporada</a:t>
            </a:r>
            <a:endParaRPr lang="en-US" sz="1000" dirty="0"/>
          </a:p>
        </p:txBody>
      </p:sp>
      <p:sp>
        <p:nvSpPr>
          <p:cNvPr id="43" name="Shape 41"/>
          <p:cNvSpPr/>
          <p:nvPr/>
        </p:nvSpPr>
        <p:spPr>
          <a:xfrm>
            <a:off x="10369296" y="2816352"/>
            <a:ext cx="6217920" cy="402336"/>
          </a:xfrm>
          <a:prstGeom prst="rect">
            <a:avLst/>
          </a:prstGeom>
          <a:solidFill>
            <a:srgbClr val="FFFFFF"/>
          </a:solidFill>
          <a:ln w="6350">
            <a:solidFill>
              <a:srgbClr val="CCCCCC"/>
            </a:solidFill>
            <a:prstDash val="solid"/>
          </a:ln>
        </p:spPr>
      </p:sp>
      <p:sp>
        <p:nvSpPr>
          <p:cNvPr id="44" name="Text 42"/>
          <p:cNvSpPr/>
          <p:nvPr/>
        </p:nvSpPr>
        <p:spPr>
          <a:xfrm>
            <a:off x="10460736" y="2852928"/>
            <a:ext cx="6035040" cy="329184"/>
          </a:xfrm>
          <a:prstGeom prst="rect">
            <a:avLst/>
          </a:prstGeom>
          <a:noFill/>
          <a:ln/>
        </p:spPr>
        <p:txBody>
          <a:bodyPr wrap="square" lIns="0" tIns="0" rIns="0" bIns="0" rtlCol="0" anchor="ctr"/>
          <a:lstStyle/>
          <a:p>
            <a:pPr algn="l" indent="0" marL="0">
              <a:buNone/>
            </a:pPr>
            <a:r>
              <a:rPr lang="en-US" sz="950" dirty="0">
                <a:solidFill>
                  <a:srgbClr val="1A1A1A"/>
                </a:solidFill>
                <a:latin typeface="Calibri" pitchFamily="34" charset="0"/>
                <a:ea typeface="Calibri" pitchFamily="34" charset="-122"/>
                <a:cs typeface="Calibri" pitchFamily="34" charset="-120"/>
              </a:rPr>
              <a:t>Período activo del torneo (fecha_inicio, fecha_fin). Partidos y pronósticos vinculados.</a:t>
            </a:r>
            <a:endParaRPr lang="en-US" sz="950" dirty="0"/>
          </a:p>
        </p:txBody>
      </p:sp>
      <p:sp>
        <p:nvSpPr>
          <p:cNvPr id="45" name="Shape 43"/>
          <p:cNvSpPr/>
          <p:nvPr/>
        </p:nvSpPr>
        <p:spPr>
          <a:xfrm>
            <a:off x="347472" y="4462272"/>
            <a:ext cx="8430768" cy="347472"/>
          </a:xfrm>
          <a:prstGeom prst="rect">
            <a:avLst/>
          </a:prstGeom>
          <a:solidFill>
            <a:srgbClr val="F0FFB8"/>
          </a:solidFill>
          <a:ln w="15240">
            <a:solidFill>
              <a:srgbClr val="D1FF00"/>
            </a:solidFill>
            <a:prstDash val="solid"/>
          </a:ln>
        </p:spPr>
      </p:sp>
      <p:sp>
        <p:nvSpPr>
          <p:cNvPr id="46" name="Text 44"/>
          <p:cNvSpPr/>
          <p:nvPr/>
        </p:nvSpPr>
        <p:spPr>
          <a:xfrm>
            <a:off x="347472" y="4462272"/>
            <a:ext cx="8430768" cy="347472"/>
          </a:xfrm>
          <a:prstGeom prst="rect">
            <a:avLst/>
          </a:prstGeom>
          <a:noFill/>
          <a:ln/>
        </p:spPr>
        <p:txBody>
          <a:bodyPr wrap="square" lIns="0" tIns="0" rIns="0" bIns="0" rtlCol="0" anchor="ctr"/>
          <a:lstStyle/>
          <a:p>
            <a:pPr algn="ctr" indent="0" marL="0">
              <a:buNone/>
            </a:pPr>
            <a:r>
              <a:rPr lang="en-US" sz="950" dirty="0">
                <a:solidFill>
                  <a:srgbClr val="1A1A1A"/>
                </a:solidFill>
                <a:latin typeface="Calibri" pitchFamily="34" charset="0"/>
                <a:ea typeface="Calibri" pitchFamily="34" charset="-122"/>
                <a:cs typeface="Calibri" pitchFamily="34" charset="-120"/>
              </a:rPr>
              <a:t>persona → perfil (1:1) · perfil → pronosticos → partido · perfil → cromosperfil → cromos · perfil → perfilesliga → liga</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6600FF"/>
        </a:solidFill>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003399">
              <a:alpha val="40000"/>
            </a:srgbClr>
          </a:solidFill>
          <a:ln w="12700">
            <a:solidFill>
              <a:srgbClr val="003399">
                <a:alpha val="40000"/>
              </a:srgbClr>
            </a:solidFill>
            <a:prstDash val="solid"/>
          </a:ln>
        </p:spPr>
      </p:sp>
      <p:sp>
        <p:nvSpPr>
          <p:cNvPr id="3" name="Shape 1"/>
          <p:cNvSpPr/>
          <p:nvPr/>
        </p:nvSpPr>
        <p:spPr>
          <a:xfrm>
            <a:off x="-1828800" y="2743200"/>
            <a:ext cx="5029200" cy="5029200"/>
          </a:xfrm>
          <a:prstGeom prst="ellipse">
            <a:avLst/>
          </a:prstGeom>
          <a:solidFill>
            <a:srgbClr val="E6192E">
              <a:alpha val="28000"/>
            </a:srgbClr>
          </a:solidFill>
          <a:ln w="12700">
            <a:solidFill>
              <a:srgbClr val="E6192E">
                <a:alpha val="28000"/>
              </a:srgbClr>
            </a:solidFill>
            <a:prstDash val="solid"/>
          </a:ln>
        </p:spPr>
      </p:sp>
      <p:sp>
        <p:nvSpPr>
          <p:cNvPr id="4" name="Shape 2"/>
          <p:cNvSpPr/>
          <p:nvPr/>
        </p:nvSpPr>
        <p:spPr>
          <a:xfrm>
            <a:off x="0" y="4754880"/>
            <a:ext cx="9144000" cy="388620"/>
          </a:xfrm>
          <a:prstGeom prst="rect">
            <a:avLst/>
          </a:prstGeom>
          <a:solidFill>
            <a:srgbClr val="003399"/>
          </a:solidFill>
          <a:ln w="12700">
            <a:solidFill>
              <a:srgbClr val="003399"/>
            </a:solidFill>
            <a:prstDash val="solid"/>
          </a:ln>
        </p:spPr>
      </p:sp>
      <p:sp>
        <p:nvSpPr>
          <p:cNvPr id="5" name="Shape 3"/>
          <p:cNvSpPr/>
          <p:nvPr/>
        </p:nvSpPr>
        <p:spPr>
          <a:xfrm>
            <a:off x="457200" y="1417320"/>
            <a:ext cx="118872" cy="2423160"/>
          </a:xfrm>
          <a:prstGeom prst="rect">
            <a:avLst/>
          </a:prstGeom>
          <a:solidFill>
            <a:srgbClr val="D1FF00"/>
          </a:solidFill>
          <a:ln w="12700">
            <a:solidFill>
              <a:srgbClr val="D1FF00"/>
            </a:solidFill>
            <a:prstDash val="solid"/>
          </a:ln>
        </p:spPr>
      </p:sp>
      <p:sp>
        <p:nvSpPr>
          <p:cNvPr id="6" name="Text 4"/>
          <p:cNvSpPr/>
          <p:nvPr/>
        </p:nvSpPr>
        <p:spPr>
          <a:xfrm>
            <a:off x="731520" y="1325880"/>
            <a:ext cx="3657600" cy="347472"/>
          </a:xfrm>
          <a:prstGeom prst="rect">
            <a:avLst/>
          </a:prstGeom>
          <a:noFill/>
          <a:ln/>
        </p:spPr>
        <p:txBody>
          <a:bodyPr wrap="square" lIns="0" tIns="0" rIns="0" bIns="0" rtlCol="0" anchor="ctr"/>
          <a:lstStyle/>
          <a:p>
            <a:pPr algn="l" indent="0" marL="0">
              <a:buNone/>
            </a:pPr>
            <a:r>
              <a:rPr lang="en-US" sz="1100" b="1" dirty="0">
                <a:solidFill>
                  <a:srgbClr val="D1FF00"/>
                </a:solidFill>
                <a:latin typeface="Calibri" pitchFamily="34" charset="0"/>
                <a:ea typeface="Calibri" pitchFamily="34" charset="-122"/>
                <a:cs typeface="Calibri" pitchFamily="34" charset="-120"/>
              </a:rPr>
              <a:t>08 —</a:t>
            </a:r>
            <a:endParaRPr lang="en-US" sz="1100" dirty="0"/>
          </a:p>
        </p:txBody>
      </p:sp>
      <p:sp>
        <p:nvSpPr>
          <p:cNvPr id="7" name="Text 5"/>
          <p:cNvSpPr/>
          <p:nvPr/>
        </p:nvSpPr>
        <p:spPr>
          <a:xfrm>
            <a:off x="731520" y="1691640"/>
            <a:ext cx="7772400" cy="150876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Generación y</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Procesamiento de Datos</a:t>
            </a:r>
            <a:endParaRPr lang="en-US" sz="4000" dirty="0"/>
          </a:p>
        </p:txBody>
      </p:sp>
      <p:sp>
        <p:nvSpPr>
          <p:cNvPr id="8" name="Text 6"/>
          <p:cNvSpPr/>
          <p:nvPr/>
        </p:nvSpPr>
        <p:spPr>
          <a:xfrm>
            <a:off x="731520" y="3291840"/>
            <a:ext cx="7315200" cy="475488"/>
          </a:xfrm>
          <a:prstGeom prst="rect">
            <a:avLst/>
          </a:prstGeom>
          <a:noFill/>
          <a:ln/>
        </p:spPr>
        <p:txBody>
          <a:bodyPr wrap="square" lIns="0" tIns="0" rIns="0" bIns="0" rtlCol="0" anchor="ctr"/>
          <a:lstStyle/>
          <a:p>
            <a:pPr algn="l" indent="0" marL="0">
              <a:buNone/>
            </a:pPr>
            <a:r>
              <a:rPr lang="en-US" sz="1500" dirty="0">
                <a:solidFill>
                  <a:srgbClr val="D1FF00"/>
                </a:solidFill>
                <a:latin typeface="Calibri" pitchFamily="34" charset="0"/>
                <a:ea typeface="Calibri" pitchFamily="34" charset="-122"/>
                <a:cs typeface="Calibri" pitchFamily="34" charset="-120"/>
              </a:rPr>
              <a:t>Dataset sintético · Pipeline de entrenamiento · Inferencia en tiempo real</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Pipeline ML — Fase Offline y Fase Online</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Shape 3"/>
          <p:cNvSpPr/>
          <p:nvPr/>
        </p:nvSpPr>
        <p:spPr>
          <a:xfrm>
            <a:off x="347472" y="960120"/>
            <a:ext cx="8430768" cy="274320"/>
          </a:xfrm>
          <a:prstGeom prst="rect">
            <a:avLst/>
          </a:prstGeom>
          <a:solidFill>
            <a:srgbClr val="1A1A1A"/>
          </a:solidFill>
          <a:ln w="12700">
            <a:solidFill>
              <a:srgbClr val="1A1A1A"/>
            </a:solidFill>
            <a:prstDash val="solid"/>
          </a:ln>
        </p:spPr>
      </p:sp>
      <p:sp>
        <p:nvSpPr>
          <p:cNvPr id="6" name="Text 4"/>
          <p:cNvSpPr/>
          <p:nvPr/>
        </p:nvSpPr>
        <p:spPr>
          <a:xfrm>
            <a:off x="475488" y="960120"/>
            <a:ext cx="8229600" cy="274320"/>
          </a:xfrm>
          <a:prstGeom prst="rect">
            <a:avLst/>
          </a:prstGeom>
          <a:noFill/>
          <a:ln/>
        </p:spPr>
        <p:txBody>
          <a:bodyPr wrap="square" lIns="0" tIns="0" rIns="0" bIns="0" rtlCol="0" anchor="ctr"/>
          <a:lstStyle/>
          <a:p>
            <a:pPr algn="l" indent="0" marL="0">
              <a:buNone/>
            </a:pPr>
            <a:r>
              <a:rPr lang="en-US" sz="1050" b="1" dirty="0">
                <a:solidFill>
                  <a:srgbClr val="D1FF00"/>
                </a:solidFill>
                <a:latin typeface="Calibri" pitchFamily="34" charset="0"/>
                <a:ea typeface="Calibri" pitchFamily="34" charset="-122"/>
                <a:cs typeface="Calibri" pitchFamily="34" charset="-120"/>
              </a:rPr>
              <a:t>FASE OFFLINE — Entrenamiento del Modelo (una sola vez)</a:t>
            </a:r>
            <a:endParaRPr lang="en-US" sz="1050" dirty="0"/>
          </a:p>
        </p:txBody>
      </p:sp>
      <p:sp>
        <p:nvSpPr>
          <p:cNvPr id="7" name="Shape 5"/>
          <p:cNvSpPr/>
          <p:nvPr/>
        </p:nvSpPr>
        <p:spPr>
          <a:xfrm>
            <a:off x="548640" y="1298448"/>
            <a:ext cx="2377440" cy="1005840"/>
          </a:xfrm>
          <a:prstGeom prst="rect">
            <a:avLst/>
          </a:prstGeom>
          <a:solidFill>
            <a:srgbClr val="1A1A1A"/>
          </a:solidFill>
          <a:ln w="19050">
            <a:solidFill>
              <a:srgbClr val="D1FF00"/>
            </a:solidFill>
            <a:prstDash val="solid"/>
          </a:ln>
          <a:effectLst>
            <a:outerShdw sx="100000" sy="100000" kx="0" ky="0" algn="bl" rotWithShape="0" blurRad="101600" dist="25400" dir="8100000">
              <a:srgbClr val="000000">
                <a:alpha val="12000"/>
              </a:srgbClr>
            </a:outerShdw>
          </a:effectLst>
        </p:spPr>
      </p:sp>
      <p:sp>
        <p:nvSpPr>
          <p:cNvPr id="8" name="Text 6"/>
          <p:cNvSpPr/>
          <p:nvPr/>
        </p:nvSpPr>
        <p:spPr>
          <a:xfrm>
            <a:off x="640080" y="1298448"/>
            <a:ext cx="2194560" cy="10058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Dataset Sintético</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30.000 perfiles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generados con IA</a:t>
            </a:r>
            <a:endParaRPr lang="en-US" sz="1000" dirty="0"/>
          </a:p>
        </p:txBody>
      </p:sp>
      <p:sp>
        <p:nvSpPr>
          <p:cNvPr id="9" name="Shape 7"/>
          <p:cNvSpPr/>
          <p:nvPr/>
        </p:nvSpPr>
        <p:spPr>
          <a:xfrm>
            <a:off x="2926080" y="1801368"/>
            <a:ext cx="274320" cy="0"/>
          </a:xfrm>
          <a:prstGeom prst="line">
            <a:avLst/>
          </a:prstGeom>
          <a:noFill/>
          <a:ln w="19050">
            <a:solidFill>
              <a:srgbClr val="D1FF00"/>
            </a:solidFill>
            <a:prstDash val="solid"/>
            <a:tailEnd type="arrow"/>
          </a:ln>
        </p:spPr>
      </p:sp>
      <p:sp>
        <p:nvSpPr>
          <p:cNvPr id="10" name="Shape 8"/>
          <p:cNvSpPr/>
          <p:nvPr/>
        </p:nvSpPr>
        <p:spPr>
          <a:xfrm>
            <a:off x="3200400" y="1298448"/>
            <a:ext cx="2377440" cy="1005840"/>
          </a:xfrm>
          <a:prstGeom prst="rect">
            <a:avLst/>
          </a:prstGeom>
          <a:solidFill>
            <a:srgbClr val="1A1A1A"/>
          </a:solidFill>
          <a:ln w="19050">
            <a:solidFill>
              <a:srgbClr val="D1FF00"/>
            </a:solidFill>
            <a:prstDash val="solid"/>
          </a:ln>
          <a:effectLst>
            <a:outerShdw sx="100000" sy="100000" kx="0" ky="0" algn="bl" rotWithShape="0" blurRad="101600" dist="25400" dir="8100000">
              <a:srgbClr val="000000">
                <a:alpha val="12000"/>
              </a:srgbClr>
            </a:outerShdw>
          </a:effectLst>
        </p:spPr>
      </p:sp>
      <p:sp>
        <p:nvSpPr>
          <p:cNvPr id="11" name="Text 9"/>
          <p:cNvSpPr/>
          <p:nvPr/>
        </p:nvSpPr>
        <p:spPr>
          <a:xfrm>
            <a:off x="3291840" y="1298448"/>
            <a:ext cx="2194560" cy="10058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Entrenamiento</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Logistic Regression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Validación cruzada</a:t>
            </a:r>
            <a:endParaRPr lang="en-US" sz="1000" dirty="0"/>
          </a:p>
        </p:txBody>
      </p:sp>
      <p:sp>
        <p:nvSpPr>
          <p:cNvPr id="12" name="Shape 10"/>
          <p:cNvSpPr/>
          <p:nvPr/>
        </p:nvSpPr>
        <p:spPr>
          <a:xfrm>
            <a:off x="5577840" y="1801368"/>
            <a:ext cx="274320" cy="0"/>
          </a:xfrm>
          <a:prstGeom prst="line">
            <a:avLst/>
          </a:prstGeom>
          <a:noFill/>
          <a:ln w="19050">
            <a:solidFill>
              <a:srgbClr val="D1FF00"/>
            </a:solidFill>
            <a:prstDash val="solid"/>
            <a:tailEnd type="arrow"/>
          </a:ln>
        </p:spPr>
      </p:sp>
      <p:sp>
        <p:nvSpPr>
          <p:cNvPr id="13" name="Shape 11"/>
          <p:cNvSpPr/>
          <p:nvPr/>
        </p:nvSpPr>
        <p:spPr>
          <a:xfrm>
            <a:off x="5852160" y="1298448"/>
            <a:ext cx="2377440" cy="1005840"/>
          </a:xfrm>
          <a:prstGeom prst="rect">
            <a:avLst/>
          </a:prstGeom>
          <a:solidFill>
            <a:srgbClr val="1A1A1A"/>
          </a:solidFill>
          <a:ln w="19050">
            <a:solidFill>
              <a:srgbClr val="D1FF00"/>
            </a:solidFill>
            <a:prstDash val="solid"/>
          </a:ln>
          <a:effectLst>
            <a:outerShdw sx="100000" sy="100000" kx="0" ky="0" algn="bl" rotWithShape="0" blurRad="101600" dist="25400" dir="8100000">
              <a:srgbClr val="000000">
                <a:alpha val="12000"/>
              </a:srgbClr>
            </a:outerShdw>
          </a:effectLst>
        </p:spPr>
      </p:sp>
      <p:sp>
        <p:nvSpPr>
          <p:cNvPr id="14" name="Text 12"/>
          <p:cNvSpPr/>
          <p:nvPr/>
        </p:nvSpPr>
        <p:spPr>
          <a:xfrm>
            <a:off x="5943600" y="1298448"/>
            <a:ext cx="2194560" cy="100584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Modelos .pkl</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modelo_categoria.pkl</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label_encoder.pkl</a:t>
            </a:r>
            <a:endParaRPr lang="en-US" sz="1000" dirty="0"/>
          </a:p>
        </p:txBody>
      </p:sp>
      <p:sp>
        <p:nvSpPr>
          <p:cNvPr id="15" name="Text 13"/>
          <p:cNvSpPr/>
          <p:nvPr/>
        </p:nvSpPr>
        <p:spPr>
          <a:xfrm>
            <a:off x="7315200" y="1618488"/>
            <a:ext cx="1737360" cy="384048"/>
          </a:xfrm>
          <a:prstGeom prst="rect">
            <a:avLst/>
          </a:prstGeom>
          <a:noFill/>
          <a:ln/>
        </p:spPr>
        <p:txBody>
          <a:bodyPr wrap="square" lIns="0" tIns="0" rIns="0" bIns="0" rtlCol="0" anchor="ctr"/>
          <a:lstStyle/>
          <a:p>
            <a:pPr algn="ctr" indent="0" marL="0">
              <a:buNone/>
            </a:pPr>
            <a:r>
              <a:rPr lang="en-US" sz="950" b="1" dirty="0">
                <a:solidFill>
                  <a:srgbClr val="D1FF00"/>
                </a:solidFill>
                <a:latin typeface="Calibri" pitchFamily="34" charset="0"/>
                <a:ea typeface="Calibri" pitchFamily="34" charset="-122"/>
                <a:cs typeface="Calibri" pitchFamily="34" charset="-120"/>
              </a:rPr>
              <a:t>F1-macro: 0.79 · Accuracy: 0.79</a:t>
            </a:r>
            <a:endParaRPr lang="en-US" sz="950" dirty="0"/>
          </a:p>
        </p:txBody>
      </p:sp>
      <p:sp>
        <p:nvSpPr>
          <p:cNvPr id="16" name="Shape 14"/>
          <p:cNvSpPr/>
          <p:nvPr/>
        </p:nvSpPr>
        <p:spPr>
          <a:xfrm>
            <a:off x="347472" y="2514600"/>
            <a:ext cx="8430768" cy="274320"/>
          </a:xfrm>
          <a:prstGeom prst="rect">
            <a:avLst/>
          </a:prstGeom>
          <a:solidFill>
            <a:srgbClr val="003399"/>
          </a:solidFill>
          <a:ln w="12700">
            <a:solidFill>
              <a:srgbClr val="003399"/>
            </a:solidFill>
            <a:prstDash val="solid"/>
          </a:ln>
        </p:spPr>
      </p:sp>
      <p:sp>
        <p:nvSpPr>
          <p:cNvPr id="17" name="Text 15"/>
          <p:cNvSpPr/>
          <p:nvPr/>
        </p:nvSpPr>
        <p:spPr>
          <a:xfrm>
            <a:off x="475488" y="2514600"/>
            <a:ext cx="8229600" cy="274320"/>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FASE ONLINE — Inferencia en Tiempo Real (por cada usuario, &lt; 500 ms)</a:t>
            </a:r>
            <a:endParaRPr lang="en-US" sz="1050" dirty="0"/>
          </a:p>
        </p:txBody>
      </p:sp>
      <p:sp>
        <p:nvSpPr>
          <p:cNvPr id="18" name="Shape 16"/>
          <p:cNvSpPr/>
          <p:nvPr/>
        </p:nvSpPr>
        <p:spPr>
          <a:xfrm>
            <a:off x="411480" y="2852928"/>
            <a:ext cx="1417320" cy="1005840"/>
          </a:xfrm>
          <a:prstGeom prst="rect">
            <a:avLst/>
          </a:prstGeom>
          <a:solidFill>
            <a:srgbClr val="EEF2FF"/>
          </a:solidFill>
          <a:ln w="19050">
            <a:solidFill>
              <a:srgbClr val="003399"/>
            </a:solidFill>
            <a:prstDash val="solid"/>
          </a:ln>
          <a:effectLst>
            <a:outerShdw sx="100000" sy="100000" kx="0" ky="0" algn="bl" rotWithShape="0" blurRad="101600" dist="25400" dir="8100000">
              <a:srgbClr val="000000">
                <a:alpha val="12000"/>
              </a:srgbClr>
            </a:outerShdw>
          </a:effectLst>
        </p:spPr>
      </p:sp>
      <p:sp>
        <p:nvSpPr>
          <p:cNvPr id="19" name="Text 17"/>
          <p:cNvSpPr/>
          <p:nvPr/>
        </p:nvSpPr>
        <p:spPr>
          <a:xfrm>
            <a:off x="475488" y="2852928"/>
            <a:ext cx="1289304" cy="1005840"/>
          </a:xfrm>
          <a:prstGeom prst="rect">
            <a:avLst/>
          </a:prstGeom>
          <a:noFill/>
          <a:ln/>
        </p:spPr>
        <p:txBody>
          <a:bodyPr wrap="square" lIns="0" tIns="0" rIns="0" bIns="0" rtlCol="0" anchor="ctr"/>
          <a:lstStyle/>
          <a:p>
            <a:pPr algn="ctr" indent="0" marL="0">
              <a:buNone/>
            </a:pPr>
            <a:r>
              <a:rPr lang="en-US" sz="950" dirty="0">
                <a:solidFill>
                  <a:srgbClr val="1A1A1A"/>
                </a:solidFill>
                <a:latin typeface="Calibri" pitchFamily="34" charset="0"/>
                <a:ea typeface="Calibri" pitchFamily="34" charset="-122"/>
                <a:cs typeface="Calibri" pitchFamily="34" charset="-120"/>
              </a:rPr>
              <a:t>📱 App</a:t>
            </a:r>
            <a:endParaRPr lang="en-US" sz="950" dirty="0"/>
          </a:p>
          <a:p>
            <a:pPr algn="ctr" indent="0" marL="0">
              <a:buNone/>
            </a:pPr>
            <a:r>
              <a:rPr lang="en-US" sz="950" dirty="0">
                <a:solidFill>
                  <a:srgbClr val="1A1A1A"/>
                </a:solidFill>
                <a:latin typeface="Calibri" pitchFamily="34" charset="0"/>
                <a:ea typeface="Calibri" pitchFamily="34" charset="-122"/>
                <a:cs typeface="Calibri" pitchFamily="34" charset="-120"/>
              </a:rPr>
              <a:t>Solicita premios</a:t>
            </a:r>
            <a:endParaRPr lang="en-US" sz="950" dirty="0"/>
          </a:p>
          <a:p>
            <a:pPr algn="ctr" indent="0" marL="0">
              <a:buNone/>
            </a:pPr>
            <a:r>
              <a:rPr lang="en-US" sz="950" dirty="0">
                <a:solidFill>
                  <a:srgbClr val="1A1A1A"/>
                </a:solidFill>
                <a:latin typeface="Calibri" pitchFamily="34" charset="0"/>
                <a:ea typeface="Calibri" pitchFamily="34" charset="-122"/>
                <a:cs typeface="Calibri" pitchFamily="34" charset="-120"/>
              </a:rPr>
              <a:t>del usuario</a:t>
            </a:r>
            <a:endParaRPr lang="en-US" sz="950" dirty="0"/>
          </a:p>
        </p:txBody>
      </p:sp>
      <p:sp>
        <p:nvSpPr>
          <p:cNvPr id="20" name="Shape 18"/>
          <p:cNvSpPr/>
          <p:nvPr/>
        </p:nvSpPr>
        <p:spPr>
          <a:xfrm>
            <a:off x="1828800" y="3355848"/>
            <a:ext cx="164592" cy="0"/>
          </a:xfrm>
          <a:prstGeom prst="line">
            <a:avLst/>
          </a:prstGeom>
          <a:noFill/>
          <a:ln w="19050">
            <a:solidFill>
              <a:srgbClr val="003399"/>
            </a:solidFill>
            <a:prstDash val="solid"/>
            <a:tailEnd type="arrow"/>
          </a:ln>
        </p:spPr>
      </p:sp>
      <p:sp>
        <p:nvSpPr>
          <p:cNvPr id="21" name="Shape 19"/>
          <p:cNvSpPr/>
          <p:nvPr/>
        </p:nvSpPr>
        <p:spPr>
          <a:xfrm>
            <a:off x="1993392" y="2852928"/>
            <a:ext cx="1417320" cy="1005840"/>
          </a:xfrm>
          <a:prstGeom prst="rect">
            <a:avLst/>
          </a:prstGeom>
          <a:solidFill>
            <a:srgbClr val="EEF2FF"/>
          </a:solidFill>
          <a:ln w="19050">
            <a:solidFill>
              <a:srgbClr val="003399"/>
            </a:solidFill>
            <a:prstDash val="solid"/>
          </a:ln>
          <a:effectLst>
            <a:outerShdw sx="100000" sy="100000" kx="0" ky="0" algn="bl" rotWithShape="0" blurRad="101600" dist="25400" dir="8100000">
              <a:srgbClr val="000000">
                <a:alpha val="12000"/>
              </a:srgbClr>
            </a:outerShdw>
          </a:effectLst>
        </p:spPr>
      </p:sp>
      <p:sp>
        <p:nvSpPr>
          <p:cNvPr id="22" name="Text 20"/>
          <p:cNvSpPr/>
          <p:nvPr/>
        </p:nvSpPr>
        <p:spPr>
          <a:xfrm>
            <a:off x="2057400" y="2852928"/>
            <a:ext cx="1289304" cy="1005840"/>
          </a:xfrm>
          <a:prstGeom prst="rect">
            <a:avLst/>
          </a:prstGeom>
          <a:noFill/>
          <a:ln/>
        </p:spPr>
        <p:txBody>
          <a:bodyPr wrap="square" lIns="0" tIns="0" rIns="0" bIns="0" rtlCol="0" anchor="ctr"/>
          <a:lstStyle/>
          <a:p>
            <a:pPr algn="ctr" indent="0" marL="0">
              <a:buNone/>
            </a:pPr>
            <a:r>
              <a:rPr lang="en-US" sz="950" dirty="0">
                <a:solidFill>
                  <a:srgbClr val="1A1A1A"/>
                </a:solidFill>
                <a:latin typeface="Calibri" pitchFamily="34" charset="0"/>
                <a:ea typeface="Calibri" pitchFamily="34" charset="-122"/>
                <a:cs typeface="Calibri" pitchFamily="34" charset="-120"/>
              </a:rPr>
              <a:t>🗄️ Base de Datos</a:t>
            </a:r>
            <a:endParaRPr lang="en-US" sz="950" dirty="0"/>
          </a:p>
          <a:p>
            <a:pPr algn="ctr" indent="0" marL="0">
              <a:buNone/>
            </a:pPr>
            <a:r>
              <a:rPr lang="en-US" sz="950" dirty="0">
                <a:solidFill>
                  <a:srgbClr val="1A1A1A"/>
                </a:solidFill>
                <a:latin typeface="Calibri" pitchFamily="34" charset="0"/>
                <a:ea typeface="Calibri" pitchFamily="34" charset="-122"/>
                <a:cs typeface="Calibri" pitchFamily="34" charset="-120"/>
              </a:rPr>
              <a:t>Lee 49 features</a:t>
            </a:r>
            <a:endParaRPr lang="en-US" sz="950" dirty="0"/>
          </a:p>
          <a:p>
            <a:pPr algn="ctr" indent="0" marL="0">
              <a:buNone/>
            </a:pPr>
            <a:r>
              <a:rPr lang="en-US" sz="950" dirty="0">
                <a:solidFill>
                  <a:srgbClr val="1A1A1A"/>
                </a:solidFill>
                <a:latin typeface="Calibri" pitchFamily="34" charset="0"/>
                <a:ea typeface="Calibri" pitchFamily="34" charset="-122"/>
                <a:cs typeface="Calibri" pitchFamily="34" charset="-120"/>
              </a:rPr>
              <a:t>del perfil</a:t>
            </a:r>
            <a:endParaRPr lang="en-US" sz="950" dirty="0"/>
          </a:p>
        </p:txBody>
      </p:sp>
      <p:sp>
        <p:nvSpPr>
          <p:cNvPr id="23" name="Shape 21"/>
          <p:cNvSpPr/>
          <p:nvPr/>
        </p:nvSpPr>
        <p:spPr>
          <a:xfrm>
            <a:off x="3410712" y="3355848"/>
            <a:ext cx="164592" cy="0"/>
          </a:xfrm>
          <a:prstGeom prst="line">
            <a:avLst/>
          </a:prstGeom>
          <a:noFill/>
          <a:ln w="19050">
            <a:solidFill>
              <a:srgbClr val="003399"/>
            </a:solidFill>
            <a:prstDash val="solid"/>
            <a:tailEnd type="arrow"/>
          </a:ln>
        </p:spPr>
      </p:sp>
      <p:sp>
        <p:nvSpPr>
          <p:cNvPr id="24" name="Shape 22"/>
          <p:cNvSpPr/>
          <p:nvPr/>
        </p:nvSpPr>
        <p:spPr>
          <a:xfrm>
            <a:off x="3575304" y="2852928"/>
            <a:ext cx="1417320" cy="1005840"/>
          </a:xfrm>
          <a:prstGeom prst="rect">
            <a:avLst/>
          </a:prstGeom>
          <a:solidFill>
            <a:srgbClr val="EEF2FF"/>
          </a:solidFill>
          <a:ln w="19050">
            <a:solidFill>
              <a:srgbClr val="003399"/>
            </a:solidFill>
            <a:prstDash val="solid"/>
          </a:ln>
          <a:effectLst>
            <a:outerShdw sx="100000" sy="100000" kx="0" ky="0" algn="bl" rotWithShape="0" blurRad="101600" dist="25400" dir="8100000">
              <a:srgbClr val="000000">
                <a:alpha val="12000"/>
              </a:srgbClr>
            </a:outerShdw>
          </a:effectLst>
        </p:spPr>
      </p:sp>
      <p:sp>
        <p:nvSpPr>
          <p:cNvPr id="25" name="Text 23"/>
          <p:cNvSpPr/>
          <p:nvPr/>
        </p:nvSpPr>
        <p:spPr>
          <a:xfrm>
            <a:off x="3639312" y="2852928"/>
            <a:ext cx="1289304" cy="1005840"/>
          </a:xfrm>
          <a:prstGeom prst="rect">
            <a:avLst/>
          </a:prstGeom>
          <a:noFill/>
          <a:ln/>
        </p:spPr>
        <p:txBody>
          <a:bodyPr wrap="square" lIns="0" tIns="0" rIns="0" bIns="0" rtlCol="0" anchor="ctr"/>
          <a:lstStyle/>
          <a:p>
            <a:pPr algn="ctr" indent="0" marL="0">
              <a:buNone/>
            </a:pPr>
            <a:r>
              <a:rPr lang="en-US" sz="950" dirty="0">
                <a:solidFill>
                  <a:srgbClr val="1A1A1A"/>
                </a:solidFill>
                <a:latin typeface="Calibri" pitchFamily="34" charset="0"/>
                <a:ea typeface="Calibri" pitchFamily="34" charset="-122"/>
                <a:cs typeface="Calibri" pitchFamily="34" charset="-120"/>
              </a:rPr>
              <a:t>📐 build_input_df</a:t>
            </a:r>
            <a:endParaRPr lang="en-US" sz="950" dirty="0"/>
          </a:p>
          <a:p>
            <a:pPr algn="ctr" indent="0" marL="0">
              <a:buNone/>
            </a:pPr>
            <a:r>
              <a:rPr lang="en-US" sz="950" dirty="0">
                <a:solidFill>
                  <a:srgbClr val="1A1A1A"/>
                </a:solidFill>
                <a:latin typeface="Calibri" pitchFamily="34" charset="0"/>
                <a:ea typeface="Calibri" pitchFamily="34" charset="-122"/>
                <a:cs typeface="Calibri" pitchFamily="34" charset="-120"/>
              </a:rPr>
              <a:t>Normaliza y</a:t>
            </a:r>
            <a:endParaRPr lang="en-US" sz="950" dirty="0"/>
          </a:p>
          <a:p>
            <a:pPr algn="ctr" indent="0" marL="0">
              <a:buNone/>
            </a:pPr>
            <a:r>
              <a:rPr lang="en-US" sz="950" dirty="0">
                <a:solidFill>
                  <a:srgbClr val="1A1A1A"/>
                </a:solidFill>
                <a:latin typeface="Calibri" pitchFamily="34" charset="0"/>
                <a:ea typeface="Calibri" pitchFamily="34" charset="-122"/>
                <a:cs typeface="Calibri" pitchFamily="34" charset="-120"/>
              </a:rPr>
              <a:t>calcula derivadas</a:t>
            </a:r>
            <a:endParaRPr lang="en-US" sz="950" dirty="0"/>
          </a:p>
        </p:txBody>
      </p:sp>
      <p:sp>
        <p:nvSpPr>
          <p:cNvPr id="26" name="Shape 24"/>
          <p:cNvSpPr/>
          <p:nvPr/>
        </p:nvSpPr>
        <p:spPr>
          <a:xfrm>
            <a:off x="4992624" y="3355848"/>
            <a:ext cx="164592" cy="0"/>
          </a:xfrm>
          <a:prstGeom prst="line">
            <a:avLst/>
          </a:prstGeom>
          <a:noFill/>
          <a:ln w="19050">
            <a:solidFill>
              <a:srgbClr val="003399"/>
            </a:solidFill>
            <a:prstDash val="solid"/>
            <a:tailEnd type="arrow"/>
          </a:ln>
        </p:spPr>
      </p:sp>
      <p:sp>
        <p:nvSpPr>
          <p:cNvPr id="27" name="Shape 25"/>
          <p:cNvSpPr/>
          <p:nvPr/>
        </p:nvSpPr>
        <p:spPr>
          <a:xfrm>
            <a:off x="5157216" y="2852928"/>
            <a:ext cx="1417320" cy="1005840"/>
          </a:xfrm>
          <a:prstGeom prst="rect">
            <a:avLst/>
          </a:prstGeom>
          <a:solidFill>
            <a:srgbClr val="EEF2FF"/>
          </a:solidFill>
          <a:ln w="19050">
            <a:solidFill>
              <a:srgbClr val="003399"/>
            </a:solidFill>
            <a:prstDash val="solid"/>
          </a:ln>
          <a:effectLst>
            <a:outerShdw sx="100000" sy="100000" kx="0" ky="0" algn="bl" rotWithShape="0" blurRad="101600" dist="25400" dir="8100000">
              <a:srgbClr val="000000">
                <a:alpha val="12000"/>
              </a:srgbClr>
            </a:outerShdw>
          </a:effectLst>
        </p:spPr>
      </p:sp>
      <p:sp>
        <p:nvSpPr>
          <p:cNvPr id="28" name="Text 26"/>
          <p:cNvSpPr/>
          <p:nvPr/>
        </p:nvSpPr>
        <p:spPr>
          <a:xfrm>
            <a:off x="5221224" y="2852928"/>
            <a:ext cx="1289304" cy="1005840"/>
          </a:xfrm>
          <a:prstGeom prst="rect">
            <a:avLst/>
          </a:prstGeom>
          <a:noFill/>
          <a:ln/>
        </p:spPr>
        <p:txBody>
          <a:bodyPr wrap="square" lIns="0" tIns="0" rIns="0" bIns="0" rtlCol="0" anchor="ctr"/>
          <a:lstStyle/>
          <a:p>
            <a:pPr algn="ctr" indent="0" marL="0">
              <a:buNone/>
            </a:pPr>
            <a:r>
              <a:rPr lang="en-US" sz="950" dirty="0">
                <a:solidFill>
                  <a:srgbClr val="1A1A1A"/>
                </a:solidFill>
                <a:latin typeface="Calibri" pitchFamily="34" charset="0"/>
                <a:ea typeface="Calibri" pitchFamily="34" charset="-122"/>
                <a:cs typeface="Calibri" pitchFamily="34" charset="-120"/>
              </a:rPr>
              <a:t>🧠 Modelo ML</a:t>
            </a:r>
            <a:endParaRPr lang="en-US" sz="950" dirty="0"/>
          </a:p>
          <a:p>
            <a:pPr algn="ctr" indent="0" marL="0">
              <a:buNone/>
            </a:pPr>
            <a:r>
              <a:rPr lang="en-US" sz="950" dirty="0">
                <a:solidFill>
                  <a:srgbClr val="1A1A1A"/>
                </a:solidFill>
                <a:latin typeface="Calibri" pitchFamily="34" charset="0"/>
                <a:ea typeface="Calibri" pitchFamily="34" charset="-122"/>
                <a:cs typeface="Calibri" pitchFamily="34" charset="-120"/>
              </a:rPr>
              <a:t>Clasifica en</a:t>
            </a:r>
            <a:endParaRPr lang="en-US" sz="950" dirty="0"/>
          </a:p>
          <a:p>
            <a:pPr algn="ctr" indent="0" marL="0">
              <a:buNone/>
            </a:pPr>
            <a:r>
              <a:rPr lang="en-US" sz="950" dirty="0">
                <a:solidFill>
                  <a:srgbClr val="1A1A1A"/>
                </a:solidFill>
                <a:latin typeface="Calibri" pitchFamily="34" charset="0"/>
                <a:ea typeface="Calibri" pitchFamily="34" charset="-122"/>
                <a:cs typeface="Calibri" pitchFamily="34" charset="-120"/>
              </a:rPr>
              <a:t>9 categorías</a:t>
            </a:r>
            <a:endParaRPr lang="en-US" sz="950" dirty="0"/>
          </a:p>
        </p:txBody>
      </p:sp>
      <p:sp>
        <p:nvSpPr>
          <p:cNvPr id="29" name="Shape 27"/>
          <p:cNvSpPr/>
          <p:nvPr/>
        </p:nvSpPr>
        <p:spPr>
          <a:xfrm>
            <a:off x="6574536" y="3355848"/>
            <a:ext cx="164592" cy="0"/>
          </a:xfrm>
          <a:prstGeom prst="line">
            <a:avLst/>
          </a:prstGeom>
          <a:noFill/>
          <a:ln w="19050">
            <a:solidFill>
              <a:srgbClr val="003399"/>
            </a:solidFill>
            <a:prstDash val="solid"/>
            <a:tailEnd type="arrow"/>
          </a:ln>
        </p:spPr>
      </p:sp>
      <p:sp>
        <p:nvSpPr>
          <p:cNvPr id="30" name="Shape 28"/>
          <p:cNvSpPr/>
          <p:nvPr/>
        </p:nvSpPr>
        <p:spPr>
          <a:xfrm>
            <a:off x="6739128" y="2852928"/>
            <a:ext cx="1417320" cy="1005840"/>
          </a:xfrm>
          <a:prstGeom prst="rect">
            <a:avLst/>
          </a:prstGeom>
          <a:solidFill>
            <a:srgbClr val="EEF2FF"/>
          </a:solidFill>
          <a:ln w="19050">
            <a:solidFill>
              <a:srgbClr val="003399"/>
            </a:solidFill>
            <a:prstDash val="solid"/>
          </a:ln>
          <a:effectLst>
            <a:outerShdw sx="100000" sy="100000" kx="0" ky="0" algn="bl" rotWithShape="0" blurRad="101600" dist="25400" dir="8100000">
              <a:srgbClr val="000000">
                <a:alpha val="12000"/>
              </a:srgbClr>
            </a:outerShdw>
          </a:effectLst>
        </p:spPr>
      </p:sp>
      <p:sp>
        <p:nvSpPr>
          <p:cNvPr id="31" name="Text 29"/>
          <p:cNvSpPr/>
          <p:nvPr/>
        </p:nvSpPr>
        <p:spPr>
          <a:xfrm>
            <a:off x="6803136" y="2852928"/>
            <a:ext cx="1289304" cy="1005840"/>
          </a:xfrm>
          <a:prstGeom prst="rect">
            <a:avLst/>
          </a:prstGeom>
          <a:noFill/>
          <a:ln/>
        </p:spPr>
        <p:txBody>
          <a:bodyPr wrap="square" lIns="0" tIns="0" rIns="0" bIns="0" rtlCol="0" anchor="ctr"/>
          <a:lstStyle/>
          <a:p>
            <a:pPr algn="ctr" indent="0" marL="0">
              <a:buNone/>
            </a:pPr>
            <a:r>
              <a:rPr lang="en-US" sz="950" dirty="0">
                <a:solidFill>
                  <a:srgbClr val="1A1A1A"/>
                </a:solidFill>
                <a:latin typeface="Calibri" pitchFamily="34" charset="0"/>
                <a:ea typeface="Calibri" pitchFamily="34" charset="-122"/>
                <a:cs typeface="Calibri" pitchFamily="34" charset="-120"/>
              </a:rPr>
              <a:t>📋 Motor Reglas</a:t>
            </a:r>
            <a:endParaRPr lang="en-US" sz="950" dirty="0"/>
          </a:p>
          <a:p>
            <a:pPr algn="ctr" indent="0" marL="0">
              <a:buNone/>
            </a:pPr>
            <a:r>
              <a:rPr lang="en-US" sz="950" dirty="0">
                <a:solidFill>
                  <a:srgbClr val="1A1A1A"/>
                </a:solidFill>
                <a:latin typeface="Calibri" pitchFamily="34" charset="0"/>
                <a:ea typeface="Calibri" pitchFamily="34" charset="-122"/>
                <a:cs typeface="Calibri" pitchFamily="34" charset="-120"/>
              </a:rPr>
              <a:t>Puntúa 40 premios</a:t>
            </a:r>
            <a:endParaRPr lang="en-US" sz="950" dirty="0"/>
          </a:p>
          <a:p>
            <a:pPr algn="ctr" indent="0" marL="0">
              <a:buNone/>
            </a:pPr>
            <a:r>
              <a:rPr lang="en-US" sz="950" dirty="0">
                <a:solidFill>
                  <a:srgbClr val="1A1A1A"/>
                </a:solidFill>
                <a:latin typeface="Calibri" pitchFamily="34" charset="0"/>
                <a:ea typeface="Calibri" pitchFamily="34" charset="-122"/>
                <a:cs typeface="Calibri" pitchFamily="34" charset="-120"/>
              </a:rPr>
              <a:t>con razones</a:t>
            </a:r>
            <a:endParaRPr lang="en-US" sz="950" dirty="0"/>
          </a:p>
        </p:txBody>
      </p:sp>
      <p:sp>
        <p:nvSpPr>
          <p:cNvPr id="32" name="Shape 30"/>
          <p:cNvSpPr/>
          <p:nvPr/>
        </p:nvSpPr>
        <p:spPr>
          <a:xfrm>
            <a:off x="8138160" y="2852928"/>
            <a:ext cx="640080" cy="1005840"/>
          </a:xfrm>
          <a:prstGeom prst="rect">
            <a:avLst/>
          </a:prstGeom>
          <a:solidFill>
            <a:srgbClr val="D1FF00"/>
          </a:solidFill>
          <a:ln w="12700">
            <a:solidFill>
              <a:srgbClr val="D1FF00"/>
            </a:solidFill>
            <a:prstDash val="solid"/>
          </a:ln>
          <a:effectLst>
            <a:outerShdw sx="100000" sy="100000" kx="0" ky="0" algn="bl" rotWithShape="0" blurRad="101600" dist="25400" dir="8100000">
              <a:srgbClr val="000000">
                <a:alpha val="12000"/>
              </a:srgbClr>
            </a:outerShdw>
          </a:effectLst>
        </p:spPr>
      </p:sp>
      <p:sp>
        <p:nvSpPr>
          <p:cNvPr id="33" name="Text 31"/>
          <p:cNvSpPr/>
          <p:nvPr/>
        </p:nvSpPr>
        <p:spPr>
          <a:xfrm>
            <a:off x="8138160" y="2852928"/>
            <a:ext cx="640080" cy="1005840"/>
          </a:xfrm>
          <a:prstGeom prst="rect">
            <a:avLst/>
          </a:prstGeom>
          <a:noFill/>
          <a:ln/>
        </p:spPr>
        <p:txBody>
          <a:bodyPr wrap="square" lIns="0" tIns="0" rIns="0" bIns="0" rtlCol="0" anchor="ctr"/>
          <a:lstStyle/>
          <a:p>
            <a:pPr algn="ctr" indent="0" marL="0">
              <a:buNone/>
            </a:pPr>
            <a:r>
              <a:rPr lang="en-US" sz="900" b="1" dirty="0">
                <a:solidFill>
                  <a:srgbClr val="1A1A1A"/>
                </a:solidFill>
                <a:latin typeface="Calibri" pitchFamily="34" charset="0"/>
                <a:ea typeface="Calibri" pitchFamily="34" charset="-122"/>
                <a:cs typeface="Calibri" pitchFamily="34" charset="-120"/>
              </a:rPr>
              <a:t>JSON</a:t>
            </a:r>
            <a:endParaRPr lang="en-US" sz="900" dirty="0"/>
          </a:p>
          <a:p>
            <a:pPr algn="ctr" indent="0" marL="0">
              <a:buNone/>
            </a:pPr>
            <a:r>
              <a:rPr lang="en-US" sz="900" b="1" dirty="0">
                <a:solidFill>
                  <a:srgbClr val="1A1A1A"/>
                </a:solidFill>
                <a:latin typeface="Calibri" pitchFamily="34" charset="0"/>
                <a:ea typeface="Calibri" pitchFamily="34" charset="-122"/>
                <a:cs typeface="Calibri" pitchFamily="34" charset="-120"/>
              </a:rPr>
              <a:t>Resp.</a:t>
            </a:r>
            <a:endParaRPr lang="en-US" sz="900" dirty="0"/>
          </a:p>
        </p:txBody>
      </p:sp>
      <p:sp>
        <p:nvSpPr>
          <p:cNvPr id="34" name="Shape 32"/>
          <p:cNvSpPr/>
          <p:nvPr/>
        </p:nvSpPr>
        <p:spPr>
          <a:xfrm>
            <a:off x="7982712" y="3355848"/>
            <a:ext cx="155448" cy="0"/>
          </a:xfrm>
          <a:prstGeom prst="line">
            <a:avLst/>
          </a:prstGeom>
          <a:noFill/>
          <a:ln w="19050">
            <a:solidFill>
              <a:srgbClr val="003399"/>
            </a:solidFill>
            <a:prstDash val="solid"/>
            <a:tailEnd type="arrow"/>
          </a:ln>
        </p:spPr>
      </p:sp>
      <p:sp>
        <p:nvSpPr>
          <p:cNvPr id="35" name="Shape 33"/>
          <p:cNvSpPr/>
          <p:nvPr/>
        </p:nvSpPr>
        <p:spPr>
          <a:xfrm>
            <a:off x="347472" y="4005072"/>
            <a:ext cx="8430768" cy="786384"/>
          </a:xfrm>
          <a:prstGeom prst="rect">
            <a:avLst/>
          </a:prstGeom>
          <a:solidFill>
            <a:srgbClr val="F0EAFF"/>
          </a:solidFill>
          <a:ln w="12700">
            <a:solidFill>
              <a:srgbClr val="6600FF"/>
            </a:solidFill>
            <a:prstDash val="solid"/>
          </a:ln>
        </p:spPr>
      </p:sp>
      <p:sp>
        <p:nvSpPr>
          <p:cNvPr id="36" name="Text 34"/>
          <p:cNvSpPr/>
          <p:nvPr/>
        </p:nvSpPr>
        <p:spPr>
          <a:xfrm>
            <a:off x="502920" y="4059936"/>
            <a:ext cx="2743200" cy="256032"/>
          </a:xfrm>
          <a:prstGeom prst="rect">
            <a:avLst/>
          </a:prstGeom>
          <a:noFill/>
          <a:ln/>
        </p:spPr>
        <p:txBody>
          <a:bodyPr wrap="square" lIns="0" tIns="0" rIns="0" bIns="0" rtlCol="0" anchor="ctr"/>
          <a:lstStyle/>
          <a:p>
            <a:pPr algn="l" indent="0" marL="0">
              <a:buNone/>
            </a:pPr>
            <a:r>
              <a:rPr lang="en-US" sz="1000" b="1" dirty="0">
                <a:solidFill>
                  <a:srgbClr val="6600FF"/>
                </a:solidFill>
                <a:latin typeface="Calibri" pitchFamily="34" charset="0"/>
                <a:ea typeface="Calibri" pitchFamily="34" charset="-122"/>
                <a:cs typeface="Calibri" pitchFamily="34" charset="-120"/>
              </a:rPr>
              <a:t>ℹ️  Datos Sintéticos Generados con IA:</a:t>
            </a:r>
            <a:endParaRPr lang="en-US" sz="1000" dirty="0"/>
          </a:p>
        </p:txBody>
      </p:sp>
      <p:sp>
        <p:nvSpPr>
          <p:cNvPr id="37" name="Text 35"/>
          <p:cNvSpPr/>
          <p:nvPr/>
        </p:nvSpPr>
        <p:spPr>
          <a:xfrm>
            <a:off x="502920" y="4315968"/>
            <a:ext cx="8138160" cy="411480"/>
          </a:xfrm>
          <a:prstGeom prst="rect">
            <a:avLst/>
          </a:prstGeom>
          <a:noFill/>
          <a:ln/>
        </p:spPr>
        <p:txBody>
          <a:bodyPr wrap="square" lIns="0" tIns="0" rIns="0" bIns="0" rtlCol="0" anchor="t"/>
          <a:lstStyle/>
          <a:p>
            <a:pPr algn="l" indent="0" marL="0">
              <a:buNone/>
            </a:pPr>
            <a:r>
              <a:rPr lang="en-US" sz="950" dirty="0">
                <a:solidFill>
                  <a:srgbClr val="555555"/>
                </a:solidFill>
                <a:latin typeface="Calibri" pitchFamily="34" charset="0"/>
                <a:ea typeface="Calibri" pitchFamily="34" charset="-122"/>
                <a:cs typeface="Calibri" pitchFamily="34" charset="-120"/>
              </a:rPr>
              <a:t>Ante la ausencia de datos históricos de clientes reales, el dataset de entrenamiento fue generado con IA para simular la distribución esperada de 30.000 perfiles bancarios (perfil financiero, consumo, gamificación, demográfico y digital), preservando la privacidad de los clientes.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6600FF"/>
        </a:solidFill>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003399">
              <a:alpha val="40000"/>
            </a:srgbClr>
          </a:solidFill>
          <a:ln w="12700">
            <a:solidFill>
              <a:srgbClr val="003399">
                <a:alpha val="40000"/>
              </a:srgbClr>
            </a:solidFill>
            <a:prstDash val="solid"/>
          </a:ln>
        </p:spPr>
      </p:sp>
      <p:sp>
        <p:nvSpPr>
          <p:cNvPr id="3" name="Shape 1"/>
          <p:cNvSpPr/>
          <p:nvPr/>
        </p:nvSpPr>
        <p:spPr>
          <a:xfrm>
            <a:off x="-1828800" y="2743200"/>
            <a:ext cx="5029200" cy="5029200"/>
          </a:xfrm>
          <a:prstGeom prst="ellipse">
            <a:avLst/>
          </a:prstGeom>
          <a:solidFill>
            <a:srgbClr val="E6192E">
              <a:alpha val="28000"/>
            </a:srgbClr>
          </a:solidFill>
          <a:ln w="12700">
            <a:solidFill>
              <a:srgbClr val="E6192E">
                <a:alpha val="28000"/>
              </a:srgbClr>
            </a:solidFill>
            <a:prstDash val="solid"/>
          </a:ln>
        </p:spPr>
      </p:sp>
      <p:sp>
        <p:nvSpPr>
          <p:cNvPr id="4" name="Shape 2"/>
          <p:cNvSpPr/>
          <p:nvPr/>
        </p:nvSpPr>
        <p:spPr>
          <a:xfrm>
            <a:off x="0" y="4754880"/>
            <a:ext cx="9144000" cy="388620"/>
          </a:xfrm>
          <a:prstGeom prst="rect">
            <a:avLst/>
          </a:prstGeom>
          <a:solidFill>
            <a:srgbClr val="003399"/>
          </a:solidFill>
          <a:ln w="12700">
            <a:solidFill>
              <a:srgbClr val="003399"/>
            </a:solidFill>
            <a:prstDash val="solid"/>
          </a:ln>
        </p:spPr>
      </p:sp>
      <p:sp>
        <p:nvSpPr>
          <p:cNvPr id="5" name="Shape 3"/>
          <p:cNvSpPr/>
          <p:nvPr/>
        </p:nvSpPr>
        <p:spPr>
          <a:xfrm>
            <a:off x="457200" y="1417320"/>
            <a:ext cx="118872" cy="2423160"/>
          </a:xfrm>
          <a:prstGeom prst="rect">
            <a:avLst/>
          </a:prstGeom>
          <a:solidFill>
            <a:srgbClr val="D1FF00"/>
          </a:solidFill>
          <a:ln w="12700">
            <a:solidFill>
              <a:srgbClr val="D1FF00"/>
            </a:solidFill>
            <a:prstDash val="solid"/>
          </a:ln>
        </p:spPr>
      </p:sp>
      <p:sp>
        <p:nvSpPr>
          <p:cNvPr id="6" name="Text 4"/>
          <p:cNvSpPr/>
          <p:nvPr/>
        </p:nvSpPr>
        <p:spPr>
          <a:xfrm>
            <a:off x="731520" y="1325880"/>
            <a:ext cx="3657600" cy="347472"/>
          </a:xfrm>
          <a:prstGeom prst="rect">
            <a:avLst/>
          </a:prstGeom>
          <a:noFill/>
          <a:ln/>
        </p:spPr>
        <p:txBody>
          <a:bodyPr wrap="square" lIns="0" tIns="0" rIns="0" bIns="0" rtlCol="0" anchor="ctr"/>
          <a:lstStyle/>
          <a:p>
            <a:pPr algn="l" indent="0" marL="0">
              <a:buNone/>
            </a:pPr>
            <a:r>
              <a:rPr lang="en-US" sz="1100" b="1" dirty="0">
                <a:solidFill>
                  <a:srgbClr val="D1FF00"/>
                </a:solidFill>
                <a:latin typeface="Calibri" pitchFamily="34" charset="0"/>
                <a:ea typeface="Calibri" pitchFamily="34" charset="-122"/>
                <a:cs typeface="Calibri" pitchFamily="34" charset="-120"/>
              </a:rPr>
              <a:t>09 —</a:t>
            </a:r>
            <a:endParaRPr lang="en-US" sz="1100" dirty="0"/>
          </a:p>
        </p:txBody>
      </p:sp>
      <p:sp>
        <p:nvSpPr>
          <p:cNvPr id="7" name="Text 5"/>
          <p:cNvSpPr/>
          <p:nvPr/>
        </p:nvSpPr>
        <p:spPr>
          <a:xfrm>
            <a:off x="731520" y="1691640"/>
            <a:ext cx="7772400" cy="150876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Uso de IA en</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la Plataforma</a:t>
            </a:r>
            <a:endParaRPr lang="en-US" sz="4000" dirty="0"/>
          </a:p>
        </p:txBody>
      </p:sp>
      <p:sp>
        <p:nvSpPr>
          <p:cNvPr id="8" name="Text 6"/>
          <p:cNvSpPr/>
          <p:nvPr/>
        </p:nvSpPr>
        <p:spPr>
          <a:xfrm>
            <a:off x="731520" y="3291840"/>
            <a:ext cx="7315200" cy="475488"/>
          </a:xfrm>
          <a:prstGeom prst="rect">
            <a:avLst/>
          </a:prstGeom>
          <a:noFill/>
          <a:ln/>
        </p:spPr>
        <p:txBody>
          <a:bodyPr wrap="square" lIns="0" tIns="0" rIns="0" bIns="0" rtlCol="0" anchor="ctr"/>
          <a:lstStyle/>
          <a:p>
            <a:pPr algn="l" indent="0" marL="0">
              <a:buNone/>
            </a:pPr>
            <a:r>
              <a:rPr lang="en-US" sz="1500" dirty="0">
                <a:solidFill>
                  <a:srgbClr val="D1FF00"/>
                </a:solidFill>
                <a:latin typeface="Calibri" pitchFamily="34" charset="0"/>
                <a:ea typeface="Calibri" pitchFamily="34" charset="-122"/>
                <a:cs typeface="Calibri" pitchFamily="34" charset="-120"/>
              </a:rPr>
              <a:t>Cuatro dimensiones de aplicación de inteligencia artificial</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Las 4 Dimensiones de IA en AI-Bank</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Shape 3"/>
          <p:cNvSpPr/>
          <p:nvPr/>
        </p:nvSpPr>
        <p:spPr>
          <a:xfrm>
            <a:off x="347472" y="987552"/>
            <a:ext cx="4069080" cy="1737360"/>
          </a:xfrm>
          <a:prstGeom prst="rect">
            <a:avLst/>
          </a:prstGeom>
          <a:solidFill>
            <a:srgbClr val="FFFFFF"/>
          </a:solidFill>
          <a:ln w="25400">
            <a:solidFill>
              <a:srgbClr val="003399"/>
            </a:solidFill>
            <a:prstDash val="solid"/>
          </a:ln>
          <a:effectLst>
            <a:outerShdw sx="100000" sy="100000" kx="0" ky="0" algn="bl" rotWithShape="0" blurRad="101600" dist="25400" dir="8100000">
              <a:srgbClr val="000000">
                <a:alpha val="12000"/>
              </a:srgbClr>
            </a:outerShdw>
          </a:effectLst>
        </p:spPr>
      </p:sp>
      <p:sp>
        <p:nvSpPr>
          <p:cNvPr id="6" name="Shape 4"/>
          <p:cNvSpPr/>
          <p:nvPr/>
        </p:nvSpPr>
        <p:spPr>
          <a:xfrm>
            <a:off x="347472" y="987552"/>
            <a:ext cx="4069080" cy="73152"/>
          </a:xfrm>
          <a:prstGeom prst="rect">
            <a:avLst/>
          </a:prstGeom>
          <a:solidFill>
            <a:srgbClr val="003399"/>
          </a:solidFill>
          <a:ln w="12700">
            <a:solidFill>
              <a:srgbClr val="003399"/>
            </a:solidFill>
            <a:prstDash val="solid"/>
          </a:ln>
        </p:spPr>
      </p:sp>
      <p:sp>
        <p:nvSpPr>
          <p:cNvPr id="7" name="Shape 5"/>
          <p:cNvSpPr/>
          <p:nvPr/>
        </p:nvSpPr>
        <p:spPr>
          <a:xfrm>
            <a:off x="484632" y="1152144"/>
            <a:ext cx="594360" cy="594360"/>
          </a:xfrm>
          <a:prstGeom prst="ellipse">
            <a:avLst/>
          </a:prstGeom>
          <a:solidFill>
            <a:srgbClr val="003399">
              <a:alpha val="15000"/>
            </a:srgbClr>
          </a:solidFill>
          <a:ln w="12700">
            <a:solidFill>
              <a:srgbClr val="003399">
                <a:alpha val="15000"/>
              </a:srgbClr>
            </a:solidFill>
            <a:prstDash val="solid"/>
          </a:ln>
        </p:spPr>
      </p:sp>
      <p:sp>
        <p:nvSpPr>
          <p:cNvPr id="8" name="Text 6"/>
          <p:cNvSpPr/>
          <p:nvPr/>
        </p:nvSpPr>
        <p:spPr>
          <a:xfrm>
            <a:off x="484632" y="1152144"/>
            <a:ext cx="594360" cy="5943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1216152" y="1152144"/>
            <a:ext cx="3063240" cy="594360"/>
          </a:xfrm>
          <a:prstGeom prst="rect">
            <a:avLst/>
          </a:prstGeom>
          <a:noFill/>
          <a:ln/>
        </p:spPr>
        <p:txBody>
          <a:bodyPr wrap="square" lIns="0" tIns="0" rIns="0" bIns="0" rtlCol="0" anchor="ctr"/>
          <a:lstStyle/>
          <a:p>
            <a:pPr algn="l" indent="0" marL="0">
              <a:buNone/>
            </a:pPr>
            <a:r>
              <a:rPr lang="en-US" sz="1300" b="1" dirty="0">
                <a:solidFill>
                  <a:srgbClr val="003399"/>
                </a:solidFill>
                <a:latin typeface="Calibri" pitchFamily="34" charset="0"/>
                <a:ea typeface="Calibri" pitchFamily="34" charset="-122"/>
                <a:cs typeface="Calibri" pitchFamily="34" charset="-120"/>
              </a:rPr>
              <a:t>Segmentación de Usuarios</a:t>
            </a:r>
            <a:endParaRPr lang="en-US" sz="1300" dirty="0"/>
          </a:p>
        </p:txBody>
      </p:sp>
      <p:sp>
        <p:nvSpPr>
          <p:cNvPr id="10" name="Shape 8"/>
          <p:cNvSpPr/>
          <p:nvPr/>
        </p:nvSpPr>
        <p:spPr>
          <a:xfrm>
            <a:off x="484632" y="1810512"/>
            <a:ext cx="3794760" cy="0"/>
          </a:xfrm>
          <a:prstGeom prst="line">
            <a:avLst/>
          </a:prstGeom>
          <a:noFill/>
          <a:ln w="6350">
            <a:solidFill>
              <a:srgbClr val="003399">
                <a:alpha val="40000"/>
              </a:srgbClr>
            </a:solidFill>
            <a:prstDash val="solid"/>
          </a:ln>
        </p:spPr>
      </p:sp>
      <p:sp>
        <p:nvSpPr>
          <p:cNvPr id="11" name="Text 9"/>
          <p:cNvSpPr/>
          <p:nvPr/>
        </p:nvSpPr>
        <p:spPr>
          <a:xfrm>
            <a:off x="484632" y="1883664"/>
            <a:ext cx="3794760" cy="77724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Modelo ML multiclase (Logistic Regression) agrupa usuarios en 9 perfiles de interés a partir de 49 variables. La segmentación evoluciona con el comportamiento del usuario en la plataforma.</a:t>
            </a:r>
            <a:endParaRPr lang="en-US" sz="1050" dirty="0"/>
          </a:p>
        </p:txBody>
      </p:sp>
      <p:sp>
        <p:nvSpPr>
          <p:cNvPr id="12" name="Shape 10"/>
          <p:cNvSpPr/>
          <p:nvPr/>
        </p:nvSpPr>
        <p:spPr>
          <a:xfrm>
            <a:off x="4507992" y="987552"/>
            <a:ext cx="4069080" cy="1737360"/>
          </a:xfrm>
          <a:prstGeom prst="rect">
            <a:avLst/>
          </a:prstGeom>
          <a:solidFill>
            <a:srgbClr val="FFFFFF"/>
          </a:solidFill>
          <a:ln w="25400">
            <a:solidFill>
              <a:srgbClr val="6600FF"/>
            </a:solidFill>
            <a:prstDash val="solid"/>
          </a:ln>
          <a:effectLst>
            <a:outerShdw sx="100000" sy="100000" kx="0" ky="0" algn="bl" rotWithShape="0" blurRad="101600" dist="25400" dir="8100000">
              <a:srgbClr val="000000">
                <a:alpha val="12000"/>
              </a:srgbClr>
            </a:outerShdw>
          </a:effectLst>
        </p:spPr>
      </p:sp>
      <p:sp>
        <p:nvSpPr>
          <p:cNvPr id="13" name="Shape 11"/>
          <p:cNvSpPr/>
          <p:nvPr/>
        </p:nvSpPr>
        <p:spPr>
          <a:xfrm>
            <a:off x="4507992" y="987552"/>
            <a:ext cx="4069080" cy="73152"/>
          </a:xfrm>
          <a:prstGeom prst="rect">
            <a:avLst/>
          </a:prstGeom>
          <a:solidFill>
            <a:srgbClr val="6600FF"/>
          </a:solidFill>
          <a:ln w="12700">
            <a:solidFill>
              <a:srgbClr val="6600FF"/>
            </a:solidFill>
            <a:prstDash val="solid"/>
          </a:ln>
        </p:spPr>
      </p:sp>
      <p:sp>
        <p:nvSpPr>
          <p:cNvPr id="14" name="Shape 12"/>
          <p:cNvSpPr/>
          <p:nvPr/>
        </p:nvSpPr>
        <p:spPr>
          <a:xfrm>
            <a:off x="4645152" y="1152144"/>
            <a:ext cx="594360" cy="594360"/>
          </a:xfrm>
          <a:prstGeom prst="ellipse">
            <a:avLst/>
          </a:prstGeom>
          <a:solidFill>
            <a:srgbClr val="6600FF">
              <a:alpha val="15000"/>
            </a:srgbClr>
          </a:solidFill>
          <a:ln w="12700">
            <a:solidFill>
              <a:srgbClr val="6600FF">
                <a:alpha val="15000"/>
              </a:srgbClr>
            </a:solidFill>
            <a:prstDash val="solid"/>
          </a:ln>
        </p:spPr>
      </p:sp>
      <p:sp>
        <p:nvSpPr>
          <p:cNvPr id="15" name="Text 13"/>
          <p:cNvSpPr/>
          <p:nvPr/>
        </p:nvSpPr>
        <p:spPr>
          <a:xfrm>
            <a:off x="4645152" y="1152144"/>
            <a:ext cx="594360" cy="5943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5376672" y="1152144"/>
            <a:ext cx="3063240" cy="594360"/>
          </a:xfrm>
          <a:prstGeom prst="rect">
            <a:avLst/>
          </a:prstGeom>
          <a:noFill/>
          <a:ln/>
        </p:spPr>
        <p:txBody>
          <a:bodyPr wrap="square" lIns="0" tIns="0" rIns="0" bIns="0" rtlCol="0" anchor="ctr"/>
          <a:lstStyle/>
          <a:p>
            <a:pPr algn="l" indent="0" marL="0">
              <a:buNone/>
            </a:pPr>
            <a:r>
              <a:rPr lang="en-US" sz="1300" b="1" dirty="0">
                <a:solidFill>
                  <a:srgbClr val="6600FF"/>
                </a:solidFill>
                <a:latin typeface="Calibri" pitchFamily="34" charset="0"/>
                <a:ea typeface="Calibri" pitchFamily="34" charset="-122"/>
                <a:cs typeface="Calibri" pitchFamily="34" charset="-120"/>
              </a:rPr>
              <a:t>Personalización de Premios</a:t>
            </a:r>
            <a:endParaRPr lang="en-US" sz="1300" dirty="0"/>
          </a:p>
        </p:txBody>
      </p:sp>
      <p:sp>
        <p:nvSpPr>
          <p:cNvPr id="17" name="Shape 15"/>
          <p:cNvSpPr/>
          <p:nvPr/>
        </p:nvSpPr>
        <p:spPr>
          <a:xfrm>
            <a:off x="4645152" y="1810512"/>
            <a:ext cx="3794760" cy="0"/>
          </a:xfrm>
          <a:prstGeom prst="line">
            <a:avLst/>
          </a:prstGeom>
          <a:noFill/>
          <a:ln w="6350">
            <a:solidFill>
              <a:srgbClr val="6600FF">
                <a:alpha val="40000"/>
              </a:srgbClr>
            </a:solidFill>
            <a:prstDash val="solid"/>
          </a:ln>
        </p:spPr>
      </p:sp>
      <p:sp>
        <p:nvSpPr>
          <p:cNvPr id="18" name="Text 16"/>
          <p:cNvSpPr/>
          <p:nvPr/>
        </p:nvSpPr>
        <p:spPr>
          <a:xfrm>
            <a:off x="4645152" y="1883664"/>
            <a:ext cx="3794760" cy="77724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El motor de reglas combina la salida del modelo ML con criterios de negocio (ciudad, gasto, liga) para seleccionar el premio más afín de un catálogo de 40 opciones con afinidad 0–100% y razones explicables.</a:t>
            </a:r>
            <a:endParaRPr lang="en-US" sz="1050" dirty="0"/>
          </a:p>
        </p:txBody>
      </p:sp>
      <p:sp>
        <p:nvSpPr>
          <p:cNvPr id="19" name="Shape 17"/>
          <p:cNvSpPr/>
          <p:nvPr/>
        </p:nvSpPr>
        <p:spPr>
          <a:xfrm>
            <a:off x="347472" y="2834640"/>
            <a:ext cx="4069080" cy="1737360"/>
          </a:xfrm>
          <a:prstGeom prst="rect">
            <a:avLst/>
          </a:prstGeom>
          <a:solidFill>
            <a:srgbClr val="FFFFFF"/>
          </a:solidFill>
          <a:ln w="25400">
            <a:solidFill>
              <a:srgbClr val="E6192E"/>
            </a:solidFill>
            <a:prstDash val="solid"/>
          </a:ln>
          <a:effectLst>
            <a:outerShdw sx="100000" sy="100000" kx="0" ky="0" algn="bl" rotWithShape="0" blurRad="101600" dist="25400" dir="8100000">
              <a:srgbClr val="000000">
                <a:alpha val="12000"/>
              </a:srgbClr>
            </a:outerShdw>
          </a:effectLst>
        </p:spPr>
      </p:sp>
      <p:sp>
        <p:nvSpPr>
          <p:cNvPr id="20" name="Shape 18"/>
          <p:cNvSpPr/>
          <p:nvPr/>
        </p:nvSpPr>
        <p:spPr>
          <a:xfrm>
            <a:off x="347472" y="2834640"/>
            <a:ext cx="4069080" cy="73152"/>
          </a:xfrm>
          <a:prstGeom prst="rect">
            <a:avLst/>
          </a:prstGeom>
          <a:solidFill>
            <a:srgbClr val="E6192E"/>
          </a:solidFill>
          <a:ln w="12700">
            <a:solidFill>
              <a:srgbClr val="E6192E"/>
            </a:solidFill>
            <a:prstDash val="solid"/>
          </a:ln>
        </p:spPr>
      </p:sp>
      <p:sp>
        <p:nvSpPr>
          <p:cNvPr id="21" name="Shape 19"/>
          <p:cNvSpPr/>
          <p:nvPr/>
        </p:nvSpPr>
        <p:spPr>
          <a:xfrm>
            <a:off x="484632" y="2999232"/>
            <a:ext cx="594360" cy="594360"/>
          </a:xfrm>
          <a:prstGeom prst="ellipse">
            <a:avLst/>
          </a:prstGeom>
          <a:solidFill>
            <a:srgbClr val="E6192E">
              <a:alpha val="15000"/>
            </a:srgbClr>
          </a:solidFill>
          <a:ln w="12700">
            <a:solidFill>
              <a:srgbClr val="E6192E">
                <a:alpha val="15000"/>
              </a:srgbClr>
            </a:solidFill>
            <a:prstDash val="solid"/>
          </a:ln>
        </p:spPr>
      </p:sp>
      <p:sp>
        <p:nvSpPr>
          <p:cNvPr id="22" name="Text 20"/>
          <p:cNvSpPr/>
          <p:nvPr/>
        </p:nvSpPr>
        <p:spPr>
          <a:xfrm>
            <a:off x="484632" y="2999232"/>
            <a:ext cx="594360" cy="5943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1216152" y="2999232"/>
            <a:ext cx="3063240" cy="594360"/>
          </a:xfrm>
          <a:prstGeom prst="rect">
            <a:avLst/>
          </a:prstGeom>
          <a:noFill/>
          <a:ln/>
        </p:spPr>
        <p:txBody>
          <a:bodyPr wrap="square" lIns="0" tIns="0" rIns="0" bIns="0" rtlCol="0" anchor="ctr"/>
          <a:lstStyle/>
          <a:p>
            <a:pPr algn="l" indent="0" marL="0">
              <a:buNone/>
            </a:pPr>
            <a:r>
              <a:rPr lang="en-US" sz="1300" b="1" dirty="0">
                <a:solidFill>
                  <a:srgbClr val="E6192E"/>
                </a:solidFill>
                <a:latin typeface="Calibri" pitchFamily="34" charset="0"/>
                <a:ea typeface="Calibri" pitchFamily="34" charset="-122"/>
                <a:cs typeface="Calibri" pitchFamily="34" charset="-120"/>
              </a:rPr>
              <a:t>Chatbot Multi-Agente</a:t>
            </a:r>
            <a:endParaRPr lang="en-US" sz="1300" dirty="0"/>
          </a:p>
        </p:txBody>
      </p:sp>
      <p:sp>
        <p:nvSpPr>
          <p:cNvPr id="24" name="Shape 22"/>
          <p:cNvSpPr/>
          <p:nvPr/>
        </p:nvSpPr>
        <p:spPr>
          <a:xfrm>
            <a:off x="484632" y="3657600"/>
            <a:ext cx="3794760" cy="0"/>
          </a:xfrm>
          <a:prstGeom prst="line">
            <a:avLst/>
          </a:prstGeom>
          <a:noFill/>
          <a:ln w="6350">
            <a:solidFill>
              <a:srgbClr val="E6192E">
                <a:alpha val="40000"/>
              </a:srgbClr>
            </a:solidFill>
            <a:prstDash val="solid"/>
          </a:ln>
        </p:spPr>
      </p:sp>
      <p:sp>
        <p:nvSpPr>
          <p:cNvPr id="25" name="Text 23"/>
          <p:cNvSpPr/>
          <p:nvPr/>
        </p:nvSpPr>
        <p:spPr>
          <a:xfrm>
            <a:off x="484632" y="3730752"/>
            <a:ext cx="3794760" cy="77724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Pipeline Orquestador → Analista (6 herramientas Tavily en paralelo) → Censor. Memoria conversacional por sesión. Respuestas informativas y balanceadas sin predicciones de ganador.</a:t>
            </a:r>
            <a:endParaRPr lang="en-US" sz="1050" dirty="0"/>
          </a:p>
        </p:txBody>
      </p:sp>
      <p:sp>
        <p:nvSpPr>
          <p:cNvPr id="26" name="Shape 24"/>
          <p:cNvSpPr/>
          <p:nvPr/>
        </p:nvSpPr>
        <p:spPr>
          <a:xfrm>
            <a:off x="4507992" y="2834640"/>
            <a:ext cx="4069080" cy="1737360"/>
          </a:xfrm>
          <a:prstGeom prst="rect">
            <a:avLst/>
          </a:prstGeom>
          <a:solidFill>
            <a:srgbClr val="FFFFFF"/>
          </a:solidFill>
          <a:ln w="25400">
            <a:solidFill>
              <a:srgbClr val="886600"/>
            </a:solidFill>
            <a:prstDash val="solid"/>
          </a:ln>
          <a:effectLst>
            <a:outerShdw sx="100000" sy="100000" kx="0" ky="0" algn="bl" rotWithShape="0" blurRad="101600" dist="25400" dir="8100000">
              <a:srgbClr val="000000">
                <a:alpha val="12000"/>
              </a:srgbClr>
            </a:outerShdw>
          </a:effectLst>
        </p:spPr>
      </p:sp>
      <p:sp>
        <p:nvSpPr>
          <p:cNvPr id="27" name="Shape 25"/>
          <p:cNvSpPr/>
          <p:nvPr/>
        </p:nvSpPr>
        <p:spPr>
          <a:xfrm>
            <a:off x="4507992" y="2834640"/>
            <a:ext cx="4069080" cy="73152"/>
          </a:xfrm>
          <a:prstGeom prst="rect">
            <a:avLst/>
          </a:prstGeom>
          <a:solidFill>
            <a:srgbClr val="886600"/>
          </a:solidFill>
          <a:ln w="12700">
            <a:solidFill>
              <a:srgbClr val="886600"/>
            </a:solidFill>
            <a:prstDash val="solid"/>
          </a:ln>
        </p:spPr>
      </p:sp>
      <p:sp>
        <p:nvSpPr>
          <p:cNvPr id="28" name="Shape 26"/>
          <p:cNvSpPr/>
          <p:nvPr/>
        </p:nvSpPr>
        <p:spPr>
          <a:xfrm>
            <a:off x="4645152" y="2999232"/>
            <a:ext cx="594360" cy="594360"/>
          </a:xfrm>
          <a:prstGeom prst="ellipse">
            <a:avLst/>
          </a:prstGeom>
          <a:solidFill>
            <a:srgbClr val="886600">
              <a:alpha val="15000"/>
            </a:srgbClr>
          </a:solidFill>
          <a:ln w="12700">
            <a:solidFill>
              <a:srgbClr val="886600">
                <a:alpha val="15000"/>
              </a:srgbClr>
            </a:solidFill>
            <a:prstDash val="solid"/>
          </a:ln>
        </p:spPr>
      </p:sp>
      <p:sp>
        <p:nvSpPr>
          <p:cNvPr id="29" name="Text 27"/>
          <p:cNvSpPr/>
          <p:nvPr/>
        </p:nvSpPr>
        <p:spPr>
          <a:xfrm>
            <a:off x="4645152" y="2999232"/>
            <a:ext cx="594360" cy="5943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Text 28"/>
          <p:cNvSpPr/>
          <p:nvPr/>
        </p:nvSpPr>
        <p:spPr>
          <a:xfrm>
            <a:off x="5376672" y="2999232"/>
            <a:ext cx="3063240" cy="594360"/>
          </a:xfrm>
          <a:prstGeom prst="rect">
            <a:avLst/>
          </a:prstGeom>
          <a:noFill/>
          <a:ln/>
        </p:spPr>
        <p:txBody>
          <a:bodyPr wrap="square" lIns="0" tIns="0" rIns="0" bIns="0" rtlCol="0" anchor="ctr"/>
          <a:lstStyle/>
          <a:p>
            <a:pPr algn="l" indent="0" marL="0">
              <a:buNone/>
            </a:pPr>
            <a:r>
              <a:rPr lang="en-US" sz="1300" b="1" dirty="0">
                <a:solidFill>
                  <a:srgbClr val="886600"/>
                </a:solidFill>
                <a:latin typeface="Calibri" pitchFamily="34" charset="0"/>
                <a:ea typeface="Calibri" pitchFamily="34" charset="-122"/>
                <a:cs typeface="Calibri" pitchFamily="34" charset="-120"/>
              </a:rPr>
              <a:t>Matchmaking y Pronósticos</a:t>
            </a:r>
            <a:endParaRPr lang="en-US" sz="1300" dirty="0"/>
          </a:p>
        </p:txBody>
      </p:sp>
      <p:sp>
        <p:nvSpPr>
          <p:cNvPr id="31" name="Shape 29"/>
          <p:cNvSpPr/>
          <p:nvPr/>
        </p:nvSpPr>
        <p:spPr>
          <a:xfrm>
            <a:off x="4645152" y="3657600"/>
            <a:ext cx="3794760" cy="0"/>
          </a:xfrm>
          <a:prstGeom prst="line">
            <a:avLst/>
          </a:prstGeom>
          <a:noFill/>
          <a:ln w="6350">
            <a:solidFill>
              <a:srgbClr val="886600">
                <a:alpha val="40000"/>
              </a:srgbClr>
            </a:solidFill>
            <a:prstDash val="solid"/>
          </a:ln>
        </p:spPr>
      </p:sp>
      <p:sp>
        <p:nvSpPr>
          <p:cNvPr id="32" name="Text 30"/>
          <p:cNvSpPr/>
          <p:nvPr/>
        </p:nvSpPr>
        <p:spPr>
          <a:xfrm>
            <a:off x="4645152" y="3730752"/>
            <a:ext cx="3794760" cy="777240"/>
          </a:xfrm>
          <a:prstGeom prst="rect">
            <a:avLst/>
          </a:prstGeom>
          <a:noFill/>
          <a:ln/>
        </p:spPr>
        <p:txBody>
          <a:bodyPr wrap="square" lIns="0" tIns="0" rIns="0" bIns="0" rtlCol="0" anchor="t"/>
          <a:lstStyle/>
          <a:p>
            <a:pPr algn="l" indent="0" marL="0">
              <a:buNone/>
            </a:pPr>
            <a:r>
              <a:rPr lang="en-US" sz="1050" dirty="0">
                <a:solidFill>
                  <a:srgbClr val="555555"/>
                </a:solidFill>
                <a:latin typeface="Calibri" pitchFamily="34" charset="0"/>
                <a:ea typeface="Calibri" pitchFamily="34" charset="-122"/>
                <a:cs typeface="Calibri" pitchFamily="34" charset="-120"/>
              </a:rPr>
              <a:t>La infraestructura de datos captura métricas de predicción (tasa de acierto, racha máxima) listas para alimentar en el futuro un sistema de matchmaking de grupos por perfil de predicción y liga.</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6600FF"/>
        </a:solidFill>
      </p:bgPr>
    </p:bg>
    <p:spTree>
      <p:nvGrpSpPr>
        <p:cNvPr id="1" name=""/>
        <p:cNvGrpSpPr/>
        <p:nvPr/>
      </p:nvGrpSpPr>
      <p:grpSpPr>
        <a:xfrm>
          <a:off x="0" y="0"/>
          <a:ext cx="0" cy="0"/>
          <a:chOff x="0" y="0"/>
          <a:chExt cx="0" cy="0"/>
        </a:xfrm>
      </p:grpSpPr>
      <p:sp>
        <p:nvSpPr>
          <p:cNvPr id="2" name="Shape 0"/>
          <p:cNvSpPr/>
          <p:nvPr/>
        </p:nvSpPr>
        <p:spPr>
          <a:xfrm>
            <a:off x="5943600" y="-1828800"/>
            <a:ext cx="6400800" cy="6400800"/>
          </a:xfrm>
          <a:prstGeom prst="ellipse">
            <a:avLst/>
          </a:prstGeom>
          <a:solidFill>
            <a:srgbClr val="003399">
              <a:alpha val="40000"/>
            </a:srgbClr>
          </a:solidFill>
          <a:ln w="12700">
            <a:solidFill>
              <a:srgbClr val="003399">
                <a:alpha val="40000"/>
              </a:srgbClr>
            </a:solidFill>
            <a:prstDash val="solid"/>
          </a:ln>
        </p:spPr>
      </p:sp>
      <p:sp>
        <p:nvSpPr>
          <p:cNvPr id="3" name="Shape 1"/>
          <p:cNvSpPr/>
          <p:nvPr/>
        </p:nvSpPr>
        <p:spPr>
          <a:xfrm>
            <a:off x="-1828800" y="2743200"/>
            <a:ext cx="5029200" cy="5029200"/>
          </a:xfrm>
          <a:prstGeom prst="ellipse">
            <a:avLst/>
          </a:prstGeom>
          <a:solidFill>
            <a:srgbClr val="E6192E">
              <a:alpha val="28000"/>
            </a:srgbClr>
          </a:solidFill>
          <a:ln w="12700">
            <a:solidFill>
              <a:srgbClr val="E6192E">
                <a:alpha val="28000"/>
              </a:srgbClr>
            </a:solidFill>
            <a:prstDash val="solid"/>
          </a:ln>
        </p:spPr>
      </p:sp>
      <p:sp>
        <p:nvSpPr>
          <p:cNvPr id="4" name="Shape 2"/>
          <p:cNvSpPr/>
          <p:nvPr/>
        </p:nvSpPr>
        <p:spPr>
          <a:xfrm>
            <a:off x="0" y="4754880"/>
            <a:ext cx="9144000" cy="388620"/>
          </a:xfrm>
          <a:prstGeom prst="rect">
            <a:avLst/>
          </a:prstGeom>
          <a:solidFill>
            <a:srgbClr val="003399"/>
          </a:solidFill>
          <a:ln w="12700">
            <a:solidFill>
              <a:srgbClr val="003399"/>
            </a:solidFill>
            <a:prstDash val="solid"/>
          </a:ln>
        </p:spPr>
      </p:sp>
      <p:sp>
        <p:nvSpPr>
          <p:cNvPr id="5" name="Shape 3"/>
          <p:cNvSpPr/>
          <p:nvPr/>
        </p:nvSpPr>
        <p:spPr>
          <a:xfrm>
            <a:off x="457200" y="1417320"/>
            <a:ext cx="118872" cy="2423160"/>
          </a:xfrm>
          <a:prstGeom prst="rect">
            <a:avLst/>
          </a:prstGeom>
          <a:solidFill>
            <a:srgbClr val="D1FF00"/>
          </a:solidFill>
          <a:ln w="12700">
            <a:solidFill>
              <a:srgbClr val="D1FF00"/>
            </a:solidFill>
            <a:prstDash val="solid"/>
          </a:ln>
        </p:spPr>
      </p:sp>
      <p:sp>
        <p:nvSpPr>
          <p:cNvPr id="6" name="Text 4"/>
          <p:cNvSpPr/>
          <p:nvPr/>
        </p:nvSpPr>
        <p:spPr>
          <a:xfrm>
            <a:off x="731520" y="1325880"/>
            <a:ext cx="3657600" cy="347472"/>
          </a:xfrm>
          <a:prstGeom prst="rect">
            <a:avLst/>
          </a:prstGeom>
          <a:noFill/>
          <a:ln/>
        </p:spPr>
        <p:txBody>
          <a:bodyPr wrap="square" lIns="0" tIns="0" rIns="0" bIns="0" rtlCol="0" anchor="ctr"/>
          <a:lstStyle/>
          <a:p>
            <a:pPr algn="l" indent="0" marL="0">
              <a:buNone/>
            </a:pPr>
            <a:r>
              <a:rPr lang="en-US" sz="1100" b="1" dirty="0">
                <a:solidFill>
                  <a:srgbClr val="D1FF00"/>
                </a:solidFill>
                <a:latin typeface="Calibri" pitchFamily="34" charset="0"/>
                <a:ea typeface="Calibri" pitchFamily="34" charset="-122"/>
                <a:cs typeface="Calibri" pitchFamily="34" charset="-120"/>
              </a:rPr>
              <a:t>10 —</a:t>
            </a:r>
            <a:endParaRPr lang="en-US" sz="1100" dirty="0"/>
          </a:p>
        </p:txBody>
      </p:sp>
      <p:sp>
        <p:nvSpPr>
          <p:cNvPr id="7" name="Text 5"/>
          <p:cNvSpPr/>
          <p:nvPr/>
        </p:nvSpPr>
        <p:spPr>
          <a:xfrm>
            <a:off x="731520" y="1691640"/>
            <a:ext cx="7772400" cy="150876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Consideraciones Futuras</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 Arquitectura Azure</a:t>
            </a:r>
            <a:endParaRPr lang="en-US" sz="4000" dirty="0"/>
          </a:p>
        </p:txBody>
      </p:sp>
      <p:sp>
        <p:nvSpPr>
          <p:cNvPr id="8" name="Text 6"/>
          <p:cNvSpPr/>
          <p:nvPr/>
        </p:nvSpPr>
        <p:spPr>
          <a:xfrm>
            <a:off x="731520" y="3291840"/>
            <a:ext cx="7315200" cy="475488"/>
          </a:xfrm>
          <a:prstGeom prst="rect">
            <a:avLst/>
          </a:prstGeom>
          <a:noFill/>
          <a:ln/>
        </p:spPr>
        <p:txBody>
          <a:bodyPr wrap="square" lIns="0" tIns="0" rIns="0" bIns="0" rtlCol="0" anchor="ctr"/>
          <a:lstStyle/>
          <a:p>
            <a:pPr algn="l" indent="0" marL="0">
              <a:buNone/>
            </a:pPr>
            <a:r>
              <a:rPr lang="en-US" sz="1500" dirty="0">
                <a:solidFill>
                  <a:srgbClr val="D1FF00"/>
                </a:solidFill>
                <a:latin typeface="Calibri" pitchFamily="34" charset="0"/>
                <a:ea typeface="Calibri" pitchFamily="34" charset="-122"/>
                <a:cs typeface="Calibri" pitchFamily="34" charset="-120"/>
              </a:rPr>
              <a:t>Microservicios en Azure Container Apps · GraphRAG · SWA</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Arquitectura Futura — Microservicios en Azure</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Shape 3"/>
          <p:cNvSpPr/>
          <p:nvPr/>
        </p:nvSpPr>
        <p:spPr>
          <a:xfrm>
            <a:off x="347472" y="960120"/>
            <a:ext cx="1481328" cy="3858768"/>
          </a:xfrm>
          <a:prstGeom prst="rect">
            <a:avLst/>
          </a:prstGeom>
          <a:solidFill>
            <a:srgbClr val="003399">
              <a:alpha val="12000"/>
            </a:srgbClr>
          </a:solidFill>
          <a:ln w="19050">
            <a:solidFill>
              <a:srgbClr val="003399"/>
            </a:solidFill>
            <a:prstDash val="solid"/>
          </a:ln>
          <a:effectLst>
            <a:outerShdw sx="100000" sy="100000" kx="0" ky="0" algn="bl" rotWithShape="0" blurRad="101600" dist="25400" dir="8100000">
              <a:srgbClr val="000000">
                <a:alpha val="12000"/>
              </a:srgbClr>
            </a:outerShdw>
          </a:effectLst>
        </p:spPr>
      </p:sp>
      <p:sp>
        <p:nvSpPr>
          <p:cNvPr id="6" name="Text 4"/>
          <p:cNvSpPr/>
          <p:nvPr/>
        </p:nvSpPr>
        <p:spPr>
          <a:xfrm>
            <a:off x="393192" y="1005840"/>
            <a:ext cx="1389888" cy="475488"/>
          </a:xfrm>
          <a:prstGeom prst="rect">
            <a:avLst/>
          </a:prstGeom>
          <a:noFill/>
          <a:ln/>
        </p:spPr>
        <p:txBody>
          <a:bodyPr wrap="square" lIns="0" tIns="0" rIns="0" bIns="0" rtlCol="0" anchor="ctr"/>
          <a:lstStyle/>
          <a:p>
            <a:pPr algn="ctr" indent="0" marL="0">
              <a:buNone/>
            </a:pPr>
            <a:r>
              <a:rPr lang="en-US" sz="900" b="1" dirty="0">
                <a:solidFill>
                  <a:srgbClr val="003399"/>
                </a:solidFill>
                <a:latin typeface="Calibri" pitchFamily="34" charset="0"/>
                <a:ea typeface="Calibri" pitchFamily="34" charset="-122"/>
                <a:cs typeface="Calibri" pitchFamily="34" charset="-120"/>
              </a:rPr>
              <a:t>Front</a:t>
            </a:r>
            <a:endParaRPr lang="en-US" sz="900" dirty="0"/>
          </a:p>
          <a:p>
            <a:pPr algn="ctr" indent="0" marL="0">
              <a:buNone/>
            </a:pPr>
            <a:r>
              <a:rPr lang="en-US" sz="900" b="1" dirty="0">
                <a:solidFill>
                  <a:srgbClr val="003399"/>
                </a:solidFill>
                <a:latin typeface="Calibri" pitchFamily="34" charset="0"/>
                <a:ea typeface="Calibri" pitchFamily="34" charset="-122"/>
                <a:cs typeface="Calibri" pitchFamily="34" charset="-120"/>
              </a:rPr>
              <a:t>&amp; Edge</a:t>
            </a:r>
            <a:endParaRPr lang="en-US" sz="900" dirty="0"/>
          </a:p>
        </p:txBody>
      </p:sp>
      <p:sp>
        <p:nvSpPr>
          <p:cNvPr id="7" name="Shape 5"/>
          <p:cNvSpPr/>
          <p:nvPr/>
        </p:nvSpPr>
        <p:spPr>
          <a:xfrm>
            <a:off x="438912" y="1527048"/>
            <a:ext cx="1298448" cy="996696"/>
          </a:xfrm>
          <a:prstGeom prst="rect">
            <a:avLst/>
          </a:prstGeom>
          <a:solidFill>
            <a:srgbClr val="003399"/>
          </a:solidFill>
          <a:ln w="12700">
            <a:solidFill>
              <a:srgbClr val="003399"/>
            </a:solidFill>
            <a:prstDash val="solid"/>
          </a:ln>
          <a:effectLst>
            <a:outerShdw sx="100000" sy="100000" kx="0" ky="0" algn="bl" rotWithShape="0" blurRad="101600" dist="25400" dir="8100000">
              <a:srgbClr val="000000">
                <a:alpha val="12000"/>
              </a:srgbClr>
            </a:outerShdw>
          </a:effectLst>
        </p:spPr>
      </p:sp>
      <p:sp>
        <p:nvSpPr>
          <p:cNvPr id="8" name="Text 6"/>
          <p:cNvSpPr/>
          <p:nvPr/>
        </p:nvSpPr>
        <p:spPr>
          <a:xfrm>
            <a:off x="438912" y="1527048"/>
            <a:ext cx="1298448" cy="996696"/>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Azure</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Static</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Web Apps</a:t>
            </a:r>
            <a:endParaRPr lang="en-US" sz="850" dirty="0"/>
          </a:p>
        </p:txBody>
      </p:sp>
      <p:sp>
        <p:nvSpPr>
          <p:cNvPr id="9" name="Shape 7"/>
          <p:cNvSpPr/>
          <p:nvPr/>
        </p:nvSpPr>
        <p:spPr>
          <a:xfrm>
            <a:off x="438912" y="2615184"/>
            <a:ext cx="1298448" cy="996696"/>
          </a:xfrm>
          <a:prstGeom prst="rect">
            <a:avLst/>
          </a:prstGeom>
          <a:solidFill>
            <a:srgbClr val="003399"/>
          </a:solidFill>
          <a:ln w="12700">
            <a:solidFill>
              <a:srgbClr val="003399"/>
            </a:solidFill>
            <a:prstDash val="solid"/>
          </a:ln>
          <a:effectLst>
            <a:outerShdw sx="100000" sy="100000" kx="0" ky="0" algn="bl" rotWithShape="0" blurRad="101600" dist="25400" dir="8100000">
              <a:srgbClr val="000000">
                <a:alpha val="12000"/>
              </a:srgbClr>
            </a:outerShdw>
          </a:effectLst>
        </p:spPr>
      </p:sp>
      <p:sp>
        <p:nvSpPr>
          <p:cNvPr id="10" name="Text 8"/>
          <p:cNvSpPr/>
          <p:nvPr/>
        </p:nvSpPr>
        <p:spPr>
          <a:xfrm>
            <a:off x="438912" y="2615184"/>
            <a:ext cx="1298448" cy="996696"/>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Azure</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Front Door</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 WAF</a:t>
            </a:r>
            <a:endParaRPr lang="en-US" sz="850" dirty="0"/>
          </a:p>
        </p:txBody>
      </p:sp>
      <p:sp>
        <p:nvSpPr>
          <p:cNvPr id="11" name="Shape 9"/>
          <p:cNvSpPr/>
          <p:nvPr/>
        </p:nvSpPr>
        <p:spPr>
          <a:xfrm>
            <a:off x="438912" y="3703320"/>
            <a:ext cx="1298448" cy="996696"/>
          </a:xfrm>
          <a:prstGeom prst="rect">
            <a:avLst/>
          </a:prstGeom>
          <a:solidFill>
            <a:srgbClr val="003399"/>
          </a:solidFill>
          <a:ln w="12700">
            <a:solidFill>
              <a:srgbClr val="003399"/>
            </a:solidFill>
            <a:prstDash val="solid"/>
          </a:ln>
          <a:effectLst>
            <a:outerShdw sx="100000" sy="100000" kx="0" ky="0" algn="bl" rotWithShape="0" blurRad="101600" dist="25400" dir="8100000">
              <a:srgbClr val="000000">
                <a:alpha val="12000"/>
              </a:srgbClr>
            </a:outerShdw>
          </a:effectLst>
        </p:spPr>
      </p:sp>
      <p:sp>
        <p:nvSpPr>
          <p:cNvPr id="12" name="Text 10"/>
          <p:cNvSpPr/>
          <p:nvPr/>
        </p:nvSpPr>
        <p:spPr>
          <a:xfrm>
            <a:off x="438912" y="3703320"/>
            <a:ext cx="1298448" cy="996696"/>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Azure</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API Mgmt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(APIM)</a:t>
            </a:r>
            <a:endParaRPr lang="en-US" sz="850" dirty="0"/>
          </a:p>
        </p:txBody>
      </p:sp>
      <p:sp>
        <p:nvSpPr>
          <p:cNvPr id="13" name="Shape 11"/>
          <p:cNvSpPr/>
          <p:nvPr/>
        </p:nvSpPr>
        <p:spPr>
          <a:xfrm>
            <a:off x="1993392" y="960120"/>
            <a:ext cx="1938528" cy="3858768"/>
          </a:xfrm>
          <a:prstGeom prst="rect">
            <a:avLst/>
          </a:prstGeom>
          <a:solidFill>
            <a:srgbClr val="6600FF">
              <a:alpha val="12000"/>
            </a:srgbClr>
          </a:solidFill>
          <a:ln w="19050">
            <a:solidFill>
              <a:srgbClr val="6600FF"/>
            </a:solidFill>
            <a:prstDash val="solid"/>
          </a:ln>
          <a:effectLst>
            <a:outerShdw sx="100000" sy="100000" kx="0" ky="0" algn="bl" rotWithShape="0" blurRad="101600" dist="25400" dir="8100000">
              <a:srgbClr val="000000">
                <a:alpha val="12000"/>
              </a:srgbClr>
            </a:outerShdw>
          </a:effectLst>
        </p:spPr>
      </p:sp>
      <p:sp>
        <p:nvSpPr>
          <p:cNvPr id="14" name="Text 12"/>
          <p:cNvSpPr/>
          <p:nvPr/>
        </p:nvSpPr>
        <p:spPr>
          <a:xfrm>
            <a:off x="2039112" y="1005840"/>
            <a:ext cx="1847088" cy="475488"/>
          </a:xfrm>
          <a:prstGeom prst="rect">
            <a:avLst/>
          </a:prstGeom>
          <a:noFill/>
          <a:ln/>
        </p:spPr>
        <p:txBody>
          <a:bodyPr wrap="square" lIns="0" tIns="0" rIns="0" bIns="0" rtlCol="0" anchor="ctr"/>
          <a:lstStyle/>
          <a:p>
            <a:pPr algn="ctr" indent="0" marL="0">
              <a:buNone/>
            </a:pPr>
            <a:r>
              <a:rPr lang="en-US" sz="900" b="1" dirty="0">
                <a:solidFill>
                  <a:srgbClr val="6600FF"/>
                </a:solidFill>
                <a:latin typeface="Calibri" pitchFamily="34" charset="0"/>
                <a:ea typeface="Calibri" pitchFamily="34" charset="-122"/>
                <a:cs typeface="Calibri" pitchFamily="34" charset="-120"/>
              </a:rPr>
              <a:t>Microservicios</a:t>
            </a:r>
            <a:endParaRPr lang="en-US" sz="900" dirty="0"/>
          </a:p>
          <a:p>
            <a:pPr algn="ctr" indent="0" marL="0">
              <a:buNone/>
            </a:pPr>
            <a:r>
              <a:rPr lang="en-US" sz="900" b="1" dirty="0">
                <a:solidFill>
                  <a:srgbClr val="6600FF"/>
                </a:solidFill>
                <a:latin typeface="Calibri" pitchFamily="34" charset="0"/>
                <a:ea typeface="Calibri" pitchFamily="34" charset="-122"/>
                <a:cs typeface="Calibri" pitchFamily="34" charset="-120"/>
              </a:rPr>
              <a:t>de Negocio (ACA)</a:t>
            </a:r>
            <a:endParaRPr lang="en-US" sz="900" dirty="0"/>
          </a:p>
        </p:txBody>
      </p:sp>
      <p:sp>
        <p:nvSpPr>
          <p:cNvPr id="15" name="Shape 13"/>
          <p:cNvSpPr/>
          <p:nvPr/>
        </p:nvSpPr>
        <p:spPr>
          <a:xfrm>
            <a:off x="2084832" y="1527048"/>
            <a:ext cx="1755648" cy="561442"/>
          </a:xfrm>
          <a:prstGeom prst="rect">
            <a:avLst/>
          </a:prstGeom>
          <a:solidFill>
            <a:srgbClr val="6600FF"/>
          </a:solidFill>
          <a:ln w="12700">
            <a:solidFill>
              <a:srgbClr val="6600FF"/>
            </a:solidFill>
            <a:prstDash val="solid"/>
          </a:ln>
          <a:effectLst>
            <a:outerShdw sx="100000" sy="100000" kx="0" ky="0" algn="bl" rotWithShape="0" blurRad="101600" dist="25400" dir="8100000">
              <a:srgbClr val="000000">
                <a:alpha val="12000"/>
              </a:srgbClr>
            </a:outerShdw>
          </a:effectLst>
        </p:spPr>
      </p:sp>
      <p:sp>
        <p:nvSpPr>
          <p:cNvPr id="16" name="Text 14"/>
          <p:cNvSpPr/>
          <p:nvPr/>
        </p:nvSpPr>
        <p:spPr>
          <a:xfrm>
            <a:off x="2084832" y="1527048"/>
            <a:ext cx="1755648" cy="56144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Auth Service</a:t>
            </a:r>
            <a:endParaRPr lang="en-US" sz="850" dirty="0"/>
          </a:p>
        </p:txBody>
      </p:sp>
      <p:sp>
        <p:nvSpPr>
          <p:cNvPr id="17" name="Shape 15"/>
          <p:cNvSpPr/>
          <p:nvPr/>
        </p:nvSpPr>
        <p:spPr>
          <a:xfrm>
            <a:off x="2084832" y="2179930"/>
            <a:ext cx="1755648" cy="561442"/>
          </a:xfrm>
          <a:prstGeom prst="rect">
            <a:avLst/>
          </a:prstGeom>
          <a:solidFill>
            <a:srgbClr val="6600FF"/>
          </a:solidFill>
          <a:ln w="12700">
            <a:solidFill>
              <a:srgbClr val="6600FF"/>
            </a:solidFill>
            <a:prstDash val="solid"/>
          </a:ln>
          <a:effectLst>
            <a:outerShdw sx="100000" sy="100000" kx="0" ky="0" algn="bl" rotWithShape="0" blurRad="101600" dist="25400" dir="8100000">
              <a:srgbClr val="000000">
                <a:alpha val="12000"/>
              </a:srgbClr>
            </a:outerShdw>
          </a:effectLst>
        </p:spPr>
      </p:sp>
      <p:sp>
        <p:nvSpPr>
          <p:cNvPr id="18" name="Text 16"/>
          <p:cNvSpPr/>
          <p:nvPr/>
        </p:nvSpPr>
        <p:spPr>
          <a:xfrm>
            <a:off x="2084832" y="2179930"/>
            <a:ext cx="1755648" cy="56144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User Service</a:t>
            </a:r>
            <a:endParaRPr lang="en-US" sz="850" dirty="0"/>
          </a:p>
        </p:txBody>
      </p:sp>
      <p:sp>
        <p:nvSpPr>
          <p:cNvPr id="19" name="Shape 17"/>
          <p:cNvSpPr/>
          <p:nvPr/>
        </p:nvSpPr>
        <p:spPr>
          <a:xfrm>
            <a:off x="2084832" y="2832811"/>
            <a:ext cx="1755648" cy="561442"/>
          </a:xfrm>
          <a:prstGeom prst="rect">
            <a:avLst/>
          </a:prstGeom>
          <a:solidFill>
            <a:srgbClr val="6600FF"/>
          </a:solidFill>
          <a:ln w="12700">
            <a:solidFill>
              <a:srgbClr val="6600FF"/>
            </a:solidFill>
            <a:prstDash val="solid"/>
          </a:ln>
          <a:effectLst>
            <a:outerShdw sx="100000" sy="100000" kx="0" ky="0" algn="bl" rotWithShape="0" blurRad="101600" dist="25400" dir="8100000">
              <a:srgbClr val="000000">
                <a:alpha val="12000"/>
              </a:srgbClr>
            </a:outerShdw>
          </a:effectLst>
        </p:spPr>
      </p:sp>
      <p:sp>
        <p:nvSpPr>
          <p:cNvPr id="20" name="Text 18"/>
          <p:cNvSpPr/>
          <p:nvPr/>
        </p:nvSpPr>
        <p:spPr>
          <a:xfrm>
            <a:off x="2084832" y="2832811"/>
            <a:ext cx="1755648" cy="56144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Prediction Svc</a:t>
            </a:r>
            <a:endParaRPr lang="en-US" sz="850" dirty="0"/>
          </a:p>
        </p:txBody>
      </p:sp>
      <p:sp>
        <p:nvSpPr>
          <p:cNvPr id="21" name="Shape 19"/>
          <p:cNvSpPr/>
          <p:nvPr/>
        </p:nvSpPr>
        <p:spPr>
          <a:xfrm>
            <a:off x="2084832" y="3485693"/>
            <a:ext cx="1755648" cy="561442"/>
          </a:xfrm>
          <a:prstGeom prst="rect">
            <a:avLst/>
          </a:prstGeom>
          <a:solidFill>
            <a:srgbClr val="6600FF"/>
          </a:solidFill>
          <a:ln w="12700">
            <a:solidFill>
              <a:srgbClr val="6600FF"/>
            </a:solidFill>
            <a:prstDash val="solid"/>
          </a:ln>
          <a:effectLst>
            <a:outerShdw sx="100000" sy="100000" kx="0" ky="0" algn="bl" rotWithShape="0" blurRad="101600" dist="25400" dir="8100000">
              <a:srgbClr val="000000">
                <a:alpha val="12000"/>
              </a:srgbClr>
            </a:outerShdw>
          </a:effectLst>
        </p:spPr>
      </p:sp>
      <p:sp>
        <p:nvSpPr>
          <p:cNvPr id="22" name="Text 20"/>
          <p:cNvSpPr/>
          <p:nvPr/>
        </p:nvSpPr>
        <p:spPr>
          <a:xfrm>
            <a:off x="2084832" y="3485693"/>
            <a:ext cx="1755648" cy="56144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Banking Service</a:t>
            </a:r>
            <a:endParaRPr lang="en-US" sz="850" dirty="0"/>
          </a:p>
        </p:txBody>
      </p:sp>
      <p:sp>
        <p:nvSpPr>
          <p:cNvPr id="23" name="Shape 21"/>
          <p:cNvSpPr/>
          <p:nvPr/>
        </p:nvSpPr>
        <p:spPr>
          <a:xfrm>
            <a:off x="2084832" y="4138574"/>
            <a:ext cx="1755648" cy="561442"/>
          </a:xfrm>
          <a:prstGeom prst="rect">
            <a:avLst/>
          </a:prstGeom>
          <a:solidFill>
            <a:srgbClr val="6600FF"/>
          </a:solidFill>
          <a:ln w="12700">
            <a:solidFill>
              <a:srgbClr val="6600FF"/>
            </a:solidFill>
            <a:prstDash val="solid"/>
          </a:ln>
          <a:effectLst>
            <a:outerShdw sx="100000" sy="100000" kx="0" ky="0" algn="bl" rotWithShape="0" blurRad="101600" dist="25400" dir="8100000">
              <a:srgbClr val="000000">
                <a:alpha val="12000"/>
              </a:srgbClr>
            </a:outerShdw>
          </a:effectLst>
        </p:spPr>
      </p:sp>
      <p:sp>
        <p:nvSpPr>
          <p:cNvPr id="24" name="Text 22"/>
          <p:cNvSpPr/>
          <p:nvPr/>
        </p:nvSpPr>
        <p:spPr>
          <a:xfrm>
            <a:off x="2084832" y="4138574"/>
            <a:ext cx="1755648" cy="56144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Album Service</a:t>
            </a:r>
            <a:endParaRPr lang="en-US" sz="850" dirty="0"/>
          </a:p>
        </p:txBody>
      </p:sp>
      <p:sp>
        <p:nvSpPr>
          <p:cNvPr id="25" name="Shape 23"/>
          <p:cNvSpPr/>
          <p:nvPr/>
        </p:nvSpPr>
        <p:spPr>
          <a:xfrm>
            <a:off x="4096512" y="960120"/>
            <a:ext cx="1755648" cy="3858768"/>
          </a:xfrm>
          <a:prstGeom prst="rect">
            <a:avLst/>
          </a:prstGeom>
          <a:solidFill>
            <a:srgbClr val="1A47B8">
              <a:alpha val="12000"/>
            </a:srgbClr>
          </a:solidFill>
          <a:ln w="19050">
            <a:solidFill>
              <a:srgbClr val="1A47B8"/>
            </a:solidFill>
            <a:prstDash val="solid"/>
          </a:ln>
          <a:effectLst>
            <a:outerShdw sx="100000" sy="100000" kx="0" ky="0" algn="bl" rotWithShape="0" blurRad="101600" dist="25400" dir="8100000">
              <a:srgbClr val="000000">
                <a:alpha val="12000"/>
              </a:srgbClr>
            </a:outerShdw>
          </a:effectLst>
        </p:spPr>
      </p:sp>
      <p:sp>
        <p:nvSpPr>
          <p:cNvPr id="26" name="Text 24"/>
          <p:cNvSpPr/>
          <p:nvPr/>
        </p:nvSpPr>
        <p:spPr>
          <a:xfrm>
            <a:off x="4142232" y="1005840"/>
            <a:ext cx="1664208" cy="475488"/>
          </a:xfrm>
          <a:prstGeom prst="rect">
            <a:avLst/>
          </a:prstGeom>
          <a:noFill/>
          <a:ln/>
        </p:spPr>
        <p:txBody>
          <a:bodyPr wrap="square" lIns="0" tIns="0" rIns="0" bIns="0" rtlCol="0" anchor="ctr"/>
          <a:lstStyle/>
          <a:p>
            <a:pPr algn="ctr" indent="0" marL="0">
              <a:buNone/>
            </a:pPr>
            <a:r>
              <a:rPr lang="en-US" sz="900" b="1" dirty="0">
                <a:solidFill>
                  <a:srgbClr val="1A47B8"/>
                </a:solidFill>
                <a:latin typeface="Calibri" pitchFamily="34" charset="0"/>
                <a:ea typeface="Calibri" pitchFamily="34" charset="-122"/>
                <a:cs typeface="Calibri" pitchFamily="34" charset="-120"/>
              </a:rPr>
              <a:t>Microservicios</a:t>
            </a:r>
            <a:endParaRPr lang="en-US" sz="900" dirty="0"/>
          </a:p>
          <a:p>
            <a:pPr algn="ctr" indent="0" marL="0">
              <a:buNone/>
            </a:pPr>
            <a:r>
              <a:rPr lang="en-US" sz="900" b="1" dirty="0">
                <a:solidFill>
                  <a:srgbClr val="1A47B8"/>
                </a:solidFill>
                <a:latin typeface="Calibri" pitchFamily="34" charset="0"/>
                <a:ea typeface="Calibri" pitchFamily="34" charset="-122"/>
                <a:cs typeface="Calibri" pitchFamily="34" charset="-120"/>
              </a:rPr>
              <a:t>de IA (ACA)</a:t>
            </a:r>
            <a:endParaRPr lang="en-US" sz="900" dirty="0"/>
          </a:p>
        </p:txBody>
      </p:sp>
      <p:sp>
        <p:nvSpPr>
          <p:cNvPr id="27" name="Shape 25"/>
          <p:cNvSpPr/>
          <p:nvPr/>
        </p:nvSpPr>
        <p:spPr>
          <a:xfrm>
            <a:off x="4187952" y="1527048"/>
            <a:ext cx="1572768" cy="1540764"/>
          </a:xfrm>
          <a:prstGeom prst="rect">
            <a:avLst/>
          </a:prstGeom>
          <a:solidFill>
            <a:srgbClr val="1A47B8"/>
          </a:solidFill>
          <a:ln w="12700">
            <a:solidFill>
              <a:srgbClr val="1A47B8"/>
            </a:solidFill>
            <a:prstDash val="solid"/>
          </a:ln>
          <a:effectLst>
            <a:outerShdw sx="100000" sy="100000" kx="0" ky="0" algn="bl" rotWithShape="0" blurRad="101600" dist="25400" dir="8100000">
              <a:srgbClr val="000000">
                <a:alpha val="12000"/>
              </a:srgbClr>
            </a:outerShdw>
          </a:effectLst>
        </p:spPr>
      </p:sp>
      <p:sp>
        <p:nvSpPr>
          <p:cNvPr id="28" name="Text 26"/>
          <p:cNvSpPr/>
          <p:nvPr/>
        </p:nvSpPr>
        <p:spPr>
          <a:xfrm>
            <a:off x="4187952" y="1527048"/>
            <a:ext cx="1572768" cy="1540764"/>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 Agent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Service</a:t>
            </a:r>
            <a:endParaRPr lang="en-US" sz="850" dirty="0"/>
          </a:p>
        </p:txBody>
      </p:sp>
      <p:sp>
        <p:nvSpPr>
          <p:cNvPr id="29" name="Shape 27"/>
          <p:cNvSpPr/>
          <p:nvPr/>
        </p:nvSpPr>
        <p:spPr>
          <a:xfrm>
            <a:off x="4187952" y="3159252"/>
            <a:ext cx="1572768" cy="1540764"/>
          </a:xfrm>
          <a:prstGeom prst="rect">
            <a:avLst/>
          </a:prstGeom>
          <a:solidFill>
            <a:srgbClr val="1A47B8"/>
          </a:solidFill>
          <a:ln w="12700">
            <a:solidFill>
              <a:srgbClr val="1A47B8"/>
            </a:solidFill>
            <a:prstDash val="solid"/>
          </a:ln>
          <a:effectLst>
            <a:outerShdw sx="100000" sy="100000" kx="0" ky="0" algn="bl" rotWithShape="0" blurRad="101600" dist="25400" dir="8100000">
              <a:srgbClr val="000000">
                <a:alpha val="12000"/>
              </a:srgbClr>
            </a:outerShdw>
          </a:effectLst>
        </p:spPr>
      </p:sp>
      <p:sp>
        <p:nvSpPr>
          <p:cNvPr id="30" name="Text 28"/>
          <p:cNvSpPr/>
          <p:nvPr/>
        </p:nvSpPr>
        <p:spPr>
          <a:xfrm>
            <a:off x="4187952" y="3159252"/>
            <a:ext cx="1572768" cy="1540764"/>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 Segmentation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Service</a:t>
            </a:r>
            <a:endParaRPr lang="en-US" sz="850" dirty="0"/>
          </a:p>
        </p:txBody>
      </p:sp>
      <p:sp>
        <p:nvSpPr>
          <p:cNvPr id="31" name="Shape 29"/>
          <p:cNvSpPr/>
          <p:nvPr/>
        </p:nvSpPr>
        <p:spPr>
          <a:xfrm>
            <a:off x="6016752" y="960120"/>
            <a:ext cx="1572768" cy="3858768"/>
          </a:xfrm>
          <a:prstGeom prst="rect">
            <a:avLst/>
          </a:prstGeom>
          <a:solidFill>
            <a:srgbClr val="1A7A4A">
              <a:alpha val="12000"/>
            </a:srgbClr>
          </a:solidFill>
          <a:ln w="19050">
            <a:solidFill>
              <a:srgbClr val="1A7A4A"/>
            </a:solidFill>
            <a:prstDash val="solid"/>
          </a:ln>
          <a:effectLst>
            <a:outerShdw sx="100000" sy="100000" kx="0" ky="0" algn="bl" rotWithShape="0" blurRad="101600" dist="25400" dir="8100000">
              <a:srgbClr val="000000">
                <a:alpha val="12000"/>
              </a:srgbClr>
            </a:outerShdw>
          </a:effectLst>
        </p:spPr>
      </p:sp>
      <p:sp>
        <p:nvSpPr>
          <p:cNvPr id="32" name="Text 30"/>
          <p:cNvSpPr/>
          <p:nvPr/>
        </p:nvSpPr>
        <p:spPr>
          <a:xfrm>
            <a:off x="6062472" y="1005840"/>
            <a:ext cx="1481328" cy="475488"/>
          </a:xfrm>
          <a:prstGeom prst="rect">
            <a:avLst/>
          </a:prstGeom>
          <a:noFill/>
          <a:ln/>
        </p:spPr>
        <p:txBody>
          <a:bodyPr wrap="square" lIns="0" tIns="0" rIns="0" bIns="0" rtlCol="0" anchor="ctr"/>
          <a:lstStyle/>
          <a:p>
            <a:pPr algn="ctr" indent="0" marL="0">
              <a:buNone/>
            </a:pPr>
            <a:r>
              <a:rPr lang="en-US" sz="900" b="1" dirty="0">
                <a:solidFill>
                  <a:srgbClr val="1A7A4A"/>
                </a:solidFill>
                <a:latin typeface="Calibri" pitchFamily="34" charset="0"/>
                <a:ea typeface="Calibri" pitchFamily="34" charset="-122"/>
                <a:cs typeface="Calibri" pitchFamily="34" charset="-120"/>
              </a:rPr>
              <a:t>Capa de</a:t>
            </a:r>
            <a:endParaRPr lang="en-US" sz="900" dirty="0"/>
          </a:p>
          <a:p>
            <a:pPr algn="ctr" indent="0" marL="0">
              <a:buNone/>
            </a:pPr>
            <a:r>
              <a:rPr lang="en-US" sz="900" b="1" dirty="0">
                <a:solidFill>
                  <a:srgbClr val="1A7A4A"/>
                </a:solidFill>
                <a:latin typeface="Calibri" pitchFamily="34" charset="0"/>
                <a:ea typeface="Calibri" pitchFamily="34" charset="-122"/>
                <a:cs typeface="Calibri" pitchFamily="34" charset="-120"/>
              </a:rPr>
              <a:t>Datos</a:t>
            </a:r>
            <a:endParaRPr lang="en-US" sz="900" dirty="0"/>
          </a:p>
        </p:txBody>
      </p:sp>
      <p:sp>
        <p:nvSpPr>
          <p:cNvPr id="33" name="Shape 31"/>
          <p:cNvSpPr/>
          <p:nvPr/>
        </p:nvSpPr>
        <p:spPr>
          <a:xfrm>
            <a:off x="6108192" y="1527048"/>
            <a:ext cx="1389888" cy="996696"/>
          </a:xfrm>
          <a:prstGeom prst="rect">
            <a:avLst/>
          </a:prstGeom>
          <a:solidFill>
            <a:srgbClr val="1A7A4A"/>
          </a:solidFill>
          <a:ln w="12700">
            <a:solidFill>
              <a:srgbClr val="1A7A4A"/>
            </a:solidFill>
            <a:prstDash val="solid"/>
          </a:ln>
          <a:effectLst>
            <a:outerShdw sx="100000" sy="100000" kx="0" ky="0" algn="bl" rotWithShape="0" blurRad="101600" dist="25400" dir="8100000">
              <a:srgbClr val="000000">
                <a:alpha val="12000"/>
              </a:srgbClr>
            </a:outerShdw>
          </a:effectLst>
        </p:spPr>
      </p:sp>
      <p:sp>
        <p:nvSpPr>
          <p:cNvPr id="34" name="Text 32"/>
          <p:cNvSpPr/>
          <p:nvPr/>
        </p:nvSpPr>
        <p:spPr>
          <a:xfrm>
            <a:off x="6108192" y="1527048"/>
            <a:ext cx="1389888" cy="996696"/>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PostgreSQL</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Flexible</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(HA Zone)</a:t>
            </a:r>
            <a:endParaRPr lang="en-US" sz="850" dirty="0"/>
          </a:p>
        </p:txBody>
      </p:sp>
      <p:sp>
        <p:nvSpPr>
          <p:cNvPr id="35" name="Shape 33"/>
          <p:cNvSpPr/>
          <p:nvPr/>
        </p:nvSpPr>
        <p:spPr>
          <a:xfrm>
            <a:off x="6108192" y="2615184"/>
            <a:ext cx="1389888" cy="996696"/>
          </a:xfrm>
          <a:prstGeom prst="rect">
            <a:avLst/>
          </a:prstGeom>
          <a:solidFill>
            <a:srgbClr val="1A7A4A"/>
          </a:solidFill>
          <a:ln w="12700">
            <a:solidFill>
              <a:srgbClr val="1A7A4A"/>
            </a:solidFill>
            <a:prstDash val="solid"/>
          </a:ln>
          <a:effectLst>
            <a:outerShdw sx="100000" sy="100000" kx="0" ky="0" algn="bl" rotWithShape="0" blurRad="101600" dist="25400" dir="8100000">
              <a:srgbClr val="000000">
                <a:alpha val="12000"/>
              </a:srgbClr>
            </a:outerShdw>
          </a:effectLst>
        </p:spPr>
      </p:sp>
      <p:sp>
        <p:nvSpPr>
          <p:cNvPr id="36" name="Text 34"/>
          <p:cNvSpPr/>
          <p:nvPr/>
        </p:nvSpPr>
        <p:spPr>
          <a:xfrm>
            <a:off x="6108192" y="2615184"/>
            <a:ext cx="1389888" cy="996696"/>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Cosmos DB</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(Gremlin)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GraphRAG</a:t>
            </a:r>
            <a:endParaRPr lang="en-US" sz="850" dirty="0"/>
          </a:p>
        </p:txBody>
      </p:sp>
      <p:sp>
        <p:nvSpPr>
          <p:cNvPr id="37" name="Shape 35"/>
          <p:cNvSpPr/>
          <p:nvPr/>
        </p:nvSpPr>
        <p:spPr>
          <a:xfrm>
            <a:off x="6108192" y="3703320"/>
            <a:ext cx="1389888" cy="996696"/>
          </a:xfrm>
          <a:prstGeom prst="rect">
            <a:avLst/>
          </a:prstGeom>
          <a:solidFill>
            <a:srgbClr val="1A7A4A"/>
          </a:solidFill>
          <a:ln w="12700">
            <a:solidFill>
              <a:srgbClr val="1A7A4A"/>
            </a:solidFill>
            <a:prstDash val="solid"/>
          </a:ln>
          <a:effectLst>
            <a:outerShdw sx="100000" sy="100000" kx="0" ky="0" algn="bl" rotWithShape="0" blurRad="101600" dist="25400" dir="8100000">
              <a:srgbClr val="000000">
                <a:alpha val="12000"/>
              </a:srgbClr>
            </a:outerShdw>
          </a:effectLst>
        </p:spPr>
      </p:sp>
      <p:sp>
        <p:nvSpPr>
          <p:cNvPr id="38" name="Text 36"/>
          <p:cNvSpPr/>
          <p:nvPr/>
        </p:nvSpPr>
        <p:spPr>
          <a:xfrm>
            <a:off x="6108192" y="3703320"/>
            <a:ext cx="1389888" cy="996696"/>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Redis</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Cache</a:t>
            </a:r>
            <a:endParaRPr lang="en-US" sz="850" dirty="0"/>
          </a:p>
        </p:txBody>
      </p:sp>
      <p:sp>
        <p:nvSpPr>
          <p:cNvPr id="39" name="Shape 37"/>
          <p:cNvSpPr/>
          <p:nvPr/>
        </p:nvSpPr>
        <p:spPr>
          <a:xfrm>
            <a:off x="7754112" y="960120"/>
            <a:ext cx="1005840" cy="3858768"/>
          </a:xfrm>
          <a:prstGeom prst="rect">
            <a:avLst/>
          </a:prstGeom>
          <a:solidFill>
            <a:srgbClr val="885500">
              <a:alpha val="12000"/>
            </a:srgbClr>
          </a:solidFill>
          <a:ln w="19050">
            <a:solidFill>
              <a:srgbClr val="885500"/>
            </a:solidFill>
            <a:prstDash val="solid"/>
          </a:ln>
          <a:effectLst>
            <a:outerShdw sx="100000" sy="100000" kx="0" ky="0" algn="bl" rotWithShape="0" blurRad="101600" dist="25400" dir="8100000">
              <a:srgbClr val="000000">
                <a:alpha val="12000"/>
              </a:srgbClr>
            </a:outerShdw>
          </a:effectLst>
        </p:spPr>
      </p:sp>
      <p:sp>
        <p:nvSpPr>
          <p:cNvPr id="40" name="Text 38"/>
          <p:cNvSpPr/>
          <p:nvPr/>
        </p:nvSpPr>
        <p:spPr>
          <a:xfrm>
            <a:off x="7799832" y="1005840"/>
            <a:ext cx="914400" cy="475488"/>
          </a:xfrm>
          <a:prstGeom prst="rect">
            <a:avLst/>
          </a:prstGeom>
          <a:noFill/>
          <a:ln/>
        </p:spPr>
        <p:txBody>
          <a:bodyPr wrap="square" lIns="0" tIns="0" rIns="0" bIns="0" rtlCol="0" anchor="ctr"/>
          <a:lstStyle/>
          <a:p>
            <a:pPr algn="ctr" indent="0" marL="0">
              <a:buNone/>
            </a:pPr>
            <a:r>
              <a:rPr lang="en-US" sz="900" b="1" dirty="0">
                <a:solidFill>
                  <a:srgbClr val="885500"/>
                </a:solidFill>
                <a:latin typeface="Calibri" pitchFamily="34" charset="0"/>
                <a:ea typeface="Calibri" pitchFamily="34" charset="-122"/>
                <a:cs typeface="Calibri" pitchFamily="34" charset="-120"/>
              </a:rPr>
              <a:t>CI/CD</a:t>
            </a:r>
            <a:endParaRPr lang="en-US" sz="900" dirty="0"/>
          </a:p>
          <a:p>
            <a:pPr algn="ctr" indent="0" marL="0">
              <a:buNone/>
            </a:pPr>
            <a:r>
              <a:rPr lang="en-US" sz="900" b="1" dirty="0">
                <a:solidFill>
                  <a:srgbClr val="885500"/>
                </a:solidFill>
                <a:latin typeface="Calibri" pitchFamily="34" charset="0"/>
                <a:ea typeface="Calibri" pitchFamily="34" charset="-122"/>
                <a:cs typeface="Calibri" pitchFamily="34" charset="-120"/>
              </a:rPr>
              <a:t>&amp; Ops</a:t>
            </a:r>
            <a:endParaRPr lang="en-US" sz="900" dirty="0"/>
          </a:p>
        </p:txBody>
      </p:sp>
      <p:sp>
        <p:nvSpPr>
          <p:cNvPr id="41" name="Shape 39"/>
          <p:cNvSpPr/>
          <p:nvPr/>
        </p:nvSpPr>
        <p:spPr>
          <a:xfrm>
            <a:off x="7845552" y="1527048"/>
            <a:ext cx="822960" cy="996696"/>
          </a:xfrm>
          <a:prstGeom prst="rect">
            <a:avLst/>
          </a:prstGeom>
          <a:solidFill>
            <a:srgbClr val="885500"/>
          </a:solidFill>
          <a:ln w="12700">
            <a:solidFill>
              <a:srgbClr val="885500"/>
            </a:solidFill>
            <a:prstDash val="solid"/>
          </a:ln>
          <a:effectLst>
            <a:outerShdw sx="100000" sy="100000" kx="0" ky="0" algn="bl" rotWithShape="0" blurRad="101600" dist="25400" dir="8100000">
              <a:srgbClr val="000000">
                <a:alpha val="12000"/>
              </a:srgbClr>
            </a:outerShdw>
          </a:effectLst>
        </p:spPr>
      </p:sp>
      <p:sp>
        <p:nvSpPr>
          <p:cNvPr id="42" name="Text 40"/>
          <p:cNvSpPr/>
          <p:nvPr/>
        </p:nvSpPr>
        <p:spPr>
          <a:xfrm>
            <a:off x="7845552" y="1527048"/>
            <a:ext cx="822960" cy="996696"/>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ACR</a:t>
            </a:r>
            <a:endParaRPr lang="en-US" sz="850" dirty="0"/>
          </a:p>
        </p:txBody>
      </p:sp>
      <p:sp>
        <p:nvSpPr>
          <p:cNvPr id="43" name="Shape 41"/>
          <p:cNvSpPr/>
          <p:nvPr/>
        </p:nvSpPr>
        <p:spPr>
          <a:xfrm>
            <a:off x="7845552" y="2615184"/>
            <a:ext cx="822960" cy="996696"/>
          </a:xfrm>
          <a:prstGeom prst="rect">
            <a:avLst/>
          </a:prstGeom>
          <a:solidFill>
            <a:srgbClr val="885500"/>
          </a:solidFill>
          <a:ln w="12700">
            <a:solidFill>
              <a:srgbClr val="885500"/>
            </a:solidFill>
            <a:prstDash val="solid"/>
          </a:ln>
          <a:effectLst>
            <a:outerShdw sx="100000" sy="100000" kx="0" ky="0" algn="bl" rotWithShape="0" blurRad="101600" dist="25400" dir="8100000">
              <a:srgbClr val="000000">
                <a:alpha val="12000"/>
              </a:srgbClr>
            </a:outerShdw>
          </a:effectLst>
        </p:spPr>
      </p:sp>
      <p:sp>
        <p:nvSpPr>
          <p:cNvPr id="44" name="Text 42"/>
          <p:cNvSpPr/>
          <p:nvPr/>
        </p:nvSpPr>
        <p:spPr>
          <a:xfrm>
            <a:off x="7845552" y="2615184"/>
            <a:ext cx="822960" cy="996696"/>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GitHub</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Actions</a:t>
            </a:r>
            <a:endParaRPr lang="en-US" sz="850" dirty="0"/>
          </a:p>
        </p:txBody>
      </p:sp>
      <p:sp>
        <p:nvSpPr>
          <p:cNvPr id="45" name="Shape 43"/>
          <p:cNvSpPr/>
          <p:nvPr/>
        </p:nvSpPr>
        <p:spPr>
          <a:xfrm>
            <a:off x="7845552" y="3703320"/>
            <a:ext cx="822960" cy="996696"/>
          </a:xfrm>
          <a:prstGeom prst="rect">
            <a:avLst/>
          </a:prstGeom>
          <a:solidFill>
            <a:srgbClr val="885500"/>
          </a:solidFill>
          <a:ln w="12700">
            <a:solidFill>
              <a:srgbClr val="885500"/>
            </a:solidFill>
            <a:prstDash val="solid"/>
          </a:ln>
          <a:effectLst>
            <a:outerShdw sx="100000" sy="100000" kx="0" ky="0" algn="bl" rotWithShape="0" blurRad="101600" dist="25400" dir="8100000">
              <a:srgbClr val="000000">
                <a:alpha val="12000"/>
              </a:srgbClr>
            </a:outerShdw>
          </a:effectLst>
        </p:spPr>
      </p:sp>
      <p:sp>
        <p:nvSpPr>
          <p:cNvPr id="46" name="Text 44"/>
          <p:cNvSpPr/>
          <p:nvPr/>
        </p:nvSpPr>
        <p:spPr>
          <a:xfrm>
            <a:off x="7845552" y="3703320"/>
            <a:ext cx="822960" cy="996696"/>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Monitor</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 AppInsights</a:t>
            </a:r>
            <a:endParaRPr lang="en-US" sz="850" dirty="0"/>
          </a:p>
        </p:txBody>
      </p:sp>
      <p:sp>
        <p:nvSpPr>
          <p:cNvPr id="47" name="Shape 45"/>
          <p:cNvSpPr/>
          <p:nvPr/>
        </p:nvSpPr>
        <p:spPr>
          <a:xfrm>
            <a:off x="1828800" y="2889504"/>
            <a:ext cx="164592" cy="0"/>
          </a:xfrm>
          <a:prstGeom prst="line">
            <a:avLst/>
          </a:prstGeom>
          <a:noFill/>
          <a:ln w="19050">
            <a:solidFill>
              <a:srgbClr val="003399"/>
            </a:solidFill>
            <a:prstDash val="solid"/>
            <a:tailEnd type="arrow"/>
          </a:ln>
        </p:spPr>
      </p:sp>
      <p:sp>
        <p:nvSpPr>
          <p:cNvPr id="48" name="Shape 46"/>
          <p:cNvSpPr/>
          <p:nvPr/>
        </p:nvSpPr>
        <p:spPr>
          <a:xfrm>
            <a:off x="3931920" y="2889504"/>
            <a:ext cx="164592" cy="0"/>
          </a:xfrm>
          <a:prstGeom prst="line">
            <a:avLst/>
          </a:prstGeom>
          <a:noFill/>
          <a:ln w="19050">
            <a:solidFill>
              <a:srgbClr val="6600FF"/>
            </a:solidFill>
            <a:prstDash val="solid"/>
            <a:tailEnd type="arrow"/>
          </a:ln>
        </p:spPr>
      </p:sp>
      <p:sp>
        <p:nvSpPr>
          <p:cNvPr id="49" name="Shape 47"/>
          <p:cNvSpPr/>
          <p:nvPr/>
        </p:nvSpPr>
        <p:spPr>
          <a:xfrm>
            <a:off x="5852160" y="2889504"/>
            <a:ext cx="164592" cy="0"/>
          </a:xfrm>
          <a:prstGeom prst="line">
            <a:avLst/>
          </a:prstGeom>
          <a:noFill/>
          <a:ln w="19050">
            <a:solidFill>
              <a:srgbClr val="1A47B8"/>
            </a:solidFill>
            <a:prstDash val="solid"/>
            <a:tailEnd type="arrow"/>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47472" y="182880"/>
            <a:ext cx="82296" cy="676656"/>
          </a:xfrm>
          <a:prstGeom prst="rect">
            <a:avLst/>
          </a:prstGeom>
          <a:solidFill>
            <a:srgbClr val="E6192E"/>
          </a:solidFill>
          <a:ln w="12700">
            <a:solidFill>
              <a:srgbClr val="E6192E"/>
            </a:solidFill>
            <a:prstDash val="solid"/>
          </a:ln>
        </p:spPr>
      </p:sp>
      <p:sp>
        <p:nvSpPr>
          <p:cNvPr id="3" name="Text 1"/>
          <p:cNvSpPr/>
          <p:nvPr/>
        </p:nvSpPr>
        <p:spPr>
          <a:xfrm>
            <a:off x="548640" y="182880"/>
            <a:ext cx="8229600" cy="676656"/>
          </a:xfrm>
          <a:prstGeom prst="rect">
            <a:avLst/>
          </a:prstGeom>
          <a:noFill/>
          <a:ln/>
        </p:spPr>
        <p:txBody>
          <a:bodyPr wrap="square" lIns="0" tIns="0" rIns="0" bIns="0" rtlCol="0" anchor="ctr"/>
          <a:lstStyle/>
          <a:p>
            <a:pPr algn="l" indent="0" marL="0">
              <a:buNone/>
            </a:pPr>
            <a:r>
              <a:rPr lang="en-US" sz="2200" b="1" dirty="0">
                <a:solidFill>
                  <a:srgbClr val="003399"/>
                </a:solidFill>
                <a:latin typeface="Calibri" pitchFamily="34" charset="0"/>
                <a:ea typeface="Calibri" pitchFamily="34" charset="-122"/>
                <a:cs typeface="Calibri" pitchFamily="34" charset="-120"/>
              </a:rPr>
              <a:t>GraphRAG + Base de Datos de Grafos — Evolución del Agente IA</a:t>
            </a:r>
            <a:endParaRPr lang="en-US" sz="2200" dirty="0"/>
          </a:p>
        </p:txBody>
      </p:sp>
      <p:sp>
        <p:nvSpPr>
          <p:cNvPr id="4" name="Shape 2"/>
          <p:cNvSpPr/>
          <p:nvPr/>
        </p:nvSpPr>
        <p:spPr>
          <a:xfrm>
            <a:off x="347472" y="4901184"/>
            <a:ext cx="8449056" cy="0"/>
          </a:xfrm>
          <a:prstGeom prst="line">
            <a:avLst/>
          </a:prstGeom>
          <a:noFill/>
          <a:ln w="19050">
            <a:solidFill>
              <a:srgbClr val="003399">
                <a:alpha val="25000"/>
              </a:srgbClr>
            </a:solidFill>
            <a:prstDash val="solid"/>
          </a:ln>
        </p:spPr>
      </p:sp>
      <p:sp>
        <p:nvSpPr>
          <p:cNvPr id="5" name="Text 3"/>
          <p:cNvSpPr/>
          <p:nvPr/>
        </p:nvSpPr>
        <p:spPr>
          <a:xfrm>
            <a:off x="384048" y="914400"/>
            <a:ext cx="8412480" cy="384048"/>
          </a:xfrm>
          <a:prstGeom prst="rect">
            <a:avLst/>
          </a:prstGeom>
          <a:noFill/>
          <a:ln/>
        </p:spPr>
        <p:txBody>
          <a:bodyPr wrap="square" lIns="0" tIns="0" rIns="0" bIns="0" rtlCol="0" anchor="ctr"/>
          <a:lstStyle/>
          <a:p>
            <a:pPr algn="l" indent="0" marL="0">
              <a:buNone/>
            </a:pPr>
            <a:r>
              <a:rPr lang="en-US" sz="1100" dirty="0">
                <a:solidFill>
                  <a:srgbClr val="555555"/>
                </a:solidFill>
                <a:latin typeface="Calibri" pitchFamily="34" charset="0"/>
                <a:ea typeface="Calibri" pitchFamily="34" charset="-122"/>
                <a:cs typeface="Calibri" pitchFamily="34" charset="-120"/>
              </a:rPr>
              <a:t>El Agente Analista actualmente ejecuta 6 llamadas Tavily por consulta (8–15 s). GraphRAG sobre Cosmos DB (Gremlin) transforma esta arquitectura:</a:t>
            </a:r>
            <a:endParaRPr lang="en-US" sz="1100" dirty="0"/>
          </a:p>
        </p:txBody>
      </p:sp>
      <p:sp>
        <p:nvSpPr>
          <p:cNvPr id="6" name="Shape 4"/>
          <p:cNvSpPr/>
          <p:nvPr/>
        </p:nvSpPr>
        <p:spPr>
          <a:xfrm>
            <a:off x="347472" y="1389888"/>
            <a:ext cx="2212848" cy="347472"/>
          </a:xfrm>
          <a:prstGeom prst="rect">
            <a:avLst/>
          </a:prstGeom>
          <a:solidFill>
            <a:srgbClr val="1A1A1A"/>
          </a:solidFill>
          <a:ln w="12700">
            <a:solidFill>
              <a:srgbClr val="1A1A1A"/>
            </a:solidFill>
            <a:prstDash val="solid"/>
          </a:ln>
        </p:spPr>
      </p:sp>
      <p:sp>
        <p:nvSpPr>
          <p:cNvPr id="7" name="Text 5"/>
          <p:cNvSpPr/>
          <p:nvPr/>
        </p:nvSpPr>
        <p:spPr>
          <a:xfrm>
            <a:off x="420624" y="1389888"/>
            <a:ext cx="2066544" cy="347472"/>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Dimensión</a:t>
            </a:r>
            <a:endParaRPr lang="en-US" sz="1050" dirty="0"/>
          </a:p>
        </p:txBody>
      </p:sp>
      <p:sp>
        <p:nvSpPr>
          <p:cNvPr id="8" name="Shape 6"/>
          <p:cNvSpPr/>
          <p:nvPr/>
        </p:nvSpPr>
        <p:spPr>
          <a:xfrm>
            <a:off x="2651760" y="1389888"/>
            <a:ext cx="3200400" cy="347472"/>
          </a:xfrm>
          <a:prstGeom prst="rect">
            <a:avLst/>
          </a:prstGeom>
          <a:solidFill>
            <a:srgbClr val="E6192E"/>
          </a:solidFill>
          <a:ln w="12700">
            <a:solidFill>
              <a:srgbClr val="E6192E"/>
            </a:solidFill>
            <a:prstDash val="solid"/>
          </a:ln>
        </p:spPr>
      </p:sp>
      <p:sp>
        <p:nvSpPr>
          <p:cNvPr id="9" name="Text 7"/>
          <p:cNvSpPr/>
          <p:nvPr/>
        </p:nvSpPr>
        <p:spPr>
          <a:xfrm>
            <a:off x="2724912" y="1389888"/>
            <a:ext cx="3054096" cy="347472"/>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Tavily Search (Actual)</a:t>
            </a:r>
            <a:endParaRPr lang="en-US" sz="1050" dirty="0"/>
          </a:p>
        </p:txBody>
      </p:sp>
      <p:sp>
        <p:nvSpPr>
          <p:cNvPr id="10" name="Shape 8"/>
          <p:cNvSpPr/>
          <p:nvPr/>
        </p:nvSpPr>
        <p:spPr>
          <a:xfrm>
            <a:off x="5961888" y="1389888"/>
            <a:ext cx="2834640" cy="347472"/>
          </a:xfrm>
          <a:prstGeom prst="rect">
            <a:avLst/>
          </a:prstGeom>
          <a:solidFill>
            <a:srgbClr val="1A7A4A"/>
          </a:solidFill>
          <a:ln w="12700">
            <a:solidFill>
              <a:srgbClr val="1A7A4A"/>
            </a:solidFill>
            <a:prstDash val="solid"/>
          </a:ln>
        </p:spPr>
      </p:sp>
      <p:sp>
        <p:nvSpPr>
          <p:cNvPr id="11" name="Text 9"/>
          <p:cNvSpPr/>
          <p:nvPr/>
        </p:nvSpPr>
        <p:spPr>
          <a:xfrm>
            <a:off x="6035040" y="1389888"/>
            <a:ext cx="2688336" cy="347472"/>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GraphRAG + Grafos (Futuro)</a:t>
            </a:r>
            <a:endParaRPr lang="en-US" sz="1050" dirty="0"/>
          </a:p>
        </p:txBody>
      </p:sp>
      <p:sp>
        <p:nvSpPr>
          <p:cNvPr id="12" name="Shape 10"/>
          <p:cNvSpPr/>
          <p:nvPr/>
        </p:nvSpPr>
        <p:spPr>
          <a:xfrm>
            <a:off x="347472" y="1783080"/>
            <a:ext cx="2212848" cy="438912"/>
          </a:xfrm>
          <a:prstGeom prst="rect">
            <a:avLst/>
          </a:prstGeom>
          <a:solidFill>
            <a:srgbClr val="EEF2FF"/>
          </a:solidFill>
          <a:ln w="6350">
            <a:solidFill>
              <a:srgbClr val="CCCCCC"/>
            </a:solidFill>
            <a:prstDash val="solid"/>
          </a:ln>
        </p:spPr>
      </p:sp>
      <p:sp>
        <p:nvSpPr>
          <p:cNvPr id="13" name="Shape 11"/>
          <p:cNvSpPr/>
          <p:nvPr/>
        </p:nvSpPr>
        <p:spPr>
          <a:xfrm>
            <a:off x="2651760" y="1783080"/>
            <a:ext cx="3200400" cy="438912"/>
          </a:xfrm>
          <a:prstGeom prst="rect">
            <a:avLst/>
          </a:prstGeom>
          <a:solidFill>
            <a:srgbClr val="EEF2FF"/>
          </a:solidFill>
          <a:ln w="6350">
            <a:solidFill>
              <a:srgbClr val="CCCCCC"/>
            </a:solidFill>
            <a:prstDash val="solid"/>
          </a:ln>
        </p:spPr>
      </p:sp>
      <p:sp>
        <p:nvSpPr>
          <p:cNvPr id="14" name="Shape 12"/>
          <p:cNvSpPr/>
          <p:nvPr/>
        </p:nvSpPr>
        <p:spPr>
          <a:xfrm>
            <a:off x="5961888" y="1783080"/>
            <a:ext cx="2834640" cy="438912"/>
          </a:xfrm>
          <a:prstGeom prst="rect">
            <a:avLst/>
          </a:prstGeom>
          <a:solidFill>
            <a:srgbClr val="EEF2FF"/>
          </a:solidFill>
          <a:ln w="6350">
            <a:solidFill>
              <a:srgbClr val="CCCCCC"/>
            </a:solidFill>
            <a:prstDash val="solid"/>
          </a:ln>
        </p:spPr>
      </p:sp>
      <p:sp>
        <p:nvSpPr>
          <p:cNvPr id="15" name="Text 13"/>
          <p:cNvSpPr/>
          <p:nvPr/>
        </p:nvSpPr>
        <p:spPr>
          <a:xfrm>
            <a:off x="420624" y="1810512"/>
            <a:ext cx="2066544" cy="384048"/>
          </a:xfrm>
          <a:prstGeom prst="rect">
            <a:avLst/>
          </a:prstGeom>
          <a:noFill/>
          <a:ln/>
        </p:spPr>
        <p:txBody>
          <a:bodyPr wrap="square" lIns="0" tIns="0" rIns="0" bIns="0" rtlCol="0" anchor="ctr"/>
          <a:lstStyle/>
          <a:p>
            <a:pPr algn="l" indent="0" marL="0">
              <a:buNone/>
            </a:pPr>
            <a:r>
              <a:rPr lang="en-US" sz="950" b="1" dirty="0">
                <a:solidFill>
                  <a:srgbClr val="1A1A1A"/>
                </a:solidFill>
                <a:latin typeface="Calibri" pitchFamily="34" charset="0"/>
                <a:ea typeface="Calibri" pitchFamily="34" charset="-122"/>
                <a:cs typeface="Calibri" pitchFamily="34" charset="-120"/>
              </a:rPr>
              <a:t>Relaciones multi-hop</a:t>
            </a:r>
            <a:endParaRPr lang="en-US" sz="950" dirty="0"/>
          </a:p>
        </p:txBody>
      </p:sp>
      <p:sp>
        <p:nvSpPr>
          <p:cNvPr id="16" name="Text 14"/>
          <p:cNvSpPr/>
          <p:nvPr/>
        </p:nvSpPr>
        <p:spPr>
          <a:xfrm>
            <a:off x="2724912" y="1810512"/>
            <a:ext cx="3054096" cy="384048"/>
          </a:xfrm>
          <a:prstGeom prst="rect">
            <a:avLst/>
          </a:prstGeom>
          <a:noFill/>
          <a:ln/>
        </p:spPr>
        <p:txBody>
          <a:bodyPr wrap="square" lIns="0" tIns="0" rIns="0" bIns="0" rtlCol="0" anchor="ctr"/>
          <a:lstStyle/>
          <a:p>
            <a:pPr algn="l" indent="0" marL="0">
              <a:buNone/>
            </a:pPr>
            <a:r>
              <a:rPr lang="en-US" sz="950" dirty="0">
                <a:solidFill>
                  <a:srgbClr val="E6192E"/>
                </a:solidFill>
                <a:latin typeface="Calibri" pitchFamily="34" charset="0"/>
                <a:ea typeface="Calibri" pitchFamily="34" charset="-122"/>
                <a:cs typeface="Calibri" pitchFamily="34" charset="-120"/>
              </a:rPr>
              <a:t>Requiere múltiples búsquedas y síntesis manual por el LLM</a:t>
            </a:r>
            <a:endParaRPr lang="en-US" sz="950" dirty="0"/>
          </a:p>
        </p:txBody>
      </p:sp>
      <p:sp>
        <p:nvSpPr>
          <p:cNvPr id="17" name="Text 15"/>
          <p:cNvSpPr/>
          <p:nvPr/>
        </p:nvSpPr>
        <p:spPr>
          <a:xfrm>
            <a:off x="6035040" y="1810512"/>
            <a:ext cx="2688336" cy="384048"/>
          </a:xfrm>
          <a:prstGeom prst="rect">
            <a:avLst/>
          </a:prstGeom>
          <a:noFill/>
          <a:ln/>
        </p:spPr>
        <p:txBody>
          <a:bodyPr wrap="square" lIns="0" tIns="0" rIns="0" bIns="0" rtlCol="0" anchor="ctr"/>
          <a:lstStyle/>
          <a:p>
            <a:pPr algn="l" indent="0" marL="0">
              <a:buNone/>
            </a:pPr>
            <a:r>
              <a:rPr lang="en-US" sz="950" dirty="0">
                <a:solidFill>
                  <a:srgbClr val="1A7A4A"/>
                </a:solidFill>
                <a:latin typeface="Calibri" pitchFamily="34" charset="0"/>
                <a:ea typeface="Calibri" pitchFamily="34" charset="-122"/>
                <a:cs typeface="Calibri" pitchFamily="34" charset="-120"/>
              </a:rPr>
              <a:t>El grafo las traviesa directamente (ej: equipos que X enfrentó que también jugaron contra Y)</a:t>
            </a:r>
            <a:endParaRPr lang="en-US" sz="950" dirty="0"/>
          </a:p>
        </p:txBody>
      </p:sp>
      <p:sp>
        <p:nvSpPr>
          <p:cNvPr id="18" name="Shape 16"/>
          <p:cNvSpPr/>
          <p:nvPr/>
        </p:nvSpPr>
        <p:spPr>
          <a:xfrm>
            <a:off x="347472" y="2258568"/>
            <a:ext cx="2212848" cy="438912"/>
          </a:xfrm>
          <a:prstGeom prst="rect">
            <a:avLst/>
          </a:prstGeom>
          <a:solidFill>
            <a:srgbClr val="FFFFFF"/>
          </a:solidFill>
          <a:ln w="6350">
            <a:solidFill>
              <a:srgbClr val="CCCCCC"/>
            </a:solidFill>
            <a:prstDash val="solid"/>
          </a:ln>
        </p:spPr>
      </p:sp>
      <p:sp>
        <p:nvSpPr>
          <p:cNvPr id="19" name="Shape 17"/>
          <p:cNvSpPr/>
          <p:nvPr/>
        </p:nvSpPr>
        <p:spPr>
          <a:xfrm>
            <a:off x="2651760" y="2258568"/>
            <a:ext cx="3200400" cy="438912"/>
          </a:xfrm>
          <a:prstGeom prst="rect">
            <a:avLst/>
          </a:prstGeom>
          <a:solidFill>
            <a:srgbClr val="FFFFFF"/>
          </a:solidFill>
          <a:ln w="6350">
            <a:solidFill>
              <a:srgbClr val="CCCCCC"/>
            </a:solidFill>
            <a:prstDash val="solid"/>
          </a:ln>
        </p:spPr>
      </p:sp>
      <p:sp>
        <p:nvSpPr>
          <p:cNvPr id="20" name="Shape 18"/>
          <p:cNvSpPr/>
          <p:nvPr/>
        </p:nvSpPr>
        <p:spPr>
          <a:xfrm>
            <a:off x="5961888" y="2258568"/>
            <a:ext cx="2834640" cy="438912"/>
          </a:xfrm>
          <a:prstGeom prst="rect">
            <a:avLst/>
          </a:prstGeom>
          <a:solidFill>
            <a:srgbClr val="FFFFFF"/>
          </a:solidFill>
          <a:ln w="6350">
            <a:solidFill>
              <a:srgbClr val="CCCCCC"/>
            </a:solidFill>
            <a:prstDash val="solid"/>
          </a:ln>
        </p:spPr>
      </p:sp>
      <p:sp>
        <p:nvSpPr>
          <p:cNvPr id="21" name="Text 19"/>
          <p:cNvSpPr/>
          <p:nvPr/>
        </p:nvSpPr>
        <p:spPr>
          <a:xfrm>
            <a:off x="420624" y="2286000"/>
            <a:ext cx="2066544" cy="384048"/>
          </a:xfrm>
          <a:prstGeom prst="rect">
            <a:avLst/>
          </a:prstGeom>
          <a:noFill/>
          <a:ln/>
        </p:spPr>
        <p:txBody>
          <a:bodyPr wrap="square" lIns="0" tIns="0" rIns="0" bIns="0" rtlCol="0" anchor="ctr"/>
          <a:lstStyle/>
          <a:p>
            <a:pPr algn="l" indent="0" marL="0">
              <a:buNone/>
            </a:pPr>
            <a:r>
              <a:rPr lang="en-US" sz="950" b="1" dirty="0">
                <a:solidFill>
                  <a:srgbClr val="1A1A1A"/>
                </a:solidFill>
                <a:latin typeface="Calibri" pitchFamily="34" charset="0"/>
                <a:ea typeface="Calibri" pitchFamily="34" charset="-122"/>
                <a:cs typeface="Calibri" pitchFamily="34" charset="-120"/>
              </a:rPr>
              <a:t>Latencia</a:t>
            </a:r>
            <a:endParaRPr lang="en-US" sz="950" dirty="0"/>
          </a:p>
        </p:txBody>
      </p:sp>
      <p:sp>
        <p:nvSpPr>
          <p:cNvPr id="22" name="Text 20"/>
          <p:cNvSpPr/>
          <p:nvPr/>
        </p:nvSpPr>
        <p:spPr>
          <a:xfrm>
            <a:off x="2724912" y="2286000"/>
            <a:ext cx="3054096" cy="384048"/>
          </a:xfrm>
          <a:prstGeom prst="rect">
            <a:avLst/>
          </a:prstGeom>
          <a:noFill/>
          <a:ln/>
        </p:spPr>
        <p:txBody>
          <a:bodyPr wrap="square" lIns="0" tIns="0" rIns="0" bIns="0" rtlCol="0" anchor="ctr"/>
          <a:lstStyle/>
          <a:p>
            <a:pPr algn="l" indent="0" marL="0">
              <a:buNone/>
            </a:pPr>
            <a:r>
              <a:rPr lang="en-US" sz="950" dirty="0">
                <a:solidFill>
                  <a:srgbClr val="E6192E"/>
                </a:solidFill>
                <a:latin typeface="Calibri" pitchFamily="34" charset="0"/>
                <a:ea typeface="Calibri" pitchFamily="34" charset="-122"/>
                <a:cs typeface="Calibri" pitchFamily="34" charset="-120"/>
              </a:rPr>
              <a:t>8–15 s (6 llamadas a APIs externas por consulta)</a:t>
            </a:r>
            <a:endParaRPr lang="en-US" sz="950" dirty="0"/>
          </a:p>
        </p:txBody>
      </p:sp>
      <p:sp>
        <p:nvSpPr>
          <p:cNvPr id="23" name="Text 21"/>
          <p:cNvSpPr/>
          <p:nvPr/>
        </p:nvSpPr>
        <p:spPr>
          <a:xfrm>
            <a:off x="6035040" y="2286000"/>
            <a:ext cx="2688336" cy="384048"/>
          </a:xfrm>
          <a:prstGeom prst="rect">
            <a:avLst/>
          </a:prstGeom>
          <a:noFill/>
          <a:ln/>
        </p:spPr>
        <p:txBody>
          <a:bodyPr wrap="square" lIns="0" tIns="0" rIns="0" bIns="0" rtlCol="0" anchor="ctr"/>
          <a:lstStyle/>
          <a:p>
            <a:pPr algn="l" indent="0" marL="0">
              <a:buNone/>
            </a:pPr>
            <a:r>
              <a:rPr lang="en-US" sz="950" dirty="0">
                <a:solidFill>
                  <a:srgbClr val="1A7A4A"/>
                </a:solidFill>
                <a:latin typeface="Calibri" pitchFamily="34" charset="0"/>
                <a:ea typeface="Calibri" pitchFamily="34" charset="-122"/>
                <a:cs typeface="Calibri" pitchFamily="34" charset="-120"/>
              </a:rPr>
              <a:t>&lt; 1 s (consulta local sobre grafo indexado)</a:t>
            </a:r>
            <a:endParaRPr lang="en-US" sz="950" dirty="0"/>
          </a:p>
        </p:txBody>
      </p:sp>
      <p:sp>
        <p:nvSpPr>
          <p:cNvPr id="24" name="Shape 22"/>
          <p:cNvSpPr/>
          <p:nvPr/>
        </p:nvSpPr>
        <p:spPr>
          <a:xfrm>
            <a:off x="347472" y="2734056"/>
            <a:ext cx="2212848" cy="438912"/>
          </a:xfrm>
          <a:prstGeom prst="rect">
            <a:avLst/>
          </a:prstGeom>
          <a:solidFill>
            <a:srgbClr val="EEF2FF"/>
          </a:solidFill>
          <a:ln w="6350">
            <a:solidFill>
              <a:srgbClr val="CCCCCC"/>
            </a:solidFill>
            <a:prstDash val="solid"/>
          </a:ln>
        </p:spPr>
      </p:sp>
      <p:sp>
        <p:nvSpPr>
          <p:cNvPr id="25" name="Shape 23"/>
          <p:cNvSpPr/>
          <p:nvPr/>
        </p:nvSpPr>
        <p:spPr>
          <a:xfrm>
            <a:off x="2651760" y="2734056"/>
            <a:ext cx="3200400" cy="438912"/>
          </a:xfrm>
          <a:prstGeom prst="rect">
            <a:avLst/>
          </a:prstGeom>
          <a:solidFill>
            <a:srgbClr val="EEF2FF"/>
          </a:solidFill>
          <a:ln w="6350">
            <a:solidFill>
              <a:srgbClr val="CCCCCC"/>
            </a:solidFill>
            <a:prstDash val="solid"/>
          </a:ln>
        </p:spPr>
      </p:sp>
      <p:sp>
        <p:nvSpPr>
          <p:cNvPr id="26" name="Shape 24"/>
          <p:cNvSpPr/>
          <p:nvPr/>
        </p:nvSpPr>
        <p:spPr>
          <a:xfrm>
            <a:off x="5961888" y="2734056"/>
            <a:ext cx="2834640" cy="438912"/>
          </a:xfrm>
          <a:prstGeom prst="rect">
            <a:avLst/>
          </a:prstGeom>
          <a:solidFill>
            <a:srgbClr val="EEF2FF"/>
          </a:solidFill>
          <a:ln w="6350">
            <a:solidFill>
              <a:srgbClr val="CCCCCC"/>
            </a:solidFill>
            <a:prstDash val="solid"/>
          </a:ln>
        </p:spPr>
      </p:sp>
      <p:sp>
        <p:nvSpPr>
          <p:cNvPr id="27" name="Text 25"/>
          <p:cNvSpPr/>
          <p:nvPr/>
        </p:nvSpPr>
        <p:spPr>
          <a:xfrm>
            <a:off x="420624" y="2761488"/>
            <a:ext cx="2066544" cy="384048"/>
          </a:xfrm>
          <a:prstGeom prst="rect">
            <a:avLst/>
          </a:prstGeom>
          <a:noFill/>
          <a:ln/>
        </p:spPr>
        <p:txBody>
          <a:bodyPr wrap="square" lIns="0" tIns="0" rIns="0" bIns="0" rtlCol="0" anchor="ctr"/>
          <a:lstStyle/>
          <a:p>
            <a:pPr algn="l" indent="0" marL="0">
              <a:buNone/>
            </a:pPr>
            <a:r>
              <a:rPr lang="en-US" sz="950" b="1" dirty="0">
                <a:solidFill>
                  <a:srgbClr val="1A1A1A"/>
                </a:solidFill>
                <a:latin typeface="Calibri" pitchFamily="34" charset="0"/>
                <a:ea typeface="Calibri" pitchFamily="34" charset="-122"/>
                <a:cs typeface="Calibri" pitchFamily="34" charset="-120"/>
              </a:rPr>
              <a:t>Contexto histórico</a:t>
            </a:r>
            <a:endParaRPr lang="en-US" sz="950" dirty="0"/>
          </a:p>
        </p:txBody>
      </p:sp>
      <p:sp>
        <p:nvSpPr>
          <p:cNvPr id="28" name="Text 26"/>
          <p:cNvSpPr/>
          <p:nvPr/>
        </p:nvSpPr>
        <p:spPr>
          <a:xfrm>
            <a:off x="2724912" y="2761488"/>
            <a:ext cx="3054096" cy="384048"/>
          </a:xfrm>
          <a:prstGeom prst="rect">
            <a:avLst/>
          </a:prstGeom>
          <a:noFill/>
          <a:ln/>
        </p:spPr>
        <p:txBody>
          <a:bodyPr wrap="square" lIns="0" tIns="0" rIns="0" bIns="0" rtlCol="0" anchor="ctr"/>
          <a:lstStyle/>
          <a:p>
            <a:pPr algn="l" indent="0" marL="0">
              <a:buNone/>
            </a:pPr>
            <a:r>
              <a:rPr lang="en-US" sz="950" dirty="0">
                <a:solidFill>
                  <a:srgbClr val="E6192E"/>
                </a:solidFill>
                <a:latin typeface="Calibri" pitchFamily="34" charset="0"/>
                <a:ea typeface="Calibri" pitchFamily="34" charset="-122"/>
                <a:cs typeface="Calibri" pitchFamily="34" charset="-120"/>
              </a:rPr>
              <a:t>Efímero — búsqueda nueva en cada consulta</a:t>
            </a:r>
            <a:endParaRPr lang="en-US" sz="950" dirty="0"/>
          </a:p>
        </p:txBody>
      </p:sp>
      <p:sp>
        <p:nvSpPr>
          <p:cNvPr id="29" name="Text 27"/>
          <p:cNvSpPr/>
          <p:nvPr/>
        </p:nvSpPr>
        <p:spPr>
          <a:xfrm>
            <a:off x="6035040" y="2761488"/>
            <a:ext cx="2688336" cy="384048"/>
          </a:xfrm>
          <a:prstGeom prst="rect">
            <a:avLst/>
          </a:prstGeom>
          <a:noFill/>
          <a:ln/>
        </p:spPr>
        <p:txBody>
          <a:bodyPr wrap="square" lIns="0" tIns="0" rIns="0" bIns="0" rtlCol="0" anchor="ctr"/>
          <a:lstStyle/>
          <a:p>
            <a:pPr algn="l" indent="0" marL="0">
              <a:buNone/>
            </a:pPr>
            <a:r>
              <a:rPr lang="en-US" sz="950" dirty="0">
                <a:solidFill>
                  <a:srgbClr val="1A7A4A"/>
                </a:solidFill>
                <a:latin typeface="Calibri" pitchFamily="34" charset="0"/>
                <a:ea typeface="Calibri" pitchFamily="34" charset="-122"/>
                <a:cs typeface="Calibri" pitchFamily="34" charset="-120"/>
              </a:rPr>
              <a:t>Persistente — el grafo almacena todos los torneos anteriores</a:t>
            </a:r>
            <a:endParaRPr lang="en-US" sz="950" dirty="0"/>
          </a:p>
        </p:txBody>
      </p:sp>
      <p:sp>
        <p:nvSpPr>
          <p:cNvPr id="30" name="Shape 28"/>
          <p:cNvSpPr/>
          <p:nvPr/>
        </p:nvSpPr>
        <p:spPr>
          <a:xfrm>
            <a:off x="347472" y="3209544"/>
            <a:ext cx="2212848" cy="438912"/>
          </a:xfrm>
          <a:prstGeom prst="rect">
            <a:avLst/>
          </a:prstGeom>
          <a:solidFill>
            <a:srgbClr val="FFFFFF"/>
          </a:solidFill>
          <a:ln w="6350">
            <a:solidFill>
              <a:srgbClr val="CCCCCC"/>
            </a:solidFill>
            <a:prstDash val="solid"/>
          </a:ln>
        </p:spPr>
      </p:sp>
      <p:sp>
        <p:nvSpPr>
          <p:cNvPr id="31" name="Shape 29"/>
          <p:cNvSpPr/>
          <p:nvPr/>
        </p:nvSpPr>
        <p:spPr>
          <a:xfrm>
            <a:off x="2651760" y="3209544"/>
            <a:ext cx="3200400" cy="438912"/>
          </a:xfrm>
          <a:prstGeom prst="rect">
            <a:avLst/>
          </a:prstGeom>
          <a:solidFill>
            <a:srgbClr val="FFFFFF"/>
          </a:solidFill>
          <a:ln w="6350">
            <a:solidFill>
              <a:srgbClr val="CCCCCC"/>
            </a:solidFill>
            <a:prstDash val="solid"/>
          </a:ln>
        </p:spPr>
      </p:sp>
      <p:sp>
        <p:nvSpPr>
          <p:cNvPr id="32" name="Shape 30"/>
          <p:cNvSpPr/>
          <p:nvPr/>
        </p:nvSpPr>
        <p:spPr>
          <a:xfrm>
            <a:off x="5961888" y="3209544"/>
            <a:ext cx="2834640" cy="438912"/>
          </a:xfrm>
          <a:prstGeom prst="rect">
            <a:avLst/>
          </a:prstGeom>
          <a:solidFill>
            <a:srgbClr val="FFFFFF"/>
          </a:solidFill>
          <a:ln w="6350">
            <a:solidFill>
              <a:srgbClr val="CCCCCC"/>
            </a:solidFill>
            <a:prstDash val="solid"/>
          </a:ln>
        </p:spPr>
      </p:sp>
      <p:sp>
        <p:nvSpPr>
          <p:cNvPr id="33" name="Text 31"/>
          <p:cNvSpPr/>
          <p:nvPr/>
        </p:nvSpPr>
        <p:spPr>
          <a:xfrm>
            <a:off x="420624" y="3236976"/>
            <a:ext cx="2066544" cy="384048"/>
          </a:xfrm>
          <a:prstGeom prst="rect">
            <a:avLst/>
          </a:prstGeom>
          <a:noFill/>
          <a:ln/>
        </p:spPr>
        <p:txBody>
          <a:bodyPr wrap="square" lIns="0" tIns="0" rIns="0" bIns="0" rtlCol="0" anchor="ctr"/>
          <a:lstStyle/>
          <a:p>
            <a:pPr algn="l" indent="0" marL="0">
              <a:buNone/>
            </a:pPr>
            <a:r>
              <a:rPr lang="en-US" sz="950" b="1" dirty="0">
                <a:solidFill>
                  <a:srgbClr val="1A1A1A"/>
                </a:solidFill>
                <a:latin typeface="Calibri" pitchFamily="34" charset="0"/>
                <a:ea typeface="Calibri" pitchFamily="34" charset="-122"/>
                <a:cs typeface="Calibri" pitchFamily="34" charset="-120"/>
              </a:rPr>
              <a:t>Costo operativo</a:t>
            </a:r>
            <a:endParaRPr lang="en-US" sz="950" dirty="0"/>
          </a:p>
        </p:txBody>
      </p:sp>
      <p:sp>
        <p:nvSpPr>
          <p:cNvPr id="34" name="Text 32"/>
          <p:cNvSpPr/>
          <p:nvPr/>
        </p:nvSpPr>
        <p:spPr>
          <a:xfrm>
            <a:off x="2724912" y="3236976"/>
            <a:ext cx="3054096" cy="384048"/>
          </a:xfrm>
          <a:prstGeom prst="rect">
            <a:avLst/>
          </a:prstGeom>
          <a:noFill/>
          <a:ln/>
        </p:spPr>
        <p:txBody>
          <a:bodyPr wrap="square" lIns="0" tIns="0" rIns="0" bIns="0" rtlCol="0" anchor="ctr"/>
          <a:lstStyle/>
          <a:p>
            <a:pPr algn="l" indent="0" marL="0">
              <a:buNone/>
            </a:pPr>
            <a:r>
              <a:rPr lang="en-US" sz="950" dirty="0">
                <a:solidFill>
                  <a:srgbClr val="E6192E"/>
                </a:solidFill>
                <a:latin typeface="Calibri" pitchFamily="34" charset="0"/>
                <a:ea typeface="Calibri" pitchFamily="34" charset="-122"/>
                <a:cs typeface="Calibri" pitchFamily="34" charset="-120"/>
              </a:rPr>
              <a:t>Crece linealmente con el volumen de consultas</a:t>
            </a:r>
            <a:endParaRPr lang="en-US" sz="950" dirty="0"/>
          </a:p>
        </p:txBody>
      </p:sp>
      <p:sp>
        <p:nvSpPr>
          <p:cNvPr id="35" name="Text 33"/>
          <p:cNvSpPr/>
          <p:nvPr/>
        </p:nvSpPr>
        <p:spPr>
          <a:xfrm>
            <a:off x="6035040" y="3236976"/>
            <a:ext cx="2688336" cy="384048"/>
          </a:xfrm>
          <a:prstGeom prst="rect">
            <a:avLst/>
          </a:prstGeom>
          <a:noFill/>
          <a:ln/>
        </p:spPr>
        <p:txBody>
          <a:bodyPr wrap="square" lIns="0" tIns="0" rIns="0" bIns="0" rtlCol="0" anchor="ctr"/>
          <a:lstStyle/>
          <a:p>
            <a:pPr algn="l" indent="0" marL="0">
              <a:buNone/>
            </a:pPr>
            <a:r>
              <a:rPr lang="en-US" sz="950" dirty="0">
                <a:solidFill>
                  <a:srgbClr val="1A7A4A"/>
                </a:solidFill>
                <a:latin typeface="Calibri" pitchFamily="34" charset="0"/>
                <a:ea typeface="Calibri" pitchFamily="34" charset="-122"/>
                <a:cs typeface="Calibri" pitchFamily="34" charset="-120"/>
              </a:rPr>
              <a:t>Fijo — el grafo se actualiza periódicamente, no en inferencia</a:t>
            </a:r>
            <a:endParaRPr lang="en-US" sz="950" dirty="0"/>
          </a:p>
        </p:txBody>
      </p:sp>
      <p:sp>
        <p:nvSpPr>
          <p:cNvPr id="36" name="Shape 34"/>
          <p:cNvSpPr/>
          <p:nvPr/>
        </p:nvSpPr>
        <p:spPr>
          <a:xfrm>
            <a:off x="347472" y="3685032"/>
            <a:ext cx="2212848" cy="438912"/>
          </a:xfrm>
          <a:prstGeom prst="rect">
            <a:avLst/>
          </a:prstGeom>
          <a:solidFill>
            <a:srgbClr val="EEF2FF"/>
          </a:solidFill>
          <a:ln w="6350">
            <a:solidFill>
              <a:srgbClr val="CCCCCC"/>
            </a:solidFill>
            <a:prstDash val="solid"/>
          </a:ln>
        </p:spPr>
      </p:sp>
      <p:sp>
        <p:nvSpPr>
          <p:cNvPr id="37" name="Shape 35"/>
          <p:cNvSpPr/>
          <p:nvPr/>
        </p:nvSpPr>
        <p:spPr>
          <a:xfrm>
            <a:off x="2651760" y="3685032"/>
            <a:ext cx="3200400" cy="438912"/>
          </a:xfrm>
          <a:prstGeom prst="rect">
            <a:avLst/>
          </a:prstGeom>
          <a:solidFill>
            <a:srgbClr val="EEF2FF"/>
          </a:solidFill>
          <a:ln w="6350">
            <a:solidFill>
              <a:srgbClr val="CCCCCC"/>
            </a:solidFill>
            <a:prstDash val="solid"/>
          </a:ln>
        </p:spPr>
      </p:sp>
      <p:sp>
        <p:nvSpPr>
          <p:cNvPr id="38" name="Shape 36"/>
          <p:cNvSpPr/>
          <p:nvPr/>
        </p:nvSpPr>
        <p:spPr>
          <a:xfrm>
            <a:off x="5961888" y="3685032"/>
            <a:ext cx="2834640" cy="438912"/>
          </a:xfrm>
          <a:prstGeom prst="rect">
            <a:avLst/>
          </a:prstGeom>
          <a:solidFill>
            <a:srgbClr val="EEF2FF"/>
          </a:solidFill>
          <a:ln w="6350">
            <a:solidFill>
              <a:srgbClr val="CCCCCC"/>
            </a:solidFill>
            <a:prstDash val="solid"/>
          </a:ln>
        </p:spPr>
      </p:sp>
      <p:sp>
        <p:nvSpPr>
          <p:cNvPr id="39" name="Text 37"/>
          <p:cNvSpPr/>
          <p:nvPr/>
        </p:nvSpPr>
        <p:spPr>
          <a:xfrm>
            <a:off x="420624" y="3712464"/>
            <a:ext cx="2066544" cy="384048"/>
          </a:xfrm>
          <a:prstGeom prst="rect">
            <a:avLst/>
          </a:prstGeom>
          <a:noFill/>
          <a:ln/>
        </p:spPr>
        <p:txBody>
          <a:bodyPr wrap="square" lIns="0" tIns="0" rIns="0" bIns="0" rtlCol="0" anchor="ctr"/>
          <a:lstStyle/>
          <a:p>
            <a:pPr algn="l" indent="0" marL="0">
              <a:buNone/>
            </a:pPr>
            <a:r>
              <a:rPr lang="en-US" sz="950" b="1" dirty="0">
                <a:solidFill>
                  <a:srgbClr val="1A1A1A"/>
                </a:solidFill>
                <a:latin typeface="Calibri" pitchFamily="34" charset="0"/>
                <a:ea typeface="Calibri" pitchFamily="34" charset="-122"/>
                <a:cs typeface="Calibri" pitchFamily="34" charset="-120"/>
              </a:rPr>
              <a:t>Coherencia semántica</a:t>
            </a:r>
            <a:endParaRPr lang="en-US" sz="950" dirty="0"/>
          </a:p>
        </p:txBody>
      </p:sp>
      <p:sp>
        <p:nvSpPr>
          <p:cNvPr id="40" name="Text 38"/>
          <p:cNvSpPr/>
          <p:nvPr/>
        </p:nvSpPr>
        <p:spPr>
          <a:xfrm>
            <a:off x="2724912" y="3712464"/>
            <a:ext cx="3054096" cy="384048"/>
          </a:xfrm>
          <a:prstGeom prst="rect">
            <a:avLst/>
          </a:prstGeom>
          <a:noFill/>
          <a:ln/>
        </p:spPr>
        <p:txBody>
          <a:bodyPr wrap="square" lIns="0" tIns="0" rIns="0" bIns="0" rtlCol="0" anchor="ctr"/>
          <a:lstStyle/>
          <a:p>
            <a:pPr algn="l" indent="0" marL="0">
              <a:buNone/>
            </a:pPr>
            <a:r>
              <a:rPr lang="en-US" sz="950" dirty="0">
                <a:solidFill>
                  <a:srgbClr val="E6192E"/>
                </a:solidFill>
                <a:latin typeface="Calibri" pitchFamily="34" charset="0"/>
                <a:ea typeface="Calibri" pitchFamily="34" charset="-122"/>
                <a:cs typeface="Calibri" pitchFamily="34" charset="-120"/>
              </a:rPr>
              <a:t>Dependiente de la calidad de los sitios indexados</a:t>
            </a:r>
            <a:endParaRPr lang="en-US" sz="950" dirty="0"/>
          </a:p>
        </p:txBody>
      </p:sp>
      <p:sp>
        <p:nvSpPr>
          <p:cNvPr id="41" name="Text 39"/>
          <p:cNvSpPr/>
          <p:nvPr/>
        </p:nvSpPr>
        <p:spPr>
          <a:xfrm>
            <a:off x="6035040" y="3712464"/>
            <a:ext cx="2688336" cy="384048"/>
          </a:xfrm>
          <a:prstGeom prst="rect">
            <a:avLst/>
          </a:prstGeom>
          <a:noFill/>
          <a:ln/>
        </p:spPr>
        <p:txBody>
          <a:bodyPr wrap="square" lIns="0" tIns="0" rIns="0" bIns="0" rtlCol="0" anchor="ctr"/>
          <a:lstStyle/>
          <a:p>
            <a:pPr algn="l" indent="0" marL="0">
              <a:buNone/>
            </a:pPr>
            <a:r>
              <a:rPr lang="en-US" sz="950" dirty="0">
                <a:solidFill>
                  <a:srgbClr val="1A7A4A"/>
                </a:solidFill>
                <a:latin typeface="Calibri" pitchFamily="34" charset="0"/>
                <a:ea typeface="Calibri" pitchFamily="34" charset="-122"/>
                <a:cs typeface="Calibri" pitchFamily="34" charset="-120"/>
              </a:rPr>
              <a:t>Controlada — nodos y aristas validados al ingestar los datos</a:t>
            </a:r>
            <a:endParaRPr lang="en-US" sz="950" dirty="0"/>
          </a:p>
        </p:txBody>
      </p:sp>
      <p:sp>
        <p:nvSpPr>
          <p:cNvPr id="42" name="Shape 40"/>
          <p:cNvSpPr/>
          <p:nvPr/>
        </p:nvSpPr>
        <p:spPr>
          <a:xfrm>
            <a:off x="347472" y="4251960"/>
            <a:ext cx="8430768" cy="548640"/>
          </a:xfrm>
          <a:prstGeom prst="rect">
            <a:avLst/>
          </a:prstGeom>
          <a:solidFill>
            <a:srgbClr val="F0FFB8"/>
          </a:solidFill>
          <a:ln w="19050">
            <a:solidFill>
              <a:srgbClr val="D1FF00"/>
            </a:solidFill>
            <a:prstDash val="solid"/>
          </a:ln>
        </p:spPr>
      </p:sp>
      <p:sp>
        <p:nvSpPr>
          <p:cNvPr id="43" name="Text 41"/>
          <p:cNvSpPr/>
          <p:nvPr/>
        </p:nvSpPr>
        <p:spPr>
          <a:xfrm>
            <a:off x="502920" y="4279392"/>
            <a:ext cx="1463040" cy="256032"/>
          </a:xfrm>
          <a:prstGeom prst="rect">
            <a:avLst/>
          </a:prstGeom>
          <a:noFill/>
          <a:ln/>
        </p:spPr>
        <p:txBody>
          <a:bodyPr wrap="square" lIns="0" tIns="0" rIns="0" bIns="0" rtlCol="0" anchor="ctr"/>
          <a:lstStyle/>
          <a:p>
            <a:pPr algn="l" indent="0" marL="0">
              <a:buNone/>
            </a:pPr>
            <a:r>
              <a:rPr lang="en-US" sz="1000" b="1" dirty="0">
                <a:solidFill>
                  <a:srgbClr val="1A1A1A"/>
                </a:solidFill>
                <a:latin typeface="Calibri" pitchFamily="34" charset="0"/>
                <a:ea typeface="Calibri" pitchFamily="34" charset="-122"/>
                <a:cs typeface="Calibri" pitchFamily="34" charset="-120"/>
              </a:rPr>
              <a:t>Stack propuesto: </a:t>
            </a:r>
            <a:endParaRPr lang="en-US" sz="1000" dirty="0"/>
          </a:p>
        </p:txBody>
      </p:sp>
      <p:sp>
        <p:nvSpPr>
          <p:cNvPr id="44" name="Text 42"/>
          <p:cNvSpPr/>
          <p:nvPr/>
        </p:nvSpPr>
        <p:spPr>
          <a:xfrm>
            <a:off x="502920" y="4535424"/>
            <a:ext cx="8229600" cy="228600"/>
          </a:xfrm>
          <a:prstGeom prst="rect">
            <a:avLst/>
          </a:prstGeom>
          <a:noFill/>
          <a:ln/>
        </p:spPr>
        <p:txBody>
          <a:bodyPr wrap="square" lIns="0" tIns="0" rIns="0" bIns="0" rtlCol="0" anchor="ctr"/>
          <a:lstStyle/>
          <a:p>
            <a:pPr algn="l" indent="0" marL="0">
              <a:buNone/>
            </a:pPr>
            <a:r>
              <a:rPr lang="en-US" sz="900" dirty="0">
                <a:solidFill>
                  <a:srgbClr val="555555"/>
                </a:solidFill>
                <a:latin typeface="Calibri" pitchFamily="34" charset="0"/>
                <a:ea typeface="Calibri" pitchFamily="34" charset="-122"/>
                <a:cs typeface="Calibri" pitchFamily="34" charset="-120"/>
              </a:rPr>
              <a:t>Azure Cosmos DB para Apache Gremlin (base de datos de grafos gestionada) · Microsoft GraphRAG (pipeline de indexación semántica) · Azure Container App Job (ingesta periódica por jornada del Mundial)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AI-Bank — Informe Ejecutivo</dc:title>
  <dc:subject>PptxGenJS Presentation</dc:subject>
  <dc:creator>TCS AI-Bank Team</dc:creator>
  <cp:lastModifiedBy>TCS AI-Bank Team</cp:lastModifiedBy>
  <cp:revision>1</cp:revision>
  <dcterms:created xsi:type="dcterms:W3CDTF">2026-04-09T03:48:22Z</dcterms:created>
  <dcterms:modified xsi:type="dcterms:W3CDTF">2026-04-09T03:48:22Z</dcterms:modified>
</cp:coreProperties>
</file>