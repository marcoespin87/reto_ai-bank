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Engagement %</c:v>
                </c:pt>
              </c:strCache>
            </c:strRef>
          </c:tx>
          <c:spPr>
            <a:solidFill>
              <a:srgbClr val="B2C5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D65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Banca
Sucursal</c:v>
                  </c:pt>
                  <c:pt idx="1">
                    <c:v>Banca
Digital</c:v>
                  </c:pt>
                  <c:pt idx="2">
                    <c:v>Apps
Fintech</c:v>
                  </c:pt>
                  <c:pt idx="3">
                    <c:v>Neobancos
Gamificados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</c:v>
                </c:pt>
                <c:pt idx="1">
                  <c:v>29</c:v>
                </c:pt>
                <c:pt idx="2">
                  <c:v>58</c:v>
                </c:pt>
                <c:pt idx="3">
                  <c:v>74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FFD65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8C90A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majorGridlines>
          <c:spPr>
            <a:ln w="6350" cap="flat">
              <a:solidFill>
                <a:srgbClr val="1f2a3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8C90A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01C2E"/>
        </a:solidFill>
        <a:ln>
          <a:noFill/>
        </a:ln>
        <a:effectLst/>
      </c:spPr>
    </c:plotArea>
    <c:plotVisOnly val="1"/>
    <c:dispBlanksAs val="span"/>
  </c:chart>
  <c:spPr>
    <a:solidFill>
      <a:srgbClr val="101C2E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3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2286000"/>
            <a:ext cx="4572000" cy="4572000"/>
          </a:xfrm>
          <a:prstGeom prst="ellipse">
            <a:avLst/>
          </a:prstGeom>
          <a:solidFill>
            <a:srgbClr val="B2C5FF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3200400"/>
            <a:ext cx="3657600" cy="3657600"/>
          </a:xfrm>
          <a:prstGeom prst="ellipse">
            <a:avLst/>
          </a:prstGeom>
          <a:solidFill>
            <a:srgbClr val="FFD65B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D65B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54864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8C90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 PREMIUM  —  RECOMPENSA PREMIUM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118872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B2C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AI-Bank mAiles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731520" y="19659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FFD6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Donde la Banca se Convierte en Juego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31520" y="274320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C90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Inteligente con Recompensas Personalizadas por IA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C90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el Mundial 2026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3520440"/>
            <a:ext cx="2286000" cy="22860"/>
          </a:xfrm>
          <a:prstGeom prst="rect">
            <a:avLst/>
          </a:prstGeom>
          <a:solidFill>
            <a:srgbClr val="FFD65B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374904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7E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TCS - Tata Consultancy Services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8C90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Abril 2026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FFD65B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3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01C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50392"/>
            <a:ext cx="9144000" cy="27432"/>
          </a:xfrm>
          <a:prstGeom prst="rect">
            <a:avLst/>
          </a:prstGeom>
          <a:solidFill>
            <a:srgbClr val="FFD65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2C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Banca Tradicional Tiene un Problema de $3.3 Trillones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5029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90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BANCA TRADICIONAL: CRISIS DE ENGAGEMENT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132320" y="1828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i="1" dirty="0">
                <a:solidFill>
                  <a:srgbClr val="FFD6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AI-Bank mAiles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01C2E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4828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C90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TCS Confidential | Reto Premium - Recompensa Premium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315200" y="482803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90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48640" y="10058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D6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"Los bancos estan perdiendo a la generacion mas rentable del futuro porque no hablan su idioma."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1554480"/>
            <a:ext cx="2011680" cy="1280160"/>
          </a:xfrm>
          <a:prstGeom prst="rect">
            <a:avLst/>
          </a:prstGeom>
          <a:solidFill>
            <a:srgbClr val="101C2E"/>
          </a:solidFill>
          <a:ln w="6350">
            <a:solidFill>
              <a:srgbClr val="1F2A3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85800" y="16459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2C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72%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685800" y="21488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7E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Millennials prefieren tech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7E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 banca tradicional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85800" y="256032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C90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Accenture 2024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2697480" y="1554480"/>
            <a:ext cx="2011680" cy="1280160"/>
          </a:xfrm>
          <a:prstGeom prst="rect">
            <a:avLst/>
          </a:prstGeom>
          <a:solidFill>
            <a:srgbClr val="101C2E"/>
          </a:solidFill>
          <a:ln w="6350">
            <a:solidFill>
              <a:srgbClr val="1F2A3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834640" y="16459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B4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68%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2834640" y="21488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7E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 Z abandona apps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7E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bancarias en 90 dias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834640" y="256032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C90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McKinsey 2024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548640" y="2971800"/>
            <a:ext cx="2011680" cy="1280160"/>
          </a:xfrm>
          <a:prstGeom prst="rect">
            <a:avLst/>
          </a:prstGeom>
          <a:solidFill>
            <a:srgbClr val="101C2E"/>
          </a:solidFill>
          <a:ln w="6350">
            <a:solidFill>
              <a:srgbClr val="1F2A3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85800" y="30632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29%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685800" y="35661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7E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 se consideran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7E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'altamente comprometidos'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85800" y="397764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C90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Gallup 2024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2697480" y="2971800"/>
            <a:ext cx="2011680" cy="1280160"/>
          </a:xfrm>
          <a:prstGeom prst="rect">
            <a:avLst/>
          </a:prstGeom>
          <a:solidFill>
            <a:srgbClr val="101C2E"/>
          </a:solidFill>
          <a:ln w="6350">
            <a:solidFill>
              <a:srgbClr val="1F2A3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2834640" y="30632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62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21%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2834640" y="35661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7E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anual promedio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7E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apps bancarias LATAM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834640" y="397764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C90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Finnovista 2024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4892040" y="1554480"/>
            <a:ext cx="3886200" cy="2971800"/>
          </a:xfrm>
          <a:prstGeom prst="rect">
            <a:avLst/>
          </a:prstGeom>
          <a:solidFill>
            <a:srgbClr val="101C2E"/>
          </a:solidFill>
          <a:ln w="6350">
            <a:solidFill>
              <a:srgbClr val="1F2A3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120640" y="169164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C90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POR TIPO DE APP</a:t>
            </a:r>
            <a:endParaRPr lang="en-US" sz="900" dirty="0"/>
          </a:p>
        </p:txBody>
      </p:sp>
      <p:graphicFrame>
        <p:nvGraphicFramePr>
          <p:cNvPr id="29" name="Chart 0" descr=""/>
          <p:cNvGraphicFramePr/>
          <p:nvPr/>
        </p:nvGraphicFramePr>
        <p:xfrm>
          <a:off x="5074920" y="1965960"/>
          <a:ext cx="356616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3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01C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50392"/>
            <a:ext cx="9144000" cy="27432"/>
          </a:xfrm>
          <a:prstGeom prst="rect">
            <a:avLst/>
          </a:prstGeom>
          <a:solidFill>
            <a:srgbClr val="FFD65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2C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Consecuencias del Desinteres: Lo Que Pierde AI-Bank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5029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90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PROBLEMATICA REAL: EL DESINTERES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132320" y="1828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i="1" dirty="0">
                <a:solidFill>
                  <a:srgbClr val="FFD6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AI-Bank mAiles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01C2E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4828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C90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TCS Confidential | Reto Premium - Recompensa Premium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315200" y="482803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90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48640" y="10058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D6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"Cada cliente desconectado no solo es un usuario perdido, es un ecosistema de productos cruzados que nunca se activa."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1508760"/>
            <a:ext cx="1965960" cy="2286000"/>
          </a:xfrm>
          <a:prstGeom prst="rect">
            <a:avLst/>
          </a:prstGeom>
          <a:solidFill>
            <a:srgbClr val="101C2E"/>
          </a:solidFill>
          <a:ln w="6350">
            <a:solidFill>
              <a:srgbClr val="1F2A3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48640" y="1508760"/>
            <a:ext cx="1965960" cy="36576"/>
          </a:xfrm>
          <a:prstGeom prst="rect">
            <a:avLst/>
          </a:prstGeom>
          <a:solidFill>
            <a:srgbClr val="FFB4AB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👻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85800" y="21488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7E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Fuga silenciosa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85800" y="2514600"/>
            <a:ext cx="1691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8C90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35% cuentas dormidas en LATAM</a:t>
            </a:r>
            <a:endParaRPr lang="en-US" sz="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8C90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nuevo cliente: 5x-7x vs retener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651760" y="1508760"/>
            <a:ext cx="1965960" cy="2286000"/>
          </a:xfrm>
          <a:prstGeom prst="rect">
            <a:avLst/>
          </a:prstGeom>
          <a:solidFill>
            <a:srgbClr val="101C2E"/>
          </a:solidFill>
          <a:ln w="6350">
            <a:solidFill>
              <a:srgbClr val="1F2A3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651760" y="1508760"/>
            <a:ext cx="1965960" cy="36576"/>
          </a:xfrm>
          <a:prstGeom prst="rect">
            <a:avLst/>
          </a:prstGeom>
          <a:solidFill>
            <a:srgbClr val="FFB74D"/>
          </a:solidFill>
          <a:ln/>
        </p:spPr>
      </p:sp>
      <p:sp>
        <p:nvSpPr>
          <p:cNvPr id="18" name="Text 16"/>
          <p:cNvSpPr/>
          <p:nvPr/>
        </p:nvSpPr>
        <p:spPr>
          <a:xfrm>
            <a:off x="278892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📉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2788920" y="21488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7E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Cross-sell fallido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788920" y="2514600"/>
            <a:ext cx="1691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8C90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engagement: 1.3 productos/cliente</a:t>
            </a:r>
            <a:endParaRPr lang="en-US" sz="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8C90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engagement: 4.2 productos (3.5x revenue)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754880" y="1508760"/>
            <a:ext cx="1965960" cy="2286000"/>
          </a:xfrm>
          <a:prstGeom prst="rect">
            <a:avLst/>
          </a:prstGeom>
          <a:solidFill>
            <a:srgbClr val="101C2E"/>
          </a:solidFill>
          <a:ln w="6350">
            <a:solidFill>
              <a:srgbClr val="1F2A3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54880" y="1508760"/>
            <a:ext cx="1965960" cy="36576"/>
          </a:xfrm>
          <a:prstGeom prst="rect">
            <a:avLst/>
          </a:prstGeom>
          <a:solidFill>
            <a:srgbClr val="CE93D8"/>
          </a:solidFill>
          <a:ln/>
        </p:spPr>
      </p:sp>
      <p:sp>
        <p:nvSpPr>
          <p:cNvPr id="23" name="Text 21"/>
          <p:cNvSpPr/>
          <p:nvPr/>
        </p:nvSpPr>
        <p:spPr>
          <a:xfrm>
            <a:off x="489204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🎯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4892040" y="21488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7E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Lealtad irrelevante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892040" y="2514600"/>
            <a:ext cx="1691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8C90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14% tasa de canje en banca LATAM</a:t>
            </a:r>
            <a:endParaRPr lang="en-US" sz="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8C90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58% dice que los puntos son irrelevantes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858000" y="1508760"/>
            <a:ext cx="1965960" cy="2286000"/>
          </a:xfrm>
          <a:prstGeom prst="rect">
            <a:avLst/>
          </a:prstGeom>
          <a:solidFill>
            <a:srgbClr val="101C2E"/>
          </a:solidFill>
          <a:ln w="6350">
            <a:solidFill>
              <a:srgbClr val="1F2A3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858000" y="1508760"/>
            <a:ext cx="1965960" cy="36576"/>
          </a:xfrm>
          <a:prstGeom prst="rect">
            <a:avLst/>
          </a:prstGeom>
          <a:solidFill>
            <a:srgbClr val="B2C5FF"/>
          </a:solidFill>
          <a:ln/>
        </p:spPr>
      </p:sp>
      <p:sp>
        <p:nvSpPr>
          <p:cNvPr id="28" name="Text 26"/>
          <p:cNvSpPr/>
          <p:nvPr/>
        </p:nvSpPr>
        <p:spPr>
          <a:xfrm>
            <a:off x="699516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🧓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6995160" y="21488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7E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Desconexion generacional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995160" y="2514600"/>
            <a:ext cx="1691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8C90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Mediana edad cliente activo: 42 anos</a:t>
            </a:r>
            <a:endParaRPr lang="en-US" sz="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8C90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 Z + Millennials = 45% fuerza laboral EC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48640" y="3931920"/>
            <a:ext cx="8046720" cy="731520"/>
          </a:xfrm>
          <a:prstGeom prst="rect">
            <a:avLst/>
          </a:prstGeom>
          <a:solidFill>
            <a:srgbClr val="101C2E"/>
          </a:solidFill>
          <a:ln w="6350">
            <a:solidFill>
              <a:srgbClr val="1F2A3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731520" y="402336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2C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Clientes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B2C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Nuevos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2240280" y="402336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C90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2560320" y="402336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B4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 abandonan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B4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90 dias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069080" y="402336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C90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4389120" y="402336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quedan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532120" y="402336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C90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852160" y="402336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C90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bajo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8C90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178040" y="402336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C90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7498080" y="402336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1C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9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81C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activos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3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01C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50392"/>
            <a:ext cx="9144000" cy="27432"/>
          </a:xfrm>
          <a:prstGeom prst="rect">
            <a:avLst/>
          </a:prstGeom>
          <a:solidFill>
            <a:srgbClr val="FFD65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2C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Mundial 2026: El Momento Perfecto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5029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90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OPORTUNIDAD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132320" y="1828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i="1" dirty="0">
                <a:solidFill>
                  <a:srgbClr val="FFD6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AI-Bank mAiles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01C2E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4828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C90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TCS Confidential | Reto Premium - Recompensa Premium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315200" y="482803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90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48640" y="10058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D6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"No estamos creando una app de apuestas. Estamos creando un puente emocional entre el cliente y su banco."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1463040"/>
            <a:ext cx="3931920" cy="3108960"/>
          </a:xfrm>
          <a:prstGeom prst="rect">
            <a:avLst/>
          </a:prstGeom>
          <a:solidFill>
            <a:srgbClr val="101C2E"/>
          </a:solidFill>
          <a:ln w="6350">
            <a:solidFill>
              <a:srgbClr val="1F2A3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31520" y="155448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C90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MUNDIAL 2026 EN DATOS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77240" y="192024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🌍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234440" y="192024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2C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5,000M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34440" y="2121408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0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Espectadores proyectados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77240" y="2450592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⚽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234440" y="245059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2C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34440" y="2651760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0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Partidos en el torneo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77240" y="2980944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📱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234440" y="2980944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2C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78%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34440" y="3182112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0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Consumira contenido via movil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77240" y="3511296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🇪🇨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234440" y="3511296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2C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234440" y="3712464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0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Selecciones (Ecuador clasificado)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77240" y="4041648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📅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234440" y="404164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2C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234440" y="4242816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0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Dias de engagement continuo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754880" y="1463040"/>
            <a:ext cx="3840480" cy="3108960"/>
          </a:xfrm>
          <a:prstGeom prst="rect">
            <a:avLst/>
          </a:prstGeom>
          <a:solidFill>
            <a:srgbClr val="101C2E"/>
          </a:solidFill>
          <a:ln w="6350">
            <a:solidFill>
              <a:srgbClr val="1F2A3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937760" y="15544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C90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FORMULA AI-BANK mAILES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029200" y="1938528"/>
            <a:ext cx="411480" cy="411480"/>
          </a:xfrm>
          <a:prstGeom prst="ellipse">
            <a:avLst/>
          </a:prstGeom>
          <a:solidFill>
            <a:srgbClr val="FFD65B">
              <a:alpha val="20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5029200" y="192024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⚽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577840" y="19202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7E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Catalizador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577840" y="21488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0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Mundial 2026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C90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104 partidos, 5B espectadores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120640" y="242316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C90A1"/>
                </a:solidFill>
              </a:rPr>
              <a:t>↓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029200" y="2715768"/>
            <a:ext cx="411480" cy="411480"/>
          </a:xfrm>
          <a:prstGeom prst="ellipse">
            <a:avLst/>
          </a:prstGeom>
          <a:solidFill>
            <a:srgbClr val="B2C5FF">
              <a:alpha val="20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5029200" y="269748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🎮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5577840" y="26974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7E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Mecanica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577840" y="29260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0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Gamificacion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C90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Pronosticos + Cromos + Ligas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120640" y="320040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C90A1"/>
                </a:solidFill>
              </a:rPr>
              <a:t>↓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5029200" y="3493008"/>
            <a:ext cx="411480" cy="411480"/>
          </a:xfrm>
          <a:prstGeom prst="ellipse">
            <a:avLst/>
          </a:prstGeom>
          <a:solidFill>
            <a:srgbClr val="CE93D8">
              <a:alpha val="20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5029200" y="347472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🤖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5577840" y="34747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7E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Inteligencia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5577840" y="37033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0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Predictiva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C90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 features, 9 categorias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5029200" y="4160520"/>
            <a:ext cx="3291840" cy="320040"/>
          </a:xfrm>
          <a:prstGeom prst="rect">
            <a:avLst/>
          </a:prstGeom>
          <a:solidFill>
            <a:srgbClr val="81C784">
              <a:alpha val="20000"/>
            </a:srgbClr>
          </a:solidFill>
          <a:ln w="12700">
            <a:solidFill>
              <a:srgbClr val="81C78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029200" y="41605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1C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Fidelizacion Exponencial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3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01C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50392"/>
            <a:ext cx="9144000" cy="27432"/>
          </a:xfrm>
          <a:prstGeom prst="rect">
            <a:avLst/>
          </a:prstGeom>
          <a:solidFill>
            <a:srgbClr val="FFD65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2C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AI-Bank mAiles: Donde la Banca se Convierte en Juego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5029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90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 DE VALOR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132320" y="1828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i="1" dirty="0">
                <a:solidFill>
                  <a:srgbClr val="FFD6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AI-Bank mAiles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01C2E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4828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C90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TCS Confidential | Reto Premium - Recompensa Premium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315200" y="482803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90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48640" y="10058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D6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"Una plataforma que convierte cada transaccion en progreso, cada pronostico en emocion, y cada premio en algo personal."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1463040"/>
            <a:ext cx="3977640" cy="1463040"/>
          </a:xfrm>
          <a:prstGeom prst="rect">
            <a:avLst/>
          </a:prstGeom>
          <a:solidFill>
            <a:srgbClr val="101C2E"/>
          </a:solidFill>
          <a:ln w="6350">
            <a:solidFill>
              <a:srgbClr val="1F2A3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48640" y="1463040"/>
            <a:ext cx="54864" cy="1463040"/>
          </a:xfrm>
          <a:prstGeom prst="rect">
            <a:avLst/>
          </a:prstGeom>
          <a:solidFill>
            <a:srgbClr val="B2C5FF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📱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234440" y="157276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7E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Movil Completa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34440" y="192024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8C90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pantallas funcionales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8C90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+ Expo + TypeScript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8C90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Supabase: 14 tablas + Auth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54880" y="1463040"/>
            <a:ext cx="3977640" cy="1463040"/>
          </a:xfrm>
          <a:prstGeom prst="rect">
            <a:avLst/>
          </a:prstGeom>
          <a:solidFill>
            <a:srgbClr val="101C2E"/>
          </a:solidFill>
          <a:ln w="6350">
            <a:solidFill>
              <a:srgbClr val="1F2A3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1463040"/>
            <a:ext cx="54864" cy="1463040"/>
          </a:xfrm>
          <a:prstGeom prst="rect">
            <a:avLst/>
          </a:prstGeom>
          <a:solidFill>
            <a:srgbClr val="FFD65B"/>
          </a:solidFill>
          <a:ln/>
        </p:spPr>
      </p:sp>
      <p:sp>
        <p:nvSpPr>
          <p:cNvPr id="18" name="Text 16"/>
          <p:cNvSpPr/>
          <p:nvPr/>
        </p:nvSpPr>
        <p:spPr>
          <a:xfrm>
            <a:off x="493776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🎮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5440680" y="157276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7E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Gamificacion Multi-Capa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440680" y="192024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8C90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mAiles + Cromos coleccionables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8C90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Pronosticos: hasta 1,000 mAiles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8C90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Ligas, Grupos, Medallas 1-6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48640" y="3063240"/>
            <a:ext cx="3977640" cy="1463040"/>
          </a:xfrm>
          <a:prstGeom prst="rect">
            <a:avLst/>
          </a:prstGeom>
          <a:solidFill>
            <a:srgbClr val="101C2E"/>
          </a:solidFill>
          <a:ln w="6350">
            <a:solidFill>
              <a:srgbClr val="1F2A3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48640" y="3063240"/>
            <a:ext cx="54864" cy="1463040"/>
          </a:xfrm>
          <a:prstGeom prst="rect">
            <a:avLst/>
          </a:prstGeom>
          <a:solidFill>
            <a:srgbClr val="CE93D8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🤖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1234440" y="317296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7E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 IA Deportivo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234440" y="352044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8C90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Agentes: Orquestador + Analista + Censor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8C90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tools de busqueda en tiempo real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8C90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2.5 Flash + Tavily Search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54880" y="3063240"/>
            <a:ext cx="3977640" cy="1463040"/>
          </a:xfrm>
          <a:prstGeom prst="rect">
            <a:avLst/>
          </a:prstGeom>
          <a:solidFill>
            <a:srgbClr val="101C2E"/>
          </a:solidFill>
          <a:ln w="6350">
            <a:solidFill>
              <a:srgbClr val="1F2A3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54880" y="3063240"/>
            <a:ext cx="54864" cy="1463040"/>
          </a:xfrm>
          <a:prstGeom prst="rect">
            <a:avLst/>
          </a:prstGeom>
          <a:solidFill>
            <a:srgbClr val="81C784"/>
          </a:solidFill>
          <a:ln/>
        </p:spPr>
      </p:sp>
      <p:sp>
        <p:nvSpPr>
          <p:cNvPr id="28" name="Text 26"/>
          <p:cNvSpPr/>
          <p:nvPr/>
        </p:nvSpPr>
        <p:spPr>
          <a:xfrm>
            <a:off x="4937760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🧠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5440680" y="317296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7E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Segmentacion IA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440680" y="352044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8C90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Regression: 30K clientes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8C90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categorias, 38 premios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8C90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F1: 78.72% | Accuracy: 78.67%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3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01C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50392"/>
            <a:ext cx="9144000" cy="27432"/>
          </a:xfrm>
          <a:prstGeom prst="rect">
            <a:avLst/>
          </a:prstGeom>
          <a:solidFill>
            <a:srgbClr val="FFD65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2C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Gasta, Predice, Compite, Gana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5029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90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DEL USUARIO: LOOP DE ENGAGEMENT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132320" y="1828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i="1" dirty="0">
                <a:solidFill>
                  <a:srgbClr val="FFD6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AI-Bank mAiles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01C2E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4828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C90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TCS Confidential | Reto Premium - Recompensa Premium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315200" y="482803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90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48640" y="10058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D6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"Cada accion del usuario alimenta un ciclo virtuoso donde gastar, jugar y ganar se refuerzan mutuamente."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11480" y="1463040"/>
            <a:ext cx="1261872" cy="1874520"/>
          </a:xfrm>
          <a:prstGeom prst="rect">
            <a:avLst/>
          </a:prstGeom>
          <a:solidFill>
            <a:srgbClr val="101C2E"/>
          </a:solidFill>
          <a:ln w="6350">
            <a:solidFill>
              <a:srgbClr val="1F2A3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" y="1554480"/>
            <a:ext cx="320040" cy="320040"/>
          </a:xfrm>
          <a:prstGeom prst="ellipse">
            <a:avLst/>
          </a:prstGeom>
          <a:solidFill>
            <a:srgbClr val="B2C5FF"/>
          </a:solidFill>
          <a:ln/>
        </p:spPr>
      </p:sp>
      <p:sp>
        <p:nvSpPr>
          <p:cNvPr id="13" name="Text 11"/>
          <p:cNvSpPr/>
          <p:nvPr/>
        </p:nvSpPr>
        <p:spPr>
          <a:xfrm>
            <a:off x="466344" y="15544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713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196596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💳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502920" y="2423160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2C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GASTA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2697480"/>
            <a:ext cx="10789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90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Tarjeta AI-Bank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C90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normalmente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645920" y="219456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C90A1"/>
                </a:solidFill>
              </a:rPr>
              <a:t>→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1828800" y="1463040"/>
            <a:ext cx="1261872" cy="1874520"/>
          </a:xfrm>
          <a:prstGeom prst="rect">
            <a:avLst/>
          </a:prstGeom>
          <a:solidFill>
            <a:srgbClr val="101C2E"/>
          </a:solidFill>
          <a:ln w="6350">
            <a:solidFill>
              <a:srgbClr val="1F2A3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1883664" y="1554480"/>
            <a:ext cx="320040" cy="320040"/>
          </a:xfrm>
          <a:prstGeom prst="ellipse">
            <a:avLst/>
          </a:prstGeom>
          <a:solidFill>
            <a:srgbClr val="FFD65B"/>
          </a:solidFill>
          <a:ln/>
        </p:spPr>
      </p:sp>
      <p:sp>
        <p:nvSpPr>
          <p:cNvPr id="20" name="Text 18"/>
          <p:cNvSpPr/>
          <p:nvPr/>
        </p:nvSpPr>
        <p:spPr>
          <a:xfrm>
            <a:off x="1883664" y="15544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713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965960" y="196596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⭐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1920240" y="2423160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D6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ACUMULA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920240" y="2697480"/>
            <a:ext cx="10789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90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$100 = 10 mAiles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C90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 = 1 cromo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063240" y="219456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C90A1"/>
                </a:solidFill>
              </a:rPr>
              <a:t>→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3246120" y="1463040"/>
            <a:ext cx="1261872" cy="1874520"/>
          </a:xfrm>
          <a:prstGeom prst="rect">
            <a:avLst/>
          </a:prstGeom>
          <a:solidFill>
            <a:srgbClr val="101C2E"/>
          </a:solidFill>
          <a:ln w="6350">
            <a:solidFill>
              <a:srgbClr val="1F2A3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300984" y="1554480"/>
            <a:ext cx="320040" cy="320040"/>
          </a:xfrm>
          <a:prstGeom prst="ellipse">
            <a:avLst/>
          </a:prstGeom>
          <a:solidFill>
            <a:srgbClr val="81C784"/>
          </a:solidFill>
          <a:ln/>
        </p:spPr>
      </p:sp>
      <p:sp>
        <p:nvSpPr>
          <p:cNvPr id="27" name="Text 25"/>
          <p:cNvSpPr/>
          <p:nvPr/>
        </p:nvSpPr>
        <p:spPr>
          <a:xfrm>
            <a:off x="3300984" y="15544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713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383280" y="196596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⚽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3337560" y="2423160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1C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337560" y="2697480"/>
            <a:ext cx="10789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90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Pronostica con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C90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 IA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480560" y="219456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C90A1"/>
                </a:solidFill>
              </a:rPr>
              <a:t>→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4663440" y="1463040"/>
            <a:ext cx="1261872" cy="1874520"/>
          </a:xfrm>
          <a:prstGeom prst="rect">
            <a:avLst/>
          </a:prstGeom>
          <a:solidFill>
            <a:srgbClr val="101C2E"/>
          </a:solidFill>
          <a:ln w="6350">
            <a:solidFill>
              <a:srgbClr val="1F2A3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718304" y="1554480"/>
            <a:ext cx="320040" cy="320040"/>
          </a:xfrm>
          <a:prstGeom prst="ellipse">
            <a:avLst/>
          </a:prstGeom>
          <a:solidFill>
            <a:srgbClr val="CE93D8"/>
          </a:solidFill>
          <a:ln/>
        </p:spPr>
      </p:sp>
      <p:sp>
        <p:nvSpPr>
          <p:cNvPr id="34" name="Text 32"/>
          <p:cNvSpPr/>
          <p:nvPr/>
        </p:nvSpPr>
        <p:spPr>
          <a:xfrm>
            <a:off x="4718304" y="15544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713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800600" y="196596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👥</a:t>
            </a:r>
            <a:endParaRPr lang="en-US" sz="2800" dirty="0"/>
          </a:p>
        </p:txBody>
      </p:sp>
      <p:sp>
        <p:nvSpPr>
          <p:cNvPr id="36" name="Text 34"/>
          <p:cNvSpPr/>
          <p:nvPr/>
        </p:nvSpPr>
        <p:spPr>
          <a:xfrm>
            <a:off x="4754880" y="2423160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E9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COMPITE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754880" y="2697480"/>
            <a:ext cx="10789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90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Grupos + Ligas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C90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Votacion social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5897880" y="219456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C90A1"/>
                </a:solidFill>
              </a:rPr>
              <a:t>→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6080760" y="1463040"/>
            <a:ext cx="1261872" cy="1874520"/>
          </a:xfrm>
          <a:prstGeom prst="rect">
            <a:avLst/>
          </a:prstGeom>
          <a:solidFill>
            <a:srgbClr val="101C2E"/>
          </a:solidFill>
          <a:ln w="6350">
            <a:solidFill>
              <a:srgbClr val="1F2A3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135624" y="1554480"/>
            <a:ext cx="320040" cy="320040"/>
          </a:xfrm>
          <a:prstGeom prst="ellipse">
            <a:avLst/>
          </a:prstGeom>
          <a:solidFill>
            <a:srgbClr val="FFB74D"/>
          </a:solidFill>
          <a:ln/>
        </p:spPr>
      </p:sp>
      <p:sp>
        <p:nvSpPr>
          <p:cNvPr id="41" name="Text 39"/>
          <p:cNvSpPr/>
          <p:nvPr/>
        </p:nvSpPr>
        <p:spPr>
          <a:xfrm>
            <a:off x="6135624" y="15544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713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217920" y="196596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🏅</a:t>
            </a:r>
            <a:endParaRPr lang="en-US" sz="2800" dirty="0"/>
          </a:p>
        </p:txBody>
      </p:sp>
      <p:sp>
        <p:nvSpPr>
          <p:cNvPr id="43" name="Text 41"/>
          <p:cNvSpPr/>
          <p:nvPr/>
        </p:nvSpPr>
        <p:spPr>
          <a:xfrm>
            <a:off x="6172200" y="2423160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SUBE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172200" y="2697480"/>
            <a:ext cx="10789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90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Medallas 1-6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C90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x1.0 a x3.0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7315200" y="219456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C90A1"/>
                </a:solidFill>
              </a:rPr>
              <a:t>→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7498080" y="1463040"/>
            <a:ext cx="1261872" cy="1874520"/>
          </a:xfrm>
          <a:prstGeom prst="rect">
            <a:avLst/>
          </a:prstGeom>
          <a:solidFill>
            <a:srgbClr val="101C2E"/>
          </a:solidFill>
          <a:ln w="6350">
            <a:solidFill>
              <a:srgbClr val="1F2A3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7552944" y="1554480"/>
            <a:ext cx="320040" cy="320040"/>
          </a:xfrm>
          <a:prstGeom prst="ellipse">
            <a:avLst/>
          </a:prstGeom>
          <a:solidFill>
            <a:srgbClr val="F06292"/>
          </a:solidFill>
          <a:ln/>
        </p:spPr>
      </p:sp>
      <p:sp>
        <p:nvSpPr>
          <p:cNvPr id="48" name="Text 46"/>
          <p:cNvSpPr/>
          <p:nvPr/>
        </p:nvSpPr>
        <p:spPr>
          <a:xfrm>
            <a:off x="7552944" y="15544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713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7635240" y="196596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🎁</a:t>
            </a:r>
            <a:endParaRPr lang="en-US" sz="2800" dirty="0"/>
          </a:p>
        </p:txBody>
      </p:sp>
      <p:sp>
        <p:nvSpPr>
          <p:cNvPr id="50" name="Text 48"/>
          <p:cNvSpPr/>
          <p:nvPr/>
        </p:nvSpPr>
        <p:spPr>
          <a:xfrm>
            <a:off x="7589520" y="2423160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62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GANA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7589520" y="2697480"/>
            <a:ext cx="10789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90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Premio IA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C90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personalizado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548640" y="3520440"/>
            <a:ext cx="8046720" cy="36576"/>
          </a:xfrm>
          <a:prstGeom prst="rect">
            <a:avLst/>
          </a:prstGeom>
          <a:solidFill>
            <a:srgbClr val="FFD65B">
              <a:alpha val="40000"/>
            </a:srgbClr>
          </a:solidFill>
          <a:ln/>
        </p:spPr>
      </p:sp>
      <p:sp>
        <p:nvSpPr>
          <p:cNvPr id="53" name="Text 51"/>
          <p:cNvSpPr/>
          <p:nvPr/>
        </p:nvSpPr>
        <p:spPr>
          <a:xfrm>
            <a:off x="548640" y="36118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FD6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↻  El premio motiva a seguir gastando → ciclo virtuoso de engagement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548640" y="3977640"/>
            <a:ext cx="8046720" cy="731520"/>
          </a:xfrm>
          <a:prstGeom prst="rect">
            <a:avLst/>
          </a:prstGeom>
          <a:solidFill>
            <a:srgbClr val="101C2E"/>
          </a:solidFill>
          <a:ln w="6350">
            <a:solidFill>
              <a:srgbClr val="1F2A3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55" name="Text 53"/>
          <p:cNvSpPr/>
          <p:nvPr/>
        </p:nvSpPr>
        <p:spPr>
          <a:xfrm>
            <a:off x="731520" y="402336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C90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RECOMPENSAS POR PREDICCION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731520" y="425196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6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+1,000 mAiles</a:t>
            </a:r>
            <a:endParaRPr lang="en-US" sz="1300" dirty="0"/>
          </a:p>
        </p:txBody>
      </p:sp>
      <p:sp>
        <p:nvSpPr>
          <p:cNvPr id="57" name="Text 55"/>
          <p:cNvSpPr/>
          <p:nvPr/>
        </p:nvSpPr>
        <p:spPr>
          <a:xfrm>
            <a:off x="731520" y="443484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0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Marcador exacto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3474720" y="425196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2C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+300 mAiles</a:t>
            </a:r>
            <a:endParaRPr lang="en-US" sz="1300" dirty="0"/>
          </a:p>
        </p:txBody>
      </p:sp>
      <p:sp>
        <p:nvSpPr>
          <p:cNvPr id="59" name="Text 57"/>
          <p:cNvSpPr/>
          <p:nvPr/>
        </p:nvSpPr>
        <p:spPr>
          <a:xfrm>
            <a:off x="3474720" y="443484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0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Ganador correcto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6217920" y="425196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+200 mAiles</a:t>
            </a:r>
            <a:endParaRPr lang="en-US" sz="1300" dirty="0"/>
          </a:p>
        </p:txBody>
      </p:sp>
      <p:sp>
        <p:nvSpPr>
          <p:cNvPr id="61" name="Text 59"/>
          <p:cNvSpPr/>
          <p:nvPr/>
        </p:nvSpPr>
        <p:spPr>
          <a:xfrm>
            <a:off x="6217920" y="443484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0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Racha activa (bonus)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13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01C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50392"/>
            <a:ext cx="9144000" cy="27432"/>
          </a:xfrm>
          <a:prstGeom prst="rect">
            <a:avLst/>
          </a:prstGeom>
          <a:solidFill>
            <a:srgbClr val="FFD65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2C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Premios No Son Para Todos - Son Para Ti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5029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90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SEGMENTACION IA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132320" y="1828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i="1" dirty="0">
                <a:solidFill>
                  <a:srgbClr val="FFD6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AI-Bank mAiles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01C2E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4828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C90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TCS Confidential | Reto Premium - Recompensa Premium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315200" y="482803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90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48640" y="10058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D6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"Un sistema dual ML + reglas que analiza 49 variables por cliente para asignar el premio exacto."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1463040"/>
            <a:ext cx="2743200" cy="1280160"/>
          </a:xfrm>
          <a:prstGeom prst="rect">
            <a:avLst/>
          </a:prstGeom>
          <a:solidFill>
            <a:srgbClr val="101C2E"/>
          </a:solidFill>
          <a:ln w="6350">
            <a:solidFill>
              <a:srgbClr val="1F2A3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85800" y="150876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B2C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49 Features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85800" y="178308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8C90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Financiero (9)</a:t>
            </a:r>
            <a:endParaRPr lang="en-US" sz="8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8C90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Gasto % (9)</a:t>
            </a:r>
            <a:endParaRPr lang="en-US" sz="8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8C90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Gamificacion (8)</a:t>
            </a:r>
            <a:endParaRPr lang="en-US" sz="8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8C90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(4)</a:t>
            </a:r>
            <a:endParaRPr lang="en-US" sz="8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8C90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Demografico (5)</a:t>
            </a:r>
            <a:endParaRPr lang="en-US" sz="8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8C90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(5)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463040" y="27889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D65B"/>
                </a:solidFill>
              </a:rPr>
              <a:t>▼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3063240"/>
            <a:ext cx="2743200" cy="731520"/>
          </a:xfrm>
          <a:prstGeom prst="rect">
            <a:avLst/>
          </a:prstGeom>
          <a:solidFill>
            <a:srgbClr val="101C2E"/>
          </a:solidFill>
          <a:ln w="6350">
            <a:solidFill>
              <a:srgbClr val="1F2A3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48640" y="3063240"/>
            <a:ext cx="54864" cy="731520"/>
          </a:xfrm>
          <a:prstGeom prst="rect">
            <a:avLst/>
          </a:prstGeom>
          <a:solidFill>
            <a:srgbClr val="CE93D8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10896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E9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1: ML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31520" y="32918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0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C90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30,000 datos entrenamiento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C90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F1: 78.72% | Acc: 78.67%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463040" y="38404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D65B"/>
                </a:solidFill>
              </a:rPr>
              <a:t>▼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4069080"/>
            <a:ext cx="2743200" cy="594360"/>
          </a:xfrm>
          <a:prstGeom prst="rect">
            <a:avLst/>
          </a:prstGeom>
          <a:solidFill>
            <a:srgbClr val="101C2E"/>
          </a:solidFill>
          <a:ln w="6350">
            <a:solidFill>
              <a:srgbClr val="1F2A3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8640" y="4069080"/>
            <a:ext cx="54864" cy="594360"/>
          </a:xfrm>
          <a:prstGeom prst="rect">
            <a:avLst/>
          </a:prstGeom>
          <a:solidFill>
            <a:srgbClr val="FFB74D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411480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2: Reglas de Negocio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31520" y="42976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0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afinidad 0-100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C90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Premio + Razones + Alternativas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566160" y="1463040"/>
            <a:ext cx="5029200" cy="3200400"/>
          </a:xfrm>
          <a:prstGeom prst="rect">
            <a:avLst/>
          </a:prstGeom>
          <a:solidFill>
            <a:srgbClr val="101C2E"/>
          </a:solidFill>
          <a:ln w="6350">
            <a:solidFill>
              <a:srgbClr val="1F2A3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749040" y="1508760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8C90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CATEGORIAS DE PREMIO  |  38 PREMIOS ESPECIFICOS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794760" y="1828800"/>
            <a:ext cx="1463040" cy="822960"/>
          </a:xfrm>
          <a:prstGeom prst="rect">
            <a:avLst/>
          </a:prstGeom>
          <a:solidFill>
            <a:srgbClr val="071325"/>
          </a:solidFill>
          <a:ln w="6350">
            <a:solidFill>
              <a:srgbClr val="4FC3F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840480" y="18745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📱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160520" y="1874520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7E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Tecnologia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867912" y="219456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C90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Smartphone, Laptop, Smartwatch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5394960" y="1828800"/>
            <a:ext cx="1463040" cy="822960"/>
          </a:xfrm>
          <a:prstGeom prst="rect">
            <a:avLst/>
          </a:prstGeom>
          <a:solidFill>
            <a:srgbClr val="071325"/>
          </a:solidFill>
          <a:ln w="6350">
            <a:solidFill>
              <a:srgbClr val="81C78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40680" y="18745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🏝️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760720" y="1874520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7E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Viajes Nacionales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468112" y="219456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C90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Galapagos, Amazonia, Ruta Sol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6995160" y="1828800"/>
            <a:ext cx="1463040" cy="822960"/>
          </a:xfrm>
          <a:prstGeom prst="rect">
            <a:avLst/>
          </a:prstGeom>
          <a:solidFill>
            <a:srgbClr val="071325"/>
          </a:solidFill>
          <a:ln w="6350">
            <a:solidFill>
              <a:srgbClr val="FFB74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040880" y="18745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✈️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7360920" y="1874520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7E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Viajes Internacionales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7068312" y="219456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C90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Cancun, Europa, Crucero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3794760" y="2788920"/>
            <a:ext cx="1463040" cy="822960"/>
          </a:xfrm>
          <a:prstGeom prst="rect">
            <a:avLst/>
          </a:prstGeom>
          <a:solidFill>
            <a:srgbClr val="071325"/>
          </a:solidFill>
          <a:ln w="6350">
            <a:solidFill>
              <a:srgbClr val="F0629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840480" y="28346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🍽️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4160520" y="2834640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7E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Gastronomia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3867912" y="315468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C90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Cena Premium, Cata Vinos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5394960" y="2788920"/>
            <a:ext cx="1463040" cy="822960"/>
          </a:xfrm>
          <a:prstGeom prst="rect">
            <a:avLst/>
          </a:prstGeom>
          <a:solidFill>
            <a:srgbClr val="071325"/>
          </a:solidFill>
          <a:ln w="6350">
            <a:solidFill>
              <a:srgbClr val="CE93D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440680" y="28346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🎭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5760720" y="2834640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7E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Entretenimiento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5468112" y="315468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C90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Conciertos VIP, Liga Pro VIP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6995160" y="2788920"/>
            <a:ext cx="1463040" cy="822960"/>
          </a:xfrm>
          <a:prstGeom prst="rect">
            <a:avLst/>
          </a:prstGeom>
          <a:solidFill>
            <a:srgbClr val="071325"/>
          </a:solidFill>
          <a:ln w="6350">
            <a:solidFill>
              <a:srgbClr val="80DEE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040880" y="28346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💚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7360920" y="2834640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7E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Salud &amp; Bienestar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7068312" y="315468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C90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Gimnasio, Spa, Chequeo Medico</a:t>
            </a:r>
            <a:endParaRPr lang="en-US" sz="700" dirty="0"/>
          </a:p>
        </p:txBody>
      </p:sp>
      <p:sp>
        <p:nvSpPr>
          <p:cNvPr id="50" name="Shape 48"/>
          <p:cNvSpPr/>
          <p:nvPr/>
        </p:nvSpPr>
        <p:spPr>
          <a:xfrm>
            <a:off x="3794760" y="3749040"/>
            <a:ext cx="1463040" cy="822960"/>
          </a:xfrm>
          <a:prstGeom prst="rect">
            <a:avLst/>
          </a:prstGeom>
          <a:solidFill>
            <a:srgbClr val="071325"/>
          </a:solidFill>
          <a:ln w="6350">
            <a:solidFill>
              <a:srgbClr val="FFD54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840480" y="37947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📚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4160520" y="3794760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7E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Educacion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3867912" y="411480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C90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Coursera, Idiomas, Beca</a:t>
            </a:r>
            <a:endParaRPr lang="en-US" sz="700" dirty="0"/>
          </a:p>
        </p:txBody>
      </p:sp>
      <p:sp>
        <p:nvSpPr>
          <p:cNvPr id="54" name="Shape 52"/>
          <p:cNvSpPr/>
          <p:nvPr/>
        </p:nvSpPr>
        <p:spPr>
          <a:xfrm>
            <a:off x="5394960" y="3749040"/>
            <a:ext cx="1463040" cy="822960"/>
          </a:xfrm>
          <a:prstGeom prst="rect">
            <a:avLst/>
          </a:prstGeom>
          <a:solidFill>
            <a:srgbClr val="071325"/>
          </a:solidFill>
          <a:ln w="6350">
            <a:solidFill>
              <a:srgbClr val="A5D6A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440680" y="37947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🏠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5760720" y="3794760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7E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Hogar &amp; Lifestyle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5468112" y="411480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C90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 Aspirador, Decoracion</a:t>
            </a:r>
            <a:endParaRPr lang="en-US" sz="700" dirty="0"/>
          </a:p>
        </p:txBody>
      </p:sp>
      <p:sp>
        <p:nvSpPr>
          <p:cNvPr id="58" name="Shape 56"/>
          <p:cNvSpPr/>
          <p:nvPr/>
        </p:nvSpPr>
        <p:spPr>
          <a:xfrm>
            <a:off x="6995160" y="3749040"/>
            <a:ext cx="1463040" cy="822960"/>
          </a:xfrm>
          <a:prstGeom prst="rect">
            <a:avLst/>
          </a:prstGeom>
          <a:solidFill>
            <a:srgbClr val="071325"/>
          </a:solidFill>
          <a:ln w="6350">
            <a:solidFill>
              <a:srgbClr val="FFD65B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040880" y="37947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💎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7360920" y="3794760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7E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Financiero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7068312" y="411480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C90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Tarjeta Black, Inversion $500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13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01C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50392"/>
            <a:ext cx="9144000" cy="27432"/>
          </a:xfrm>
          <a:prstGeom prst="rect">
            <a:avLst/>
          </a:prstGeom>
          <a:solidFill>
            <a:srgbClr val="FFD65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2C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Arquitectura: Tres Motores, Una Experiencia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5029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90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TECNICA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132320" y="1828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i="1" dirty="0">
                <a:solidFill>
                  <a:srgbClr val="FFD6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AI-Bank mAiles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01C2E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4828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C90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TCS Confidential | Reto Premium - Recompensa Premium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315200" y="482803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90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48640" y="10058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D6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"Microservicios independientes: app movil, chatbot IA y modelo de segmentacion, unidos por APIs REST."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926080" y="1417320"/>
            <a:ext cx="3291840" cy="685800"/>
          </a:xfrm>
          <a:prstGeom prst="rect">
            <a:avLst/>
          </a:prstGeom>
          <a:solidFill>
            <a:srgbClr val="101C2E"/>
          </a:solidFill>
          <a:ln w="6350">
            <a:solidFill>
              <a:srgbClr val="1F2A3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926080" y="1417320"/>
            <a:ext cx="3291840" cy="54864"/>
          </a:xfrm>
          <a:prstGeom prst="rect">
            <a:avLst/>
          </a:prstGeom>
          <a:solidFill>
            <a:srgbClr val="B2C5FF"/>
          </a:solidFill>
          <a:ln/>
        </p:spPr>
      </p:sp>
      <p:sp>
        <p:nvSpPr>
          <p:cNvPr id="13" name="Text 11"/>
          <p:cNvSpPr/>
          <p:nvPr/>
        </p:nvSpPr>
        <p:spPr>
          <a:xfrm>
            <a:off x="3063240" y="149047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2C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FRONTEND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063240" y="1691640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0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+ Expo + TypeScript  |  8 pantallas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200400" y="2103120"/>
            <a:ext cx="0" cy="365760"/>
          </a:xfrm>
          <a:prstGeom prst="line">
            <a:avLst/>
          </a:prstGeom>
          <a:noFill/>
          <a:ln w="12700">
            <a:solidFill>
              <a:srgbClr val="8C90A1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4572000" y="2103120"/>
            <a:ext cx="0" cy="365760"/>
          </a:xfrm>
          <a:prstGeom prst="line">
            <a:avLst/>
          </a:prstGeom>
          <a:noFill/>
          <a:ln w="12700">
            <a:solidFill>
              <a:srgbClr val="8C90A1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5943600" y="2103120"/>
            <a:ext cx="0" cy="365760"/>
          </a:xfrm>
          <a:prstGeom prst="line">
            <a:avLst/>
          </a:prstGeom>
          <a:noFill/>
          <a:ln w="12700">
            <a:solidFill>
              <a:srgbClr val="8C90A1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548640" y="2514600"/>
            <a:ext cx="2743200" cy="1463040"/>
          </a:xfrm>
          <a:prstGeom prst="rect">
            <a:avLst/>
          </a:prstGeom>
          <a:solidFill>
            <a:srgbClr val="101C2E"/>
          </a:solidFill>
          <a:ln w="6350">
            <a:solidFill>
              <a:srgbClr val="1F2A3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48640" y="2514600"/>
            <a:ext cx="54864" cy="1463040"/>
          </a:xfrm>
          <a:prstGeom prst="rect">
            <a:avLst/>
          </a:prstGeom>
          <a:solidFill>
            <a:srgbClr val="81C784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256032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1C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  SUPABASE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31520" y="283464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8C90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+ Auth + Realtime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8C90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tablas relacionales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8C90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Users, Transactions, Predictions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8C90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Stickers, Groups, Rewards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429000" y="2514600"/>
            <a:ext cx="2606040" cy="1463040"/>
          </a:xfrm>
          <a:prstGeom prst="rect">
            <a:avLst/>
          </a:prstGeom>
          <a:solidFill>
            <a:srgbClr val="101C2E"/>
          </a:solidFill>
          <a:ln w="6350">
            <a:solidFill>
              <a:srgbClr val="1F2A3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429000" y="2514600"/>
            <a:ext cx="54864" cy="1463040"/>
          </a:xfrm>
          <a:prstGeom prst="rect">
            <a:avLst/>
          </a:prstGeom>
          <a:solidFill>
            <a:srgbClr val="CE93D8"/>
          </a:solidFill>
          <a:ln/>
        </p:spPr>
      </p:sp>
      <p:sp>
        <p:nvSpPr>
          <p:cNvPr id="24" name="Text 22"/>
          <p:cNvSpPr/>
          <p:nvPr/>
        </p:nvSpPr>
        <p:spPr>
          <a:xfrm>
            <a:off x="3611880" y="256032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E9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CHATBOT IA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611880" y="2788920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C90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:8001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611880" y="297180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8C90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Orquestador (Gemini 2.5 Flash)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8C90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 Analista: 6 tools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8C90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 Censor: Markdown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8C90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Tavily Search → FIFA, SofaScore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217920" y="2514600"/>
            <a:ext cx="2468880" cy="1463040"/>
          </a:xfrm>
          <a:prstGeom prst="rect">
            <a:avLst/>
          </a:prstGeom>
          <a:solidFill>
            <a:srgbClr val="101C2E"/>
          </a:solidFill>
          <a:ln w="6350">
            <a:solidFill>
              <a:srgbClr val="1F2A3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217920" y="2514600"/>
            <a:ext cx="54864" cy="1463040"/>
          </a:xfrm>
          <a:prstGeom prst="rect">
            <a:avLst/>
          </a:prstGeom>
          <a:solidFill>
            <a:srgbClr val="FFB74D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0" y="256032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SEGMENTACION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400800" y="278892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C90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:8000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400800" y="297180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8C90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ML: Logistic Regression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8C90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 features → 9 categorias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8C90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de reglas: 38 premios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8C90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afinidad 0-100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48640" y="4160520"/>
            <a:ext cx="8046720" cy="548640"/>
          </a:xfrm>
          <a:prstGeom prst="rect">
            <a:avLst/>
          </a:prstGeom>
          <a:solidFill>
            <a:srgbClr val="101C2E"/>
          </a:solidFill>
          <a:ln w="6350">
            <a:solidFill>
              <a:srgbClr val="1F2A3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731520" y="418795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C90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TECNOLOGICO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731520" y="4407408"/>
            <a:ext cx="914400" cy="256032"/>
          </a:xfrm>
          <a:prstGeom prst="rect">
            <a:avLst/>
          </a:prstGeom>
          <a:solidFill>
            <a:srgbClr val="B2C5FF">
              <a:alpha val="15000"/>
            </a:srgbClr>
          </a:solidFill>
          <a:ln w="6350">
            <a:solidFill>
              <a:srgbClr val="B2C5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31520" y="440740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B2C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1755648" y="4407408"/>
            <a:ext cx="914400" cy="256032"/>
          </a:xfrm>
          <a:prstGeom prst="rect">
            <a:avLst/>
          </a:prstGeom>
          <a:solidFill>
            <a:srgbClr val="4FC3F7">
              <a:alpha val="15000"/>
            </a:srgbClr>
          </a:solidFill>
          <a:ln w="6350">
            <a:solidFill>
              <a:srgbClr val="4FC3F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755648" y="440740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2779776" y="4407408"/>
            <a:ext cx="914400" cy="256032"/>
          </a:xfrm>
          <a:prstGeom prst="rect">
            <a:avLst/>
          </a:prstGeom>
          <a:solidFill>
            <a:srgbClr val="81C784">
              <a:alpha val="15000"/>
            </a:srgbClr>
          </a:solidFill>
          <a:ln w="6350">
            <a:solidFill>
              <a:srgbClr val="81C78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779776" y="440740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1C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3803904" y="4407408"/>
            <a:ext cx="914400" cy="256032"/>
          </a:xfrm>
          <a:prstGeom prst="rect">
            <a:avLst/>
          </a:prstGeom>
          <a:solidFill>
            <a:srgbClr val="FFD65B">
              <a:alpha val="15000"/>
            </a:srgbClr>
          </a:solidFill>
          <a:ln w="6350">
            <a:solidFill>
              <a:srgbClr val="FFD65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803904" y="440740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D6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4828032" y="4407408"/>
            <a:ext cx="914400" cy="256032"/>
          </a:xfrm>
          <a:prstGeom prst="rect">
            <a:avLst/>
          </a:prstGeom>
          <a:solidFill>
            <a:srgbClr val="FFB74D">
              <a:alpha val="15000"/>
            </a:srgbClr>
          </a:solidFill>
          <a:ln w="6350">
            <a:solidFill>
              <a:srgbClr val="FFB74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28032" y="440740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5852160" y="4407408"/>
            <a:ext cx="914400" cy="256032"/>
          </a:xfrm>
          <a:prstGeom prst="rect">
            <a:avLst/>
          </a:prstGeom>
          <a:solidFill>
            <a:srgbClr val="CE93D8">
              <a:alpha val="15000"/>
            </a:srgbClr>
          </a:solidFill>
          <a:ln w="6350">
            <a:solidFill>
              <a:srgbClr val="CE93D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852160" y="440740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E9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6876288" y="4407408"/>
            <a:ext cx="914400" cy="256032"/>
          </a:xfrm>
          <a:prstGeom prst="rect">
            <a:avLst/>
          </a:prstGeom>
          <a:solidFill>
            <a:srgbClr val="F06292">
              <a:alpha val="15000"/>
            </a:srgbClr>
          </a:solidFill>
          <a:ln w="6350">
            <a:solidFill>
              <a:srgbClr val="F0629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876288" y="440740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062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2.5</a:t>
            </a:r>
            <a:endParaRPr lang="en-US" sz="700" dirty="0"/>
          </a:p>
        </p:txBody>
      </p:sp>
      <p:sp>
        <p:nvSpPr>
          <p:cNvPr id="48" name="Shape 46"/>
          <p:cNvSpPr/>
          <p:nvPr/>
        </p:nvSpPr>
        <p:spPr>
          <a:xfrm>
            <a:off x="7900416" y="4407408"/>
            <a:ext cx="914400" cy="256032"/>
          </a:xfrm>
          <a:prstGeom prst="rect">
            <a:avLst/>
          </a:prstGeom>
          <a:solidFill>
            <a:srgbClr val="81C784">
              <a:alpha val="15000"/>
            </a:srgbClr>
          </a:solidFill>
          <a:ln w="6350">
            <a:solidFill>
              <a:srgbClr val="81C784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900416" y="440740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1C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13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01C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50392"/>
            <a:ext cx="9144000" cy="27432"/>
          </a:xfrm>
          <a:prstGeom prst="rect">
            <a:avLst/>
          </a:prstGeom>
          <a:solidFill>
            <a:srgbClr val="FFD65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2C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Esperado: Los Numeros que Importan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5029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90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Y PROYECCIONES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132320" y="1828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i="1" dirty="0">
                <a:solidFill>
                  <a:srgbClr val="FFD6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AI-Bank mAiles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01C2E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4828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C90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TCS Confidential | Reto Premium - Recompensa Premium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315200" y="482803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90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48640" y="10058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D6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"AI-Bank mAiles no es un gasto. Es una inversion con ROI medible en engagement, retencion y lifetime value."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1463040"/>
            <a:ext cx="1554480" cy="1417320"/>
          </a:xfrm>
          <a:prstGeom prst="rect">
            <a:avLst/>
          </a:prstGeom>
          <a:solidFill>
            <a:srgbClr val="101C2E"/>
          </a:solidFill>
          <a:ln w="6350">
            <a:solidFill>
              <a:srgbClr val="1F2A3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0080" y="15087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2C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+300%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40080" y="192024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7E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Sesiones/semana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40080" y="214884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90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  →  4.8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40080" y="2423160"/>
            <a:ext cx="1371600" cy="54864"/>
          </a:xfrm>
          <a:prstGeom prst="rect">
            <a:avLst/>
          </a:prstGeom>
          <a:solidFill>
            <a:srgbClr val="1F2A3D"/>
          </a:solidFill>
          <a:ln/>
        </p:spPr>
      </p:sp>
      <p:sp>
        <p:nvSpPr>
          <p:cNvPr id="16" name="Shape 14"/>
          <p:cNvSpPr/>
          <p:nvPr/>
        </p:nvSpPr>
        <p:spPr>
          <a:xfrm>
            <a:off x="640080" y="2423160"/>
            <a:ext cx="1028700" cy="54864"/>
          </a:xfrm>
          <a:prstGeom prst="rect">
            <a:avLst/>
          </a:prstGeom>
          <a:solidFill>
            <a:srgbClr val="B2C5FF"/>
          </a:solidFill>
          <a:ln/>
        </p:spPr>
      </p:sp>
      <p:sp>
        <p:nvSpPr>
          <p:cNvPr id="17" name="Shape 15"/>
          <p:cNvSpPr/>
          <p:nvPr/>
        </p:nvSpPr>
        <p:spPr>
          <a:xfrm>
            <a:off x="2240280" y="1463040"/>
            <a:ext cx="1554480" cy="1417320"/>
          </a:xfrm>
          <a:prstGeom prst="rect">
            <a:avLst/>
          </a:prstGeom>
          <a:solidFill>
            <a:srgbClr val="101C2E"/>
          </a:solidFill>
          <a:ln w="6350">
            <a:solidFill>
              <a:srgbClr val="1F2A3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331720" y="15087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1C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+112%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2331720" y="192024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7E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Retencion 90d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331720" y="214884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90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32%  →  68%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331720" y="2423160"/>
            <a:ext cx="1371600" cy="54864"/>
          </a:xfrm>
          <a:prstGeom prst="rect">
            <a:avLst/>
          </a:prstGeom>
          <a:solidFill>
            <a:srgbClr val="1F2A3D"/>
          </a:solidFill>
          <a:ln/>
        </p:spPr>
      </p:sp>
      <p:sp>
        <p:nvSpPr>
          <p:cNvPr id="22" name="Shape 20"/>
          <p:cNvSpPr/>
          <p:nvPr/>
        </p:nvSpPr>
        <p:spPr>
          <a:xfrm>
            <a:off x="2331720" y="2423160"/>
            <a:ext cx="384048" cy="54864"/>
          </a:xfrm>
          <a:prstGeom prst="rect">
            <a:avLst/>
          </a:prstGeom>
          <a:solidFill>
            <a:srgbClr val="81C784"/>
          </a:solidFill>
          <a:ln/>
        </p:spPr>
      </p:sp>
      <p:sp>
        <p:nvSpPr>
          <p:cNvPr id="23" name="Shape 21"/>
          <p:cNvSpPr/>
          <p:nvPr/>
        </p:nvSpPr>
        <p:spPr>
          <a:xfrm>
            <a:off x="3931920" y="1463040"/>
            <a:ext cx="1554480" cy="1417320"/>
          </a:xfrm>
          <a:prstGeom prst="rect">
            <a:avLst/>
          </a:prstGeom>
          <a:solidFill>
            <a:srgbClr val="101C2E"/>
          </a:solidFill>
          <a:ln w="6350">
            <a:solidFill>
              <a:srgbClr val="1F2A3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023360" y="15087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E9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+115%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4023360" y="192024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7E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Productos/cliente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023360" y="214884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90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  →  2.8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023360" y="2423160"/>
            <a:ext cx="1371600" cy="54864"/>
          </a:xfrm>
          <a:prstGeom prst="rect">
            <a:avLst/>
          </a:prstGeom>
          <a:solidFill>
            <a:srgbClr val="1F2A3D"/>
          </a:solidFill>
          <a:ln/>
        </p:spPr>
      </p:sp>
      <p:sp>
        <p:nvSpPr>
          <p:cNvPr id="28" name="Shape 26"/>
          <p:cNvSpPr/>
          <p:nvPr/>
        </p:nvSpPr>
        <p:spPr>
          <a:xfrm>
            <a:off x="4023360" y="2423160"/>
            <a:ext cx="394335" cy="54864"/>
          </a:xfrm>
          <a:prstGeom prst="rect">
            <a:avLst/>
          </a:prstGeom>
          <a:solidFill>
            <a:srgbClr val="CE93D8"/>
          </a:solidFill>
          <a:ln/>
        </p:spPr>
      </p:sp>
      <p:sp>
        <p:nvSpPr>
          <p:cNvPr id="29" name="Shape 27"/>
          <p:cNvSpPr/>
          <p:nvPr/>
        </p:nvSpPr>
        <p:spPr>
          <a:xfrm>
            <a:off x="5623560" y="1463040"/>
            <a:ext cx="1554480" cy="1417320"/>
          </a:xfrm>
          <a:prstGeom prst="rect">
            <a:avLst/>
          </a:prstGeom>
          <a:solidFill>
            <a:srgbClr val="101C2E"/>
          </a:solidFill>
          <a:ln w="6350">
            <a:solidFill>
              <a:srgbClr val="1F2A3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715000" y="15087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D6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+314%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5715000" y="192024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7E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Canje rewards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715000" y="214884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90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14%  →  58%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715000" y="2423160"/>
            <a:ext cx="1371600" cy="54864"/>
          </a:xfrm>
          <a:prstGeom prst="rect">
            <a:avLst/>
          </a:prstGeom>
          <a:solidFill>
            <a:srgbClr val="1F2A3D"/>
          </a:solidFill>
          <a:ln/>
        </p:spPr>
      </p:sp>
      <p:sp>
        <p:nvSpPr>
          <p:cNvPr id="34" name="Shape 32"/>
          <p:cNvSpPr/>
          <p:nvPr/>
        </p:nvSpPr>
        <p:spPr>
          <a:xfrm>
            <a:off x="5715000" y="2423160"/>
            <a:ext cx="1076706" cy="54864"/>
          </a:xfrm>
          <a:prstGeom prst="rect">
            <a:avLst/>
          </a:prstGeom>
          <a:solidFill>
            <a:srgbClr val="FFD65B"/>
          </a:solidFill>
          <a:ln/>
        </p:spPr>
      </p:sp>
      <p:sp>
        <p:nvSpPr>
          <p:cNvPr id="35" name="Shape 33"/>
          <p:cNvSpPr/>
          <p:nvPr/>
        </p:nvSpPr>
        <p:spPr>
          <a:xfrm>
            <a:off x="7315200" y="1463040"/>
            <a:ext cx="1554480" cy="1417320"/>
          </a:xfrm>
          <a:prstGeom prst="rect">
            <a:avLst/>
          </a:prstGeom>
          <a:solidFill>
            <a:srgbClr val="101C2E"/>
          </a:solidFill>
          <a:ln w="6350">
            <a:solidFill>
              <a:srgbClr val="1F2A3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7406640" y="15087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-57%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7406640" y="192024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7E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anual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7406640" y="214884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90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21%  →  9%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7406640" y="2423160"/>
            <a:ext cx="1371600" cy="54864"/>
          </a:xfrm>
          <a:prstGeom prst="rect">
            <a:avLst/>
          </a:prstGeom>
          <a:solidFill>
            <a:srgbClr val="1F2A3D"/>
          </a:solidFill>
          <a:ln/>
        </p:spPr>
      </p:sp>
      <p:sp>
        <p:nvSpPr>
          <p:cNvPr id="40" name="Shape 38"/>
          <p:cNvSpPr/>
          <p:nvPr/>
        </p:nvSpPr>
        <p:spPr>
          <a:xfrm>
            <a:off x="7406640" y="2423160"/>
            <a:ext cx="195453" cy="54864"/>
          </a:xfrm>
          <a:prstGeom prst="rect">
            <a:avLst/>
          </a:prstGeom>
          <a:solidFill>
            <a:srgbClr val="FFB74D"/>
          </a:solidFill>
          <a:ln/>
        </p:spPr>
      </p:sp>
      <p:sp>
        <p:nvSpPr>
          <p:cNvPr id="41" name="Shape 39"/>
          <p:cNvSpPr/>
          <p:nvPr/>
        </p:nvSpPr>
        <p:spPr>
          <a:xfrm>
            <a:off x="548640" y="3063240"/>
            <a:ext cx="4572000" cy="1600200"/>
          </a:xfrm>
          <a:prstGeom prst="rect">
            <a:avLst/>
          </a:prstGeom>
          <a:solidFill>
            <a:srgbClr val="101C2E"/>
          </a:solidFill>
          <a:ln w="6350">
            <a:solidFill>
              <a:srgbClr val="1F2A3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731520" y="310896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C90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FUENTES DE ROI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731520" y="3401568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7E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💳  +18% volumen transaccional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097280" y="3547872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C90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mAiles incentiva uso de tarjeta (gasto = cromos = mAiles)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731520" y="3694176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7E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Cross-sell por engagement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097280" y="3840480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C90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Medalla 4+ → candidatos a productos premium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731520" y="3986784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7E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Data como activo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1097280" y="4133088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C90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 vars/cliente → credit scoring, prediccion de churn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731520" y="4279392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7E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♻️  Escalable post-Mundial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1097280" y="4425696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C90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Copa America, Champions, Eliminatorias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5303520" y="3063240"/>
            <a:ext cx="3291840" cy="1600200"/>
          </a:xfrm>
          <a:prstGeom prst="rect">
            <a:avLst/>
          </a:prstGeom>
          <a:solidFill>
            <a:srgbClr val="101C2E"/>
          </a:solidFill>
          <a:ln w="6350">
            <a:solidFill>
              <a:srgbClr val="1F2A3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5486400" y="310896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C90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BENCHMARKS DE REFERENCIA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5486400" y="3447288"/>
            <a:ext cx="274320" cy="274320"/>
          </a:xfrm>
          <a:prstGeom prst="ellipse">
            <a:avLst/>
          </a:prstGeom>
          <a:solidFill>
            <a:srgbClr val="CE93D8">
              <a:alpha val="25000"/>
            </a:srgbClr>
          </a:solidFill>
          <a:ln/>
        </p:spPr>
      </p:sp>
      <p:sp>
        <p:nvSpPr>
          <p:cNvPr id="54" name="Text 52"/>
          <p:cNvSpPr/>
          <p:nvPr/>
        </p:nvSpPr>
        <p:spPr>
          <a:xfrm>
            <a:off x="5852160" y="342900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E9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Nubank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6858000" y="34290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C90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+40% retencion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C90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2.3x cross-sell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5486400" y="3831336"/>
            <a:ext cx="274320" cy="274320"/>
          </a:xfrm>
          <a:prstGeom prst="ellipse">
            <a:avLst/>
          </a:prstGeom>
          <a:solidFill>
            <a:srgbClr val="B2C5FF">
              <a:alpha val="25000"/>
            </a:srgbClr>
          </a:solidFill>
          <a:ln/>
        </p:spPr>
      </p:sp>
      <p:sp>
        <p:nvSpPr>
          <p:cNvPr id="57" name="Text 55"/>
          <p:cNvSpPr/>
          <p:nvPr/>
        </p:nvSpPr>
        <p:spPr>
          <a:xfrm>
            <a:off x="5852160" y="381304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2C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Revolut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6858000" y="381304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C90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4.5x sesiones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C90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diarias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5486400" y="4215384"/>
            <a:ext cx="274320" cy="274320"/>
          </a:xfrm>
          <a:prstGeom prst="ellipse">
            <a:avLst/>
          </a:prstGeom>
          <a:solidFill>
            <a:srgbClr val="81C784">
              <a:alpha val="25000"/>
            </a:srgbClr>
          </a:solidFill>
          <a:ln/>
        </p:spPr>
      </p:sp>
      <p:sp>
        <p:nvSpPr>
          <p:cNvPr id="60" name="Text 58"/>
          <p:cNvSpPr/>
          <p:nvPr/>
        </p:nvSpPr>
        <p:spPr>
          <a:xfrm>
            <a:off x="5852160" y="4197096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1C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Starbucks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6858000" y="4197096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C90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Miembros gastan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C90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3x mas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13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B2C5FF">
              <a:alpha val="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1828800"/>
            <a:ext cx="4572000" cy="4572000"/>
          </a:xfrm>
          <a:prstGeom prst="ellipse">
            <a:avLst/>
          </a:prstGeom>
          <a:solidFill>
            <a:srgbClr val="FFD65B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D65B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45720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2C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Futuro de la Banca es un Juego.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31520" y="100584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FFD6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Nosotros Ya Tenemos las Reglas.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731520" y="1691640"/>
            <a:ext cx="2606040" cy="1371600"/>
          </a:xfrm>
          <a:prstGeom prst="rect">
            <a:avLst/>
          </a:prstGeom>
          <a:solidFill>
            <a:srgbClr val="101C2E"/>
          </a:solidFill>
          <a:ln w="6350">
            <a:solidFill>
              <a:srgbClr val="1F2A3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31520" y="1691640"/>
            <a:ext cx="2606040" cy="45720"/>
          </a:xfrm>
          <a:prstGeom prst="rect">
            <a:avLst/>
          </a:prstGeom>
          <a:solidFill>
            <a:srgbClr val="B2C5FF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1828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2C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68680" y="210312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7E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 un programa de puntos.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D7E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una experiencia.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68680" y="25603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0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Cromos, predicciones, grupos, ligas, medallas — mecanicas que generan habito.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520440" y="1691640"/>
            <a:ext cx="2606040" cy="1371600"/>
          </a:xfrm>
          <a:prstGeom prst="rect">
            <a:avLst/>
          </a:prstGeom>
          <a:solidFill>
            <a:srgbClr val="101C2E"/>
          </a:solidFill>
          <a:ln w="6350">
            <a:solidFill>
              <a:srgbClr val="1F2A3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520440" y="1691640"/>
            <a:ext cx="2606040" cy="45720"/>
          </a:xfrm>
          <a:prstGeom prst="rect">
            <a:avLst/>
          </a:prstGeom>
          <a:solidFill>
            <a:srgbClr val="FFD65B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0" y="1828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D6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657600" y="210312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7E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 un premio generico.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D7E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TU premio.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57600" y="25603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0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 variables + F1: 78.72% — cada cliente recibe lo que realmente quiere.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309360" y="1691640"/>
            <a:ext cx="2606040" cy="1371600"/>
          </a:xfrm>
          <a:prstGeom prst="rect">
            <a:avLst/>
          </a:prstGeom>
          <a:solidFill>
            <a:srgbClr val="101C2E"/>
          </a:solidFill>
          <a:ln w="6350">
            <a:solidFill>
              <a:srgbClr val="1F2A3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309360" y="1691640"/>
            <a:ext cx="2606040" cy="45720"/>
          </a:xfrm>
          <a:prstGeom prst="rect">
            <a:avLst/>
          </a:prstGeom>
          <a:solidFill>
            <a:srgbClr val="81C784"/>
          </a:solidFill>
          <a:ln/>
        </p:spPr>
      </p:sp>
      <p:sp>
        <p:nvSpPr>
          <p:cNvPr id="19" name="Text 17"/>
          <p:cNvSpPr/>
          <p:nvPr/>
        </p:nvSpPr>
        <p:spPr>
          <a:xfrm>
            <a:off x="6446520" y="1828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1C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446520" y="210312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7E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 una demo.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D7E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46520" y="25603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0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completa, APIs activas, modelo entrenado. Listo para pilotar.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31520" y="3246120"/>
            <a:ext cx="7680960" cy="777240"/>
          </a:xfrm>
          <a:prstGeom prst="rect">
            <a:avLst/>
          </a:prstGeom>
          <a:solidFill>
            <a:srgbClr val="101C2E"/>
          </a:solidFill>
          <a:ln w="6350">
            <a:solidFill>
              <a:srgbClr val="1F2A3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914400" y="329184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C90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DE IMPLEMENTACION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914400" y="3675888"/>
            <a:ext cx="7132320" cy="22860"/>
          </a:xfrm>
          <a:prstGeom prst="rect">
            <a:avLst/>
          </a:prstGeom>
          <a:solidFill>
            <a:srgbClr val="1F2A3D"/>
          </a:solidFill>
          <a:ln/>
        </p:spPr>
      </p:sp>
      <p:sp>
        <p:nvSpPr>
          <p:cNvPr id="25" name="Shape 23"/>
          <p:cNvSpPr/>
          <p:nvPr/>
        </p:nvSpPr>
        <p:spPr>
          <a:xfrm>
            <a:off x="1188720" y="3584448"/>
            <a:ext cx="182880" cy="182880"/>
          </a:xfrm>
          <a:prstGeom prst="ellipse">
            <a:avLst/>
          </a:prstGeom>
          <a:solidFill>
            <a:srgbClr val="B2C5FF"/>
          </a:solidFill>
          <a:ln/>
        </p:spPr>
      </p:sp>
      <p:sp>
        <p:nvSpPr>
          <p:cNvPr id="26" name="Text 24"/>
          <p:cNvSpPr/>
          <p:nvPr/>
        </p:nvSpPr>
        <p:spPr>
          <a:xfrm>
            <a:off x="914400" y="3721608"/>
            <a:ext cx="1645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7E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Piloto 500 clientes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914400" y="3840480"/>
            <a:ext cx="1645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90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Abril 2026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3017520" y="3584448"/>
            <a:ext cx="182880" cy="182880"/>
          </a:xfrm>
          <a:prstGeom prst="ellipse">
            <a:avLst/>
          </a:prstGeom>
          <a:solidFill>
            <a:srgbClr val="CE93D8"/>
          </a:solidFill>
          <a:ln/>
        </p:spPr>
      </p:sp>
      <p:sp>
        <p:nvSpPr>
          <p:cNvPr id="29" name="Text 27"/>
          <p:cNvSpPr/>
          <p:nvPr/>
        </p:nvSpPr>
        <p:spPr>
          <a:xfrm>
            <a:off x="2743200" y="3721608"/>
            <a:ext cx="1645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7E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Refinamiento ML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743200" y="3840480"/>
            <a:ext cx="1645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90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 2026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4846320" y="3584448"/>
            <a:ext cx="182880" cy="182880"/>
          </a:xfrm>
          <a:prstGeom prst="ellipse">
            <a:avLst/>
          </a:prstGeom>
          <a:solidFill>
            <a:srgbClr val="FFD65B"/>
          </a:solidFill>
          <a:ln/>
        </p:spPr>
      </p:sp>
      <p:sp>
        <p:nvSpPr>
          <p:cNvPr id="32" name="Text 30"/>
          <p:cNvSpPr/>
          <p:nvPr/>
        </p:nvSpPr>
        <p:spPr>
          <a:xfrm>
            <a:off x="4572000" y="3721608"/>
            <a:ext cx="1645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7E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Lanzamiento Mundial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572000" y="3840480"/>
            <a:ext cx="1645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90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Junio 2026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6675120" y="3584448"/>
            <a:ext cx="182880" cy="182880"/>
          </a:xfrm>
          <a:prstGeom prst="ellipse">
            <a:avLst/>
          </a:prstGeom>
          <a:solidFill>
            <a:srgbClr val="81C784"/>
          </a:solidFill>
          <a:ln/>
        </p:spPr>
      </p:sp>
      <p:sp>
        <p:nvSpPr>
          <p:cNvPr id="35" name="Text 33"/>
          <p:cNvSpPr/>
          <p:nvPr/>
        </p:nvSpPr>
        <p:spPr>
          <a:xfrm>
            <a:off x="6400800" y="3721608"/>
            <a:ext cx="1645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7E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Escalamiento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400800" y="3840480"/>
            <a:ext cx="1645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90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Ago-Dic 2026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2286000" y="4251960"/>
            <a:ext cx="4572000" cy="502920"/>
          </a:xfrm>
          <a:prstGeom prst="rect">
            <a:avLst/>
          </a:prstGeom>
          <a:solidFill>
            <a:srgbClr val="B2C5FF">
              <a:alpha val="15000"/>
            </a:srgbClr>
          </a:solidFill>
          <a:ln w="12700">
            <a:solidFill>
              <a:srgbClr val="B2C5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286000" y="425196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2C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pregunta no es si hacerlo.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B2C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cuanto engagement se pierde por cada dia que no se implementa.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FFD65B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AI-Bank mAiles: Clientes Unicos, Beneficios Unicos</dc:title>
  <dc:subject>PptxGenJS Presentation</dc:subject>
  <dc:creator>TCS - Tata Consultancy Services</dc:creator>
  <cp:lastModifiedBy>TCS - Tata Consultancy Services</cp:lastModifiedBy>
  <cp:revision>1</cp:revision>
  <dcterms:created xsi:type="dcterms:W3CDTF">2026-04-07T13:03:54Z</dcterms:created>
  <dcterms:modified xsi:type="dcterms:W3CDTF">2026-04-07T13:03:54Z</dcterms:modified>
</cp:coreProperties>
</file>